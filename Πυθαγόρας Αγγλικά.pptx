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av" ContentType="audio/x-wav"/>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8" r:id="rId4"/>
    <p:sldId id="281" r:id="rId5"/>
    <p:sldId id="258" r:id="rId6"/>
    <p:sldId id="259" r:id="rId7"/>
    <p:sldId id="260" r:id="rId8"/>
    <p:sldId id="261" r:id="rId9"/>
    <p:sldId id="263" r:id="rId10"/>
    <p:sldId id="262" r:id="rId11"/>
    <p:sldId id="264" r:id="rId12"/>
    <p:sldId id="265" r:id="rId13"/>
    <p:sldId id="267" r:id="rId14"/>
    <p:sldId id="269" r:id="rId15"/>
    <p:sldId id="268" r:id="rId16"/>
    <p:sldId id="271" r:id="rId17"/>
    <p:sldId id="273" r:id="rId18"/>
    <p:sldId id="272" r:id="rId19"/>
    <p:sldId id="274" r:id="rId20"/>
    <p:sldId id="275" r:id="rId21"/>
    <p:sldId id="276" r:id="rId22"/>
    <p:sldId id="277" r:id="rId23"/>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ECFF"/>
    <a:srgbClr val="99FFCC"/>
    <a:srgbClr val="CCFFCC"/>
    <a:srgbClr val="00FF99"/>
    <a:srgbClr val="CC66FF"/>
    <a:srgbClr val="939393"/>
    <a:srgbClr val="CC3399"/>
    <a:srgbClr val="800080"/>
    <a:srgbClr val="F5F5F5"/>
    <a:srgbClr val="C8D6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34" autoAdjust="0"/>
    <p:restoredTop sz="94660"/>
  </p:normalViewPr>
  <p:slideViewPr>
    <p:cSldViewPr snapToGrid="0">
      <p:cViewPr varScale="1">
        <p:scale>
          <a:sx n="109" d="100"/>
          <a:sy n="109" d="100"/>
        </p:scale>
        <p:origin x="52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C123E4EC-01C8-4467-B754-B2C02719F568}"/>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p>
        </p:txBody>
      </p:sp>
      <p:sp>
        <p:nvSpPr>
          <p:cNvPr id="3" name="Υπότιτλος 2">
            <a:extLst>
              <a:ext uri="{FF2B5EF4-FFF2-40B4-BE49-F238E27FC236}">
                <a16:creationId xmlns:a16="http://schemas.microsoft.com/office/drawing/2014/main" id="{4D755446-864C-4935-9874-6AC773B60E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p>
        </p:txBody>
      </p:sp>
      <p:sp>
        <p:nvSpPr>
          <p:cNvPr id="4" name="Θέση ημερομηνίας 3">
            <a:extLst>
              <a:ext uri="{FF2B5EF4-FFF2-40B4-BE49-F238E27FC236}">
                <a16:creationId xmlns:a16="http://schemas.microsoft.com/office/drawing/2014/main" id="{08773306-84E2-456C-9DA0-0A4C1B5165E4}"/>
              </a:ext>
            </a:extLst>
          </p:cNvPr>
          <p:cNvSpPr>
            <a:spLocks noGrp="1"/>
          </p:cNvSpPr>
          <p:nvPr>
            <p:ph type="dt" sz="half" idx="10"/>
          </p:nvPr>
        </p:nvSpPr>
        <p:spPr/>
        <p:txBody>
          <a:bodyPr/>
          <a:lstStyle/>
          <a:p>
            <a:fld id="{95DDD9B2-2346-44B9-8990-C409662C1AD9}" type="datetimeFigureOut">
              <a:rPr lang="el-GR" smtClean="0"/>
              <a:t>21/5/2026</a:t>
            </a:fld>
            <a:endParaRPr lang="el-GR"/>
          </a:p>
        </p:txBody>
      </p:sp>
      <p:sp>
        <p:nvSpPr>
          <p:cNvPr id="5" name="Θέση υποσέλιδου 4">
            <a:extLst>
              <a:ext uri="{FF2B5EF4-FFF2-40B4-BE49-F238E27FC236}">
                <a16:creationId xmlns:a16="http://schemas.microsoft.com/office/drawing/2014/main" id="{9D9531B5-0D46-491D-BF89-A9D3AE054BDD}"/>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C216FAC9-E5F8-4036-BB30-2303BAADB0BF}"/>
              </a:ext>
            </a:extLst>
          </p:cNvPr>
          <p:cNvSpPr>
            <a:spLocks noGrp="1"/>
          </p:cNvSpPr>
          <p:nvPr>
            <p:ph type="sldNum" sz="quarter" idx="12"/>
          </p:nvPr>
        </p:nvSpPr>
        <p:spPr/>
        <p:txBody>
          <a:bodyPr/>
          <a:lstStyle/>
          <a:p>
            <a:fld id="{7501EF04-2E75-4BDB-B87F-CF60A868D912}" type="slidenum">
              <a:rPr lang="el-GR" smtClean="0"/>
              <a:t>‹#›</a:t>
            </a:fld>
            <a:endParaRPr lang="el-GR"/>
          </a:p>
        </p:txBody>
      </p:sp>
    </p:spTree>
    <p:extLst>
      <p:ext uri="{BB962C8B-B14F-4D97-AF65-F5344CB8AC3E}">
        <p14:creationId xmlns:p14="http://schemas.microsoft.com/office/powerpoint/2010/main" val="3048341665"/>
      </p:ext>
    </p:extLst>
  </p:cSld>
  <p:clrMapOvr>
    <a:masterClrMapping/>
  </p:clrMapOvr>
  <mc:AlternateContent xmlns:mc="http://schemas.openxmlformats.org/markup-compatibility/2006" xmlns:p14="http://schemas.microsoft.com/office/powerpoint/2010/main">
    <mc:Choice Requires="p14">
      <p:transition spd="slow" p14:dur="2000" advClick="0" advTm="8000"/>
    </mc:Choice>
    <mc:Fallback xmlns="">
      <p:transition spd="slow" advClick="0" advTm="8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0A5B793-6212-4DC0-AE17-40EC3417872C}"/>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4057A151-4F84-45B9-B795-B1F74340950D}"/>
              </a:ext>
            </a:extLst>
          </p:cNvPr>
          <p:cNvSpPr>
            <a:spLocks noGrp="1"/>
          </p:cNvSpPr>
          <p:nvPr>
            <p:ph idx="1"/>
          </p:nvPr>
        </p:nvSpPr>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48E38CDE-DDBC-44D7-985A-7D10DF9037B5}"/>
              </a:ext>
            </a:extLst>
          </p:cNvPr>
          <p:cNvSpPr>
            <a:spLocks noGrp="1"/>
          </p:cNvSpPr>
          <p:nvPr>
            <p:ph type="dt" sz="half" idx="10"/>
          </p:nvPr>
        </p:nvSpPr>
        <p:spPr/>
        <p:txBody>
          <a:bodyPr/>
          <a:lstStyle/>
          <a:p>
            <a:fld id="{95DDD9B2-2346-44B9-8990-C409662C1AD9}" type="datetimeFigureOut">
              <a:rPr lang="el-GR" smtClean="0"/>
              <a:t>21/5/2026</a:t>
            </a:fld>
            <a:endParaRPr lang="el-GR"/>
          </a:p>
        </p:txBody>
      </p:sp>
      <p:sp>
        <p:nvSpPr>
          <p:cNvPr id="5" name="Θέση υποσέλιδου 4">
            <a:extLst>
              <a:ext uri="{FF2B5EF4-FFF2-40B4-BE49-F238E27FC236}">
                <a16:creationId xmlns:a16="http://schemas.microsoft.com/office/drawing/2014/main" id="{6BB1012F-4FE9-41F6-A64E-195165D1CC3B}"/>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0FEAAE15-1FA9-42E0-B64A-C9F6F5579839}"/>
              </a:ext>
            </a:extLst>
          </p:cNvPr>
          <p:cNvSpPr>
            <a:spLocks noGrp="1"/>
          </p:cNvSpPr>
          <p:nvPr>
            <p:ph type="sldNum" sz="quarter" idx="12"/>
          </p:nvPr>
        </p:nvSpPr>
        <p:spPr/>
        <p:txBody>
          <a:bodyPr/>
          <a:lstStyle/>
          <a:p>
            <a:fld id="{7501EF04-2E75-4BDB-B87F-CF60A868D912}" type="slidenum">
              <a:rPr lang="el-GR" smtClean="0"/>
              <a:t>‹#›</a:t>
            </a:fld>
            <a:endParaRPr lang="el-GR"/>
          </a:p>
        </p:txBody>
      </p:sp>
    </p:spTree>
    <p:extLst>
      <p:ext uri="{BB962C8B-B14F-4D97-AF65-F5344CB8AC3E}">
        <p14:creationId xmlns:p14="http://schemas.microsoft.com/office/powerpoint/2010/main" val="4156028141"/>
      </p:ext>
    </p:extLst>
  </p:cSld>
  <p:clrMapOvr>
    <a:masterClrMapping/>
  </p:clrMapOvr>
  <mc:AlternateContent xmlns:mc="http://schemas.openxmlformats.org/markup-compatibility/2006" xmlns:p14="http://schemas.microsoft.com/office/powerpoint/2010/main">
    <mc:Choice Requires="p14">
      <p:transition spd="slow" p14:dur="2000" advClick="0" advTm="8000"/>
    </mc:Choice>
    <mc:Fallback xmlns="">
      <p:transition spd="slow" advClick="0" advTm="8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271C58B7-BBA4-4609-AFF2-4D951F59EDE5}"/>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D40B9461-639B-4DF5-869B-A42466E264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Στυλ κειμένου υποδείγματος</a:t>
            </a:r>
          </a:p>
        </p:txBody>
      </p:sp>
      <p:sp>
        <p:nvSpPr>
          <p:cNvPr id="4" name="Θέση ημερομηνίας 3">
            <a:extLst>
              <a:ext uri="{FF2B5EF4-FFF2-40B4-BE49-F238E27FC236}">
                <a16:creationId xmlns:a16="http://schemas.microsoft.com/office/drawing/2014/main" id="{B1EFE7AC-56FF-482A-9884-18F4CCAE025F}"/>
              </a:ext>
            </a:extLst>
          </p:cNvPr>
          <p:cNvSpPr>
            <a:spLocks noGrp="1"/>
          </p:cNvSpPr>
          <p:nvPr>
            <p:ph type="dt" sz="half" idx="10"/>
          </p:nvPr>
        </p:nvSpPr>
        <p:spPr/>
        <p:txBody>
          <a:bodyPr/>
          <a:lstStyle/>
          <a:p>
            <a:fld id="{95DDD9B2-2346-44B9-8990-C409662C1AD9}" type="datetimeFigureOut">
              <a:rPr lang="el-GR" smtClean="0"/>
              <a:t>21/5/2026</a:t>
            </a:fld>
            <a:endParaRPr lang="el-GR"/>
          </a:p>
        </p:txBody>
      </p:sp>
      <p:sp>
        <p:nvSpPr>
          <p:cNvPr id="5" name="Θέση υποσέλιδου 4">
            <a:extLst>
              <a:ext uri="{FF2B5EF4-FFF2-40B4-BE49-F238E27FC236}">
                <a16:creationId xmlns:a16="http://schemas.microsoft.com/office/drawing/2014/main" id="{CBCF4062-03EE-4F76-8C80-35EF5F12A844}"/>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66ED053F-AB8F-4EBA-9BD4-F327221073BA}"/>
              </a:ext>
            </a:extLst>
          </p:cNvPr>
          <p:cNvSpPr>
            <a:spLocks noGrp="1"/>
          </p:cNvSpPr>
          <p:nvPr>
            <p:ph type="sldNum" sz="quarter" idx="12"/>
          </p:nvPr>
        </p:nvSpPr>
        <p:spPr/>
        <p:txBody>
          <a:bodyPr/>
          <a:lstStyle/>
          <a:p>
            <a:fld id="{7501EF04-2E75-4BDB-B87F-CF60A868D912}" type="slidenum">
              <a:rPr lang="el-GR" smtClean="0"/>
              <a:t>‹#›</a:t>
            </a:fld>
            <a:endParaRPr lang="el-GR"/>
          </a:p>
        </p:txBody>
      </p:sp>
    </p:spTree>
    <p:extLst>
      <p:ext uri="{BB962C8B-B14F-4D97-AF65-F5344CB8AC3E}">
        <p14:creationId xmlns:p14="http://schemas.microsoft.com/office/powerpoint/2010/main" val="3184609635"/>
      </p:ext>
    </p:extLst>
  </p:cSld>
  <p:clrMapOvr>
    <a:masterClrMapping/>
  </p:clrMapOvr>
  <mc:AlternateContent xmlns:mc="http://schemas.openxmlformats.org/markup-compatibility/2006" xmlns:p14="http://schemas.microsoft.com/office/powerpoint/2010/main">
    <mc:Choice Requires="p14">
      <p:transition spd="slow" p14:dur="2000" advClick="0" advTm="8000"/>
    </mc:Choice>
    <mc:Fallback xmlns="">
      <p:transition spd="slow" advClick="0" advTm="8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C8C2C81-C387-4D09-9552-97CE281B9C40}"/>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B975B94F-377A-4598-8435-CA5088C03E86}"/>
              </a:ext>
            </a:extLst>
          </p:cNvPr>
          <p:cNvSpPr>
            <a:spLocks noGrp="1"/>
          </p:cNvSpPr>
          <p:nvPr>
            <p:ph sz="half" idx="1"/>
          </p:nvPr>
        </p:nvSpPr>
        <p:spPr>
          <a:xfrm>
            <a:off x="838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περιεχομένου 3">
            <a:extLst>
              <a:ext uri="{FF2B5EF4-FFF2-40B4-BE49-F238E27FC236}">
                <a16:creationId xmlns:a16="http://schemas.microsoft.com/office/drawing/2014/main" id="{E9C9BD6A-9D7D-437C-A313-82CF6737EB66}"/>
              </a:ext>
            </a:extLst>
          </p:cNvPr>
          <p:cNvSpPr>
            <a:spLocks noGrp="1"/>
          </p:cNvSpPr>
          <p:nvPr>
            <p:ph sz="half" idx="2"/>
          </p:nvPr>
        </p:nvSpPr>
        <p:spPr>
          <a:xfrm>
            <a:off x="6172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5" name="Θέση ημερομηνίας 4">
            <a:extLst>
              <a:ext uri="{FF2B5EF4-FFF2-40B4-BE49-F238E27FC236}">
                <a16:creationId xmlns:a16="http://schemas.microsoft.com/office/drawing/2014/main" id="{2B9A41A2-BFAD-4D1E-A9C4-C343B3D275E0}"/>
              </a:ext>
            </a:extLst>
          </p:cNvPr>
          <p:cNvSpPr>
            <a:spLocks noGrp="1"/>
          </p:cNvSpPr>
          <p:nvPr>
            <p:ph type="dt" sz="half" idx="10"/>
          </p:nvPr>
        </p:nvSpPr>
        <p:spPr/>
        <p:txBody>
          <a:bodyPr/>
          <a:lstStyle/>
          <a:p>
            <a:fld id="{95DDD9B2-2346-44B9-8990-C409662C1AD9}" type="datetimeFigureOut">
              <a:rPr lang="el-GR" smtClean="0"/>
              <a:t>21/5/2026</a:t>
            </a:fld>
            <a:endParaRPr lang="el-GR"/>
          </a:p>
        </p:txBody>
      </p:sp>
      <p:sp>
        <p:nvSpPr>
          <p:cNvPr id="6" name="Θέση υποσέλιδου 5">
            <a:extLst>
              <a:ext uri="{FF2B5EF4-FFF2-40B4-BE49-F238E27FC236}">
                <a16:creationId xmlns:a16="http://schemas.microsoft.com/office/drawing/2014/main" id="{CF321668-5FD2-4630-80F6-7DA17FE88A89}"/>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7C34F3FF-B766-4B55-A09E-28C71F121EA8}"/>
              </a:ext>
            </a:extLst>
          </p:cNvPr>
          <p:cNvSpPr>
            <a:spLocks noGrp="1"/>
          </p:cNvSpPr>
          <p:nvPr>
            <p:ph type="sldNum" sz="quarter" idx="12"/>
          </p:nvPr>
        </p:nvSpPr>
        <p:spPr/>
        <p:txBody>
          <a:bodyPr/>
          <a:lstStyle/>
          <a:p>
            <a:fld id="{7501EF04-2E75-4BDB-B87F-CF60A868D912}" type="slidenum">
              <a:rPr lang="el-GR" smtClean="0"/>
              <a:t>‹#›</a:t>
            </a:fld>
            <a:endParaRPr lang="el-GR"/>
          </a:p>
        </p:txBody>
      </p:sp>
    </p:spTree>
    <p:extLst>
      <p:ext uri="{BB962C8B-B14F-4D97-AF65-F5344CB8AC3E}">
        <p14:creationId xmlns:p14="http://schemas.microsoft.com/office/powerpoint/2010/main" val="493140516"/>
      </p:ext>
    </p:extLst>
  </p:cSld>
  <p:clrMapOvr>
    <a:masterClrMapping/>
  </p:clrMapOvr>
  <mc:AlternateContent xmlns:mc="http://schemas.openxmlformats.org/markup-compatibility/2006" xmlns:p14="http://schemas.microsoft.com/office/powerpoint/2010/main">
    <mc:Choice Requires="p14">
      <p:transition spd="slow" p14:dur="2000" advClick="0" advTm="8000"/>
    </mc:Choice>
    <mc:Fallback xmlns="">
      <p:transition spd="slow" advClick="0" advTm="8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FDFD9F4-F22E-4B94-B567-020F921CA8F0}"/>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7EE5202A-42D3-4F1F-9319-945BAD2871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4" name="Θέση περιεχομένου 3">
            <a:extLst>
              <a:ext uri="{FF2B5EF4-FFF2-40B4-BE49-F238E27FC236}">
                <a16:creationId xmlns:a16="http://schemas.microsoft.com/office/drawing/2014/main" id="{E3DEA262-226A-4FF1-89FC-E6D66F5A02A7}"/>
              </a:ext>
            </a:extLst>
          </p:cNvPr>
          <p:cNvSpPr>
            <a:spLocks noGrp="1"/>
          </p:cNvSpPr>
          <p:nvPr>
            <p:ph sz="half" idx="2"/>
          </p:nvPr>
        </p:nvSpPr>
        <p:spPr>
          <a:xfrm>
            <a:off x="839788" y="2505075"/>
            <a:ext cx="5157787"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5" name="Θέση κειμένου 4">
            <a:extLst>
              <a:ext uri="{FF2B5EF4-FFF2-40B4-BE49-F238E27FC236}">
                <a16:creationId xmlns:a16="http://schemas.microsoft.com/office/drawing/2014/main" id="{F1AA359E-3690-4C80-B23C-D8CF976966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6" name="Θέση περιεχομένου 5">
            <a:extLst>
              <a:ext uri="{FF2B5EF4-FFF2-40B4-BE49-F238E27FC236}">
                <a16:creationId xmlns:a16="http://schemas.microsoft.com/office/drawing/2014/main" id="{43FE3503-39E6-4423-9315-F71DE02055A2}"/>
              </a:ext>
            </a:extLst>
          </p:cNvPr>
          <p:cNvSpPr>
            <a:spLocks noGrp="1"/>
          </p:cNvSpPr>
          <p:nvPr>
            <p:ph sz="quarter" idx="4"/>
          </p:nvPr>
        </p:nvSpPr>
        <p:spPr>
          <a:xfrm>
            <a:off x="6172200" y="2505075"/>
            <a:ext cx="5183188"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7" name="Θέση ημερομηνίας 6">
            <a:extLst>
              <a:ext uri="{FF2B5EF4-FFF2-40B4-BE49-F238E27FC236}">
                <a16:creationId xmlns:a16="http://schemas.microsoft.com/office/drawing/2014/main" id="{55F51C06-4D48-4E96-9A83-A53246A102D0}"/>
              </a:ext>
            </a:extLst>
          </p:cNvPr>
          <p:cNvSpPr>
            <a:spLocks noGrp="1"/>
          </p:cNvSpPr>
          <p:nvPr>
            <p:ph type="dt" sz="half" idx="10"/>
          </p:nvPr>
        </p:nvSpPr>
        <p:spPr/>
        <p:txBody>
          <a:bodyPr/>
          <a:lstStyle/>
          <a:p>
            <a:fld id="{95DDD9B2-2346-44B9-8990-C409662C1AD9}" type="datetimeFigureOut">
              <a:rPr lang="el-GR" smtClean="0"/>
              <a:t>21/5/2026</a:t>
            </a:fld>
            <a:endParaRPr lang="el-GR"/>
          </a:p>
        </p:txBody>
      </p:sp>
      <p:sp>
        <p:nvSpPr>
          <p:cNvPr id="8" name="Θέση υποσέλιδου 7">
            <a:extLst>
              <a:ext uri="{FF2B5EF4-FFF2-40B4-BE49-F238E27FC236}">
                <a16:creationId xmlns:a16="http://schemas.microsoft.com/office/drawing/2014/main" id="{E6FE5633-E34F-4E1B-8A1F-DC7762231607}"/>
              </a:ext>
            </a:extLst>
          </p:cNvPr>
          <p:cNvSpPr>
            <a:spLocks noGrp="1"/>
          </p:cNvSpPr>
          <p:nvPr>
            <p:ph type="ftr" sz="quarter" idx="11"/>
          </p:nvPr>
        </p:nvSpPr>
        <p:spPr/>
        <p:txBody>
          <a:bodyPr/>
          <a:lstStyle/>
          <a:p>
            <a:endParaRPr lang="el-GR"/>
          </a:p>
        </p:txBody>
      </p:sp>
      <p:sp>
        <p:nvSpPr>
          <p:cNvPr id="9" name="Θέση αριθμού διαφάνειας 8">
            <a:extLst>
              <a:ext uri="{FF2B5EF4-FFF2-40B4-BE49-F238E27FC236}">
                <a16:creationId xmlns:a16="http://schemas.microsoft.com/office/drawing/2014/main" id="{AEE4DFBB-9EAB-4B41-A6A0-75E0FAB36DD8}"/>
              </a:ext>
            </a:extLst>
          </p:cNvPr>
          <p:cNvSpPr>
            <a:spLocks noGrp="1"/>
          </p:cNvSpPr>
          <p:nvPr>
            <p:ph type="sldNum" sz="quarter" idx="12"/>
          </p:nvPr>
        </p:nvSpPr>
        <p:spPr/>
        <p:txBody>
          <a:bodyPr/>
          <a:lstStyle/>
          <a:p>
            <a:fld id="{7501EF04-2E75-4BDB-B87F-CF60A868D912}" type="slidenum">
              <a:rPr lang="el-GR" smtClean="0"/>
              <a:t>‹#›</a:t>
            </a:fld>
            <a:endParaRPr lang="el-GR"/>
          </a:p>
        </p:txBody>
      </p:sp>
    </p:spTree>
    <p:extLst>
      <p:ext uri="{BB962C8B-B14F-4D97-AF65-F5344CB8AC3E}">
        <p14:creationId xmlns:p14="http://schemas.microsoft.com/office/powerpoint/2010/main" val="920921322"/>
      </p:ext>
    </p:extLst>
  </p:cSld>
  <p:clrMapOvr>
    <a:masterClrMapping/>
  </p:clrMapOvr>
  <mc:AlternateContent xmlns:mc="http://schemas.openxmlformats.org/markup-compatibility/2006" xmlns:p14="http://schemas.microsoft.com/office/powerpoint/2010/main">
    <mc:Choice Requires="p14">
      <p:transition spd="slow" p14:dur="2000" advClick="0" advTm="8000"/>
    </mc:Choice>
    <mc:Fallback xmlns="">
      <p:transition spd="slow" advClick="0" advTm="8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BA8DB314-3A45-4131-9D01-DF22815AA68E}"/>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ημερομηνίας 2">
            <a:extLst>
              <a:ext uri="{FF2B5EF4-FFF2-40B4-BE49-F238E27FC236}">
                <a16:creationId xmlns:a16="http://schemas.microsoft.com/office/drawing/2014/main" id="{FD0C9599-C591-4F1A-99A0-C554D7C5555E}"/>
              </a:ext>
            </a:extLst>
          </p:cNvPr>
          <p:cNvSpPr>
            <a:spLocks noGrp="1"/>
          </p:cNvSpPr>
          <p:nvPr>
            <p:ph type="dt" sz="half" idx="10"/>
          </p:nvPr>
        </p:nvSpPr>
        <p:spPr/>
        <p:txBody>
          <a:bodyPr/>
          <a:lstStyle/>
          <a:p>
            <a:fld id="{95DDD9B2-2346-44B9-8990-C409662C1AD9}" type="datetimeFigureOut">
              <a:rPr lang="el-GR" smtClean="0"/>
              <a:t>21/5/2026</a:t>
            </a:fld>
            <a:endParaRPr lang="el-GR"/>
          </a:p>
        </p:txBody>
      </p:sp>
      <p:sp>
        <p:nvSpPr>
          <p:cNvPr id="4" name="Θέση υποσέλιδου 3">
            <a:extLst>
              <a:ext uri="{FF2B5EF4-FFF2-40B4-BE49-F238E27FC236}">
                <a16:creationId xmlns:a16="http://schemas.microsoft.com/office/drawing/2014/main" id="{BE79AC98-577A-41EB-884F-6ECDC43A1F3D}"/>
              </a:ext>
            </a:extLst>
          </p:cNvPr>
          <p:cNvSpPr>
            <a:spLocks noGrp="1"/>
          </p:cNvSpPr>
          <p:nvPr>
            <p:ph type="ftr" sz="quarter" idx="11"/>
          </p:nvPr>
        </p:nvSpPr>
        <p:spPr/>
        <p:txBody>
          <a:bodyPr/>
          <a:lstStyle/>
          <a:p>
            <a:endParaRPr lang="el-GR"/>
          </a:p>
        </p:txBody>
      </p:sp>
      <p:sp>
        <p:nvSpPr>
          <p:cNvPr id="5" name="Θέση αριθμού διαφάνειας 4">
            <a:extLst>
              <a:ext uri="{FF2B5EF4-FFF2-40B4-BE49-F238E27FC236}">
                <a16:creationId xmlns:a16="http://schemas.microsoft.com/office/drawing/2014/main" id="{BC2AAA02-B922-4C86-8542-807BA9CA7103}"/>
              </a:ext>
            </a:extLst>
          </p:cNvPr>
          <p:cNvSpPr>
            <a:spLocks noGrp="1"/>
          </p:cNvSpPr>
          <p:nvPr>
            <p:ph type="sldNum" sz="quarter" idx="12"/>
          </p:nvPr>
        </p:nvSpPr>
        <p:spPr/>
        <p:txBody>
          <a:bodyPr/>
          <a:lstStyle/>
          <a:p>
            <a:fld id="{7501EF04-2E75-4BDB-B87F-CF60A868D912}" type="slidenum">
              <a:rPr lang="el-GR" smtClean="0"/>
              <a:t>‹#›</a:t>
            </a:fld>
            <a:endParaRPr lang="el-GR"/>
          </a:p>
        </p:txBody>
      </p:sp>
    </p:spTree>
    <p:extLst>
      <p:ext uri="{BB962C8B-B14F-4D97-AF65-F5344CB8AC3E}">
        <p14:creationId xmlns:p14="http://schemas.microsoft.com/office/powerpoint/2010/main" val="2520307719"/>
      </p:ext>
    </p:extLst>
  </p:cSld>
  <p:clrMapOvr>
    <a:masterClrMapping/>
  </p:clrMapOvr>
  <mc:AlternateContent xmlns:mc="http://schemas.openxmlformats.org/markup-compatibility/2006" xmlns:p14="http://schemas.microsoft.com/office/powerpoint/2010/main">
    <mc:Choice Requires="p14">
      <p:transition spd="slow" p14:dur="2000" advClick="0" advTm="8000"/>
    </mc:Choice>
    <mc:Fallback xmlns="">
      <p:transition spd="slow" advClick="0" advTm="8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id="{BEC01200-D068-4E94-BEF9-5B8D5E0E8643}"/>
              </a:ext>
            </a:extLst>
          </p:cNvPr>
          <p:cNvSpPr>
            <a:spLocks noGrp="1"/>
          </p:cNvSpPr>
          <p:nvPr>
            <p:ph type="dt" sz="half" idx="10"/>
          </p:nvPr>
        </p:nvSpPr>
        <p:spPr/>
        <p:txBody>
          <a:bodyPr/>
          <a:lstStyle/>
          <a:p>
            <a:fld id="{95DDD9B2-2346-44B9-8990-C409662C1AD9}" type="datetimeFigureOut">
              <a:rPr lang="el-GR" smtClean="0"/>
              <a:t>21/5/2026</a:t>
            </a:fld>
            <a:endParaRPr lang="el-GR"/>
          </a:p>
        </p:txBody>
      </p:sp>
      <p:sp>
        <p:nvSpPr>
          <p:cNvPr id="3" name="Θέση υποσέλιδου 2">
            <a:extLst>
              <a:ext uri="{FF2B5EF4-FFF2-40B4-BE49-F238E27FC236}">
                <a16:creationId xmlns:a16="http://schemas.microsoft.com/office/drawing/2014/main" id="{EB7CE2BB-037C-43C5-A2D0-F7B1B63BE874}"/>
              </a:ext>
            </a:extLst>
          </p:cNvPr>
          <p:cNvSpPr>
            <a:spLocks noGrp="1"/>
          </p:cNvSpPr>
          <p:nvPr>
            <p:ph type="ftr" sz="quarter" idx="11"/>
          </p:nvPr>
        </p:nvSpPr>
        <p:spPr/>
        <p:txBody>
          <a:bodyPr/>
          <a:lstStyle/>
          <a:p>
            <a:endParaRPr lang="el-GR"/>
          </a:p>
        </p:txBody>
      </p:sp>
      <p:sp>
        <p:nvSpPr>
          <p:cNvPr id="4" name="Θέση αριθμού διαφάνειας 3">
            <a:extLst>
              <a:ext uri="{FF2B5EF4-FFF2-40B4-BE49-F238E27FC236}">
                <a16:creationId xmlns:a16="http://schemas.microsoft.com/office/drawing/2014/main" id="{35E4D026-7647-4CA2-B121-CCFFF85F83A7}"/>
              </a:ext>
            </a:extLst>
          </p:cNvPr>
          <p:cNvSpPr>
            <a:spLocks noGrp="1"/>
          </p:cNvSpPr>
          <p:nvPr>
            <p:ph type="sldNum" sz="quarter" idx="12"/>
          </p:nvPr>
        </p:nvSpPr>
        <p:spPr/>
        <p:txBody>
          <a:bodyPr/>
          <a:lstStyle/>
          <a:p>
            <a:fld id="{7501EF04-2E75-4BDB-B87F-CF60A868D912}" type="slidenum">
              <a:rPr lang="el-GR" smtClean="0"/>
              <a:t>‹#›</a:t>
            </a:fld>
            <a:endParaRPr lang="el-GR"/>
          </a:p>
        </p:txBody>
      </p:sp>
    </p:spTree>
    <p:extLst>
      <p:ext uri="{BB962C8B-B14F-4D97-AF65-F5344CB8AC3E}">
        <p14:creationId xmlns:p14="http://schemas.microsoft.com/office/powerpoint/2010/main" val="2900342694"/>
      </p:ext>
    </p:extLst>
  </p:cSld>
  <p:clrMapOvr>
    <a:masterClrMapping/>
  </p:clrMapOvr>
  <mc:AlternateContent xmlns:mc="http://schemas.openxmlformats.org/markup-compatibility/2006" xmlns:p14="http://schemas.microsoft.com/office/powerpoint/2010/main">
    <mc:Choice Requires="p14">
      <p:transition spd="slow" p14:dur="2000" advClick="0" advTm="8000"/>
    </mc:Choice>
    <mc:Fallback xmlns="">
      <p:transition spd="slow" advClick="0" advTm="8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C67FE9BA-531F-4C36-A648-ED3845A356CC}"/>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0D66F66B-B9B0-4576-849E-211BBBFDB3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κειμένου 3">
            <a:extLst>
              <a:ext uri="{FF2B5EF4-FFF2-40B4-BE49-F238E27FC236}">
                <a16:creationId xmlns:a16="http://schemas.microsoft.com/office/drawing/2014/main" id="{17FD5C3E-01FF-427E-8EE3-3A39B42434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id="{1E0F0C8F-F5EA-429A-82AB-4268B47F5E0B}"/>
              </a:ext>
            </a:extLst>
          </p:cNvPr>
          <p:cNvSpPr>
            <a:spLocks noGrp="1"/>
          </p:cNvSpPr>
          <p:nvPr>
            <p:ph type="dt" sz="half" idx="10"/>
          </p:nvPr>
        </p:nvSpPr>
        <p:spPr/>
        <p:txBody>
          <a:bodyPr/>
          <a:lstStyle/>
          <a:p>
            <a:fld id="{95DDD9B2-2346-44B9-8990-C409662C1AD9}" type="datetimeFigureOut">
              <a:rPr lang="el-GR" smtClean="0"/>
              <a:t>21/5/2026</a:t>
            </a:fld>
            <a:endParaRPr lang="el-GR"/>
          </a:p>
        </p:txBody>
      </p:sp>
      <p:sp>
        <p:nvSpPr>
          <p:cNvPr id="6" name="Θέση υποσέλιδου 5">
            <a:extLst>
              <a:ext uri="{FF2B5EF4-FFF2-40B4-BE49-F238E27FC236}">
                <a16:creationId xmlns:a16="http://schemas.microsoft.com/office/drawing/2014/main" id="{1A01CD0B-6AC8-4952-A40F-C9ACAF60E410}"/>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F7A1E8EB-3829-4739-92FD-088F4475F4FD}"/>
              </a:ext>
            </a:extLst>
          </p:cNvPr>
          <p:cNvSpPr>
            <a:spLocks noGrp="1"/>
          </p:cNvSpPr>
          <p:nvPr>
            <p:ph type="sldNum" sz="quarter" idx="12"/>
          </p:nvPr>
        </p:nvSpPr>
        <p:spPr/>
        <p:txBody>
          <a:bodyPr/>
          <a:lstStyle/>
          <a:p>
            <a:fld id="{7501EF04-2E75-4BDB-B87F-CF60A868D912}" type="slidenum">
              <a:rPr lang="el-GR" smtClean="0"/>
              <a:t>‹#›</a:t>
            </a:fld>
            <a:endParaRPr lang="el-GR"/>
          </a:p>
        </p:txBody>
      </p:sp>
    </p:spTree>
    <p:extLst>
      <p:ext uri="{BB962C8B-B14F-4D97-AF65-F5344CB8AC3E}">
        <p14:creationId xmlns:p14="http://schemas.microsoft.com/office/powerpoint/2010/main" val="342027736"/>
      </p:ext>
    </p:extLst>
  </p:cSld>
  <p:clrMapOvr>
    <a:masterClrMapping/>
  </p:clrMapOvr>
  <mc:AlternateContent xmlns:mc="http://schemas.openxmlformats.org/markup-compatibility/2006" xmlns:p14="http://schemas.microsoft.com/office/powerpoint/2010/main">
    <mc:Choice Requires="p14">
      <p:transition spd="slow" p14:dur="2000" advClick="0" advTm="8000"/>
    </mc:Choice>
    <mc:Fallback xmlns="">
      <p:transition spd="slow" advClick="0" advTm="8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C15CD12-068E-4779-B982-DBDB8EA42DDC}"/>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εικόνας 2">
            <a:extLst>
              <a:ext uri="{FF2B5EF4-FFF2-40B4-BE49-F238E27FC236}">
                <a16:creationId xmlns:a16="http://schemas.microsoft.com/office/drawing/2014/main" id="{1A4EAB49-C302-4B2D-9023-AB8853FD6C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a:extLst>
              <a:ext uri="{FF2B5EF4-FFF2-40B4-BE49-F238E27FC236}">
                <a16:creationId xmlns:a16="http://schemas.microsoft.com/office/drawing/2014/main" id="{BC5D0BA1-31FB-4DC9-BA28-C3C689BA29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id="{ADA77215-9EFE-4C48-8216-0B6BC9E442DE}"/>
              </a:ext>
            </a:extLst>
          </p:cNvPr>
          <p:cNvSpPr>
            <a:spLocks noGrp="1"/>
          </p:cNvSpPr>
          <p:nvPr>
            <p:ph type="dt" sz="half" idx="10"/>
          </p:nvPr>
        </p:nvSpPr>
        <p:spPr/>
        <p:txBody>
          <a:bodyPr/>
          <a:lstStyle/>
          <a:p>
            <a:fld id="{95DDD9B2-2346-44B9-8990-C409662C1AD9}" type="datetimeFigureOut">
              <a:rPr lang="el-GR" smtClean="0"/>
              <a:t>21/5/2026</a:t>
            </a:fld>
            <a:endParaRPr lang="el-GR"/>
          </a:p>
        </p:txBody>
      </p:sp>
      <p:sp>
        <p:nvSpPr>
          <p:cNvPr id="6" name="Θέση υποσέλιδου 5">
            <a:extLst>
              <a:ext uri="{FF2B5EF4-FFF2-40B4-BE49-F238E27FC236}">
                <a16:creationId xmlns:a16="http://schemas.microsoft.com/office/drawing/2014/main" id="{6585E1B8-9648-46AB-946A-A51BF8EA00D1}"/>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3D6747B0-545C-4292-9431-4FE5CFF123C6}"/>
              </a:ext>
            </a:extLst>
          </p:cNvPr>
          <p:cNvSpPr>
            <a:spLocks noGrp="1"/>
          </p:cNvSpPr>
          <p:nvPr>
            <p:ph type="sldNum" sz="quarter" idx="12"/>
          </p:nvPr>
        </p:nvSpPr>
        <p:spPr/>
        <p:txBody>
          <a:bodyPr/>
          <a:lstStyle/>
          <a:p>
            <a:fld id="{7501EF04-2E75-4BDB-B87F-CF60A868D912}" type="slidenum">
              <a:rPr lang="el-GR" smtClean="0"/>
              <a:t>‹#›</a:t>
            </a:fld>
            <a:endParaRPr lang="el-GR"/>
          </a:p>
        </p:txBody>
      </p:sp>
    </p:spTree>
    <p:extLst>
      <p:ext uri="{BB962C8B-B14F-4D97-AF65-F5344CB8AC3E}">
        <p14:creationId xmlns:p14="http://schemas.microsoft.com/office/powerpoint/2010/main" val="1264304956"/>
      </p:ext>
    </p:extLst>
  </p:cSld>
  <p:clrMapOvr>
    <a:masterClrMapping/>
  </p:clrMapOvr>
  <mc:AlternateContent xmlns:mc="http://schemas.openxmlformats.org/markup-compatibility/2006" xmlns:p14="http://schemas.microsoft.com/office/powerpoint/2010/main">
    <mc:Choice Requires="p14">
      <p:transition spd="slow" p14:dur="2000" advClick="0" advTm="8000"/>
    </mc:Choice>
    <mc:Fallback xmlns="">
      <p:transition spd="slow" advClick="0" advTm="8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3D288B2-65DD-49BE-81CF-9506EBDE847F}"/>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0A9B43AA-5ABB-4DA6-BD09-A2D0905152E3}"/>
              </a:ext>
            </a:extLst>
          </p:cNvPr>
          <p:cNvSpPr>
            <a:spLocks noGrp="1"/>
          </p:cNvSpPr>
          <p:nvPr>
            <p:ph type="body" orient="vert" idx="1"/>
          </p:nvPr>
        </p:nvSpPr>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FA390F0E-AA61-4921-AD8E-2F10170E681C}"/>
              </a:ext>
            </a:extLst>
          </p:cNvPr>
          <p:cNvSpPr>
            <a:spLocks noGrp="1"/>
          </p:cNvSpPr>
          <p:nvPr>
            <p:ph type="dt" sz="half" idx="10"/>
          </p:nvPr>
        </p:nvSpPr>
        <p:spPr/>
        <p:txBody>
          <a:bodyPr/>
          <a:lstStyle/>
          <a:p>
            <a:fld id="{95DDD9B2-2346-44B9-8990-C409662C1AD9}" type="datetimeFigureOut">
              <a:rPr lang="el-GR" smtClean="0"/>
              <a:t>21/5/2026</a:t>
            </a:fld>
            <a:endParaRPr lang="el-GR"/>
          </a:p>
        </p:txBody>
      </p:sp>
      <p:sp>
        <p:nvSpPr>
          <p:cNvPr id="5" name="Θέση υποσέλιδου 4">
            <a:extLst>
              <a:ext uri="{FF2B5EF4-FFF2-40B4-BE49-F238E27FC236}">
                <a16:creationId xmlns:a16="http://schemas.microsoft.com/office/drawing/2014/main" id="{9912EEBA-E9F7-4413-9F49-25F22F7C7B96}"/>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40DFA412-E777-409B-AB57-1A3144214C9A}"/>
              </a:ext>
            </a:extLst>
          </p:cNvPr>
          <p:cNvSpPr>
            <a:spLocks noGrp="1"/>
          </p:cNvSpPr>
          <p:nvPr>
            <p:ph type="sldNum" sz="quarter" idx="12"/>
          </p:nvPr>
        </p:nvSpPr>
        <p:spPr/>
        <p:txBody>
          <a:bodyPr/>
          <a:lstStyle/>
          <a:p>
            <a:fld id="{7501EF04-2E75-4BDB-B87F-CF60A868D912}" type="slidenum">
              <a:rPr lang="el-GR" smtClean="0"/>
              <a:t>‹#›</a:t>
            </a:fld>
            <a:endParaRPr lang="el-GR"/>
          </a:p>
        </p:txBody>
      </p:sp>
    </p:spTree>
    <p:extLst>
      <p:ext uri="{BB962C8B-B14F-4D97-AF65-F5344CB8AC3E}">
        <p14:creationId xmlns:p14="http://schemas.microsoft.com/office/powerpoint/2010/main" val="20373447"/>
      </p:ext>
    </p:extLst>
  </p:cSld>
  <p:clrMapOvr>
    <a:masterClrMapping/>
  </p:clrMapOvr>
  <mc:AlternateContent xmlns:mc="http://schemas.openxmlformats.org/markup-compatibility/2006" xmlns:p14="http://schemas.microsoft.com/office/powerpoint/2010/main">
    <mc:Choice Requires="p14">
      <p:transition spd="slow" p14:dur="2000" advClick="0" advTm="8000"/>
    </mc:Choice>
    <mc:Fallback xmlns="">
      <p:transition spd="slow" advClick="0" advTm="8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id="{A9FE924A-11BE-48A3-A70A-90C8832E804D}"/>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C319CEBB-1417-4DEC-AAD8-8D44A6CA1B9F}"/>
              </a:ext>
            </a:extLst>
          </p:cNvPr>
          <p:cNvSpPr>
            <a:spLocks noGrp="1"/>
          </p:cNvSpPr>
          <p:nvPr>
            <p:ph type="body" orient="vert" idx="1"/>
          </p:nvPr>
        </p:nvSpPr>
        <p:spPr>
          <a:xfrm>
            <a:off x="838200" y="365125"/>
            <a:ext cx="7734300" cy="5811838"/>
          </a:xfrm>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839B8741-B10F-4A30-B877-00C78A6ACC90}"/>
              </a:ext>
            </a:extLst>
          </p:cNvPr>
          <p:cNvSpPr>
            <a:spLocks noGrp="1"/>
          </p:cNvSpPr>
          <p:nvPr>
            <p:ph type="dt" sz="half" idx="10"/>
          </p:nvPr>
        </p:nvSpPr>
        <p:spPr/>
        <p:txBody>
          <a:bodyPr/>
          <a:lstStyle/>
          <a:p>
            <a:fld id="{95DDD9B2-2346-44B9-8990-C409662C1AD9}" type="datetimeFigureOut">
              <a:rPr lang="el-GR" smtClean="0"/>
              <a:t>21/5/2026</a:t>
            </a:fld>
            <a:endParaRPr lang="el-GR"/>
          </a:p>
        </p:txBody>
      </p:sp>
      <p:sp>
        <p:nvSpPr>
          <p:cNvPr id="5" name="Θέση υποσέλιδου 4">
            <a:extLst>
              <a:ext uri="{FF2B5EF4-FFF2-40B4-BE49-F238E27FC236}">
                <a16:creationId xmlns:a16="http://schemas.microsoft.com/office/drawing/2014/main" id="{991A61FD-A565-434F-BC9E-E14D32C0E6D4}"/>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000F2BBC-2408-485B-B371-A600CB5CD107}"/>
              </a:ext>
            </a:extLst>
          </p:cNvPr>
          <p:cNvSpPr>
            <a:spLocks noGrp="1"/>
          </p:cNvSpPr>
          <p:nvPr>
            <p:ph type="sldNum" sz="quarter" idx="12"/>
          </p:nvPr>
        </p:nvSpPr>
        <p:spPr/>
        <p:txBody>
          <a:bodyPr/>
          <a:lstStyle/>
          <a:p>
            <a:fld id="{7501EF04-2E75-4BDB-B87F-CF60A868D912}" type="slidenum">
              <a:rPr lang="el-GR" smtClean="0"/>
              <a:t>‹#›</a:t>
            </a:fld>
            <a:endParaRPr lang="el-GR"/>
          </a:p>
        </p:txBody>
      </p:sp>
    </p:spTree>
    <p:extLst>
      <p:ext uri="{BB962C8B-B14F-4D97-AF65-F5344CB8AC3E}">
        <p14:creationId xmlns:p14="http://schemas.microsoft.com/office/powerpoint/2010/main" val="2894881894"/>
      </p:ext>
    </p:extLst>
  </p:cSld>
  <p:clrMapOvr>
    <a:masterClrMapping/>
  </p:clrMapOvr>
  <mc:AlternateContent xmlns:mc="http://schemas.openxmlformats.org/markup-compatibility/2006" xmlns:p14="http://schemas.microsoft.com/office/powerpoint/2010/main">
    <mc:Choice Requires="p14">
      <p:transition spd="slow" p14:dur="2000" advClick="0" advTm="8000"/>
    </mc:Choice>
    <mc:Fallback xmlns="">
      <p:transition spd="slow" advClick="0" advTm="8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id="{00D18C91-E677-4C81-B44A-3FE788B29B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E0B12C1F-8875-46EC-957F-BEF1A0A4B8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9D0A6AB3-F7FB-4A10-8085-32F6198B5C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DDD9B2-2346-44B9-8990-C409662C1AD9}" type="datetimeFigureOut">
              <a:rPr lang="el-GR" smtClean="0"/>
              <a:t>21/5/2026</a:t>
            </a:fld>
            <a:endParaRPr lang="el-GR"/>
          </a:p>
        </p:txBody>
      </p:sp>
      <p:sp>
        <p:nvSpPr>
          <p:cNvPr id="5" name="Θέση υποσέλιδου 4">
            <a:extLst>
              <a:ext uri="{FF2B5EF4-FFF2-40B4-BE49-F238E27FC236}">
                <a16:creationId xmlns:a16="http://schemas.microsoft.com/office/drawing/2014/main" id="{40B64AD5-EBB8-4AB1-B654-11D551CE01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a:extLst>
              <a:ext uri="{FF2B5EF4-FFF2-40B4-BE49-F238E27FC236}">
                <a16:creationId xmlns:a16="http://schemas.microsoft.com/office/drawing/2014/main" id="{00DF81DE-C6C4-468F-B729-8681533EC3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01EF04-2E75-4BDB-B87F-CF60A868D912}" type="slidenum">
              <a:rPr lang="el-GR" smtClean="0"/>
              <a:t>‹#›</a:t>
            </a:fld>
            <a:endParaRPr lang="el-GR"/>
          </a:p>
        </p:txBody>
      </p:sp>
    </p:spTree>
    <p:extLst>
      <p:ext uri="{BB962C8B-B14F-4D97-AF65-F5344CB8AC3E}">
        <p14:creationId xmlns:p14="http://schemas.microsoft.com/office/powerpoint/2010/main" val="5447908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advClick="0" advTm="8000"/>
    </mc:Choice>
    <mc:Fallback xmlns="">
      <p:transition spd="slow" advClick="0" advTm="8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oleObject" Target="../embeddings/oleObject1.bin"/><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5.wmf"/></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svg"/></Relationships>
</file>

<file path=ppt/slides/_rels/slide5.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4.sv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svg"/><Relationship Id="rId11" Type="http://schemas.openxmlformats.org/officeDocument/2006/relationships/image" Target="../media/image23.png"/><Relationship Id="rId5" Type="http://schemas.openxmlformats.org/officeDocument/2006/relationships/image" Target="../media/image19.png"/><Relationship Id="rId10" Type="http://schemas.openxmlformats.org/officeDocument/2006/relationships/image" Target="../media/image7.svg"/><Relationship Id="rId4" Type="http://schemas.openxmlformats.org/officeDocument/2006/relationships/image" Target="../media/image18.svg"/><Relationship Id="rId9"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4.svg"/><Relationship Id="rId2" Type="http://schemas.openxmlformats.org/officeDocument/2006/relationships/image" Target="../media/image25.jpeg"/><Relationship Id="rId1" Type="http://schemas.openxmlformats.org/officeDocument/2006/relationships/slideLayout" Target="../slideLayouts/slideLayout2.xml"/><Relationship Id="rId6" Type="http://schemas.openxmlformats.org/officeDocument/2006/relationships/image" Target="../media/image20.svg"/><Relationship Id="rId11" Type="http://schemas.openxmlformats.org/officeDocument/2006/relationships/image" Target="../media/image23.png"/><Relationship Id="rId5" Type="http://schemas.openxmlformats.org/officeDocument/2006/relationships/image" Target="../media/image19.png"/><Relationship Id="rId10" Type="http://schemas.openxmlformats.org/officeDocument/2006/relationships/image" Target="../media/image7.svg"/><Relationship Id="rId4" Type="http://schemas.openxmlformats.org/officeDocument/2006/relationships/image" Target="../media/image18.svg"/><Relationship Id="rId9"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4.svg"/><Relationship Id="rId2" Type="http://schemas.openxmlformats.org/officeDocument/2006/relationships/image" Target="../media/image26.jpeg"/><Relationship Id="rId1" Type="http://schemas.openxmlformats.org/officeDocument/2006/relationships/slideLayout" Target="../slideLayouts/slideLayout2.xml"/><Relationship Id="rId6" Type="http://schemas.openxmlformats.org/officeDocument/2006/relationships/image" Target="../media/image20.svg"/><Relationship Id="rId11" Type="http://schemas.openxmlformats.org/officeDocument/2006/relationships/image" Target="../media/image23.png"/><Relationship Id="rId5" Type="http://schemas.openxmlformats.org/officeDocument/2006/relationships/image" Target="../media/image19.png"/><Relationship Id="rId10" Type="http://schemas.openxmlformats.org/officeDocument/2006/relationships/image" Target="../media/image7.svg"/><Relationship Id="rId4" Type="http://schemas.openxmlformats.org/officeDocument/2006/relationships/image" Target="../media/image18.svg"/><Relationship Id="rId9"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23.png"/><Relationship Id="rId7" Type="http://schemas.openxmlformats.org/officeDocument/2006/relationships/image" Target="../media/image21.png"/><Relationship Id="rId12" Type="http://schemas.openxmlformats.org/officeDocument/2006/relationships/image" Target="../media/image18.svg"/><Relationship Id="rId2" Type="http://schemas.openxmlformats.org/officeDocument/2006/relationships/image" Target="../media/image27.jpeg"/><Relationship Id="rId1" Type="http://schemas.openxmlformats.org/officeDocument/2006/relationships/slideLayout" Target="../slideLayouts/slideLayout2.xml"/><Relationship Id="rId6" Type="http://schemas.openxmlformats.org/officeDocument/2006/relationships/image" Target="../media/image20.svg"/><Relationship Id="rId11" Type="http://schemas.openxmlformats.org/officeDocument/2006/relationships/image" Target="../media/image17.png"/><Relationship Id="rId5" Type="http://schemas.openxmlformats.org/officeDocument/2006/relationships/image" Target="../media/image19.png"/><Relationship Id="rId10" Type="http://schemas.openxmlformats.org/officeDocument/2006/relationships/image" Target="../media/image7.svg"/><Relationship Id="rId4" Type="http://schemas.openxmlformats.org/officeDocument/2006/relationships/image" Target="../media/image24.svg"/><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23.png"/><Relationship Id="rId7" Type="http://schemas.openxmlformats.org/officeDocument/2006/relationships/image" Target="../media/image21.png"/><Relationship Id="rId12" Type="http://schemas.openxmlformats.org/officeDocument/2006/relationships/image" Target="../media/image18.svg"/><Relationship Id="rId2" Type="http://schemas.openxmlformats.org/officeDocument/2006/relationships/image" Target="../media/image28.jpeg"/><Relationship Id="rId1" Type="http://schemas.openxmlformats.org/officeDocument/2006/relationships/slideLayout" Target="../slideLayouts/slideLayout2.xml"/><Relationship Id="rId6" Type="http://schemas.openxmlformats.org/officeDocument/2006/relationships/image" Target="../media/image20.svg"/><Relationship Id="rId11" Type="http://schemas.openxmlformats.org/officeDocument/2006/relationships/image" Target="../media/image17.png"/><Relationship Id="rId5" Type="http://schemas.openxmlformats.org/officeDocument/2006/relationships/image" Target="../media/image19.png"/><Relationship Id="rId10" Type="http://schemas.openxmlformats.org/officeDocument/2006/relationships/image" Target="../media/image7.svg"/><Relationship Id="rId4" Type="http://schemas.openxmlformats.org/officeDocument/2006/relationships/image" Target="../media/image24.svg"/><Relationship Id="rId9"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23.png"/><Relationship Id="rId7" Type="http://schemas.openxmlformats.org/officeDocument/2006/relationships/image" Target="../media/image21.png"/><Relationship Id="rId12" Type="http://schemas.openxmlformats.org/officeDocument/2006/relationships/image" Target="../media/image18.svg"/><Relationship Id="rId2" Type="http://schemas.openxmlformats.org/officeDocument/2006/relationships/image" Target="../media/image29.jpeg"/><Relationship Id="rId1" Type="http://schemas.openxmlformats.org/officeDocument/2006/relationships/slideLayout" Target="../slideLayouts/slideLayout2.xml"/><Relationship Id="rId6" Type="http://schemas.openxmlformats.org/officeDocument/2006/relationships/image" Target="../media/image20.svg"/><Relationship Id="rId11" Type="http://schemas.openxmlformats.org/officeDocument/2006/relationships/image" Target="../media/image17.png"/><Relationship Id="rId5" Type="http://schemas.openxmlformats.org/officeDocument/2006/relationships/image" Target="../media/image19.png"/><Relationship Id="rId10" Type="http://schemas.openxmlformats.org/officeDocument/2006/relationships/image" Target="../media/image7.svg"/><Relationship Id="rId4" Type="http://schemas.openxmlformats.org/officeDocument/2006/relationships/image" Target="../media/image24.svg"/><Relationship Id="rId9" Type="http://schemas.openxmlformats.org/officeDocument/2006/relationships/image" Target="../media/image6.png"/></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4.svg"/><Relationship Id="rId7" Type="http://schemas.openxmlformats.org/officeDocument/2006/relationships/image" Target="../media/image22.svg"/><Relationship Id="rId12" Type="http://schemas.openxmlformats.org/officeDocument/2006/relationships/image" Target="../media/image30.jpe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18.svg"/><Relationship Id="rId5" Type="http://schemas.openxmlformats.org/officeDocument/2006/relationships/image" Target="../media/image20.svg"/><Relationship Id="rId10" Type="http://schemas.openxmlformats.org/officeDocument/2006/relationships/image" Target="../media/image17.png"/><Relationship Id="rId4" Type="http://schemas.openxmlformats.org/officeDocument/2006/relationships/image" Target="../media/image19.png"/><Relationship Id="rId9" Type="http://schemas.openxmlformats.org/officeDocument/2006/relationships/image" Target="../media/image7.svg"/></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4.svg"/><Relationship Id="rId7" Type="http://schemas.openxmlformats.org/officeDocument/2006/relationships/image" Target="../media/image22.svg"/><Relationship Id="rId12" Type="http://schemas.openxmlformats.org/officeDocument/2006/relationships/image" Target="../media/image31.jpe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18.svg"/><Relationship Id="rId5" Type="http://schemas.openxmlformats.org/officeDocument/2006/relationships/image" Target="../media/image20.svg"/><Relationship Id="rId10" Type="http://schemas.openxmlformats.org/officeDocument/2006/relationships/image" Target="../media/image17.png"/><Relationship Id="rId4" Type="http://schemas.openxmlformats.org/officeDocument/2006/relationships/image" Target="../media/image19.png"/><Relationship Id="rId9" Type="http://schemas.openxmlformats.org/officeDocument/2006/relationships/image" Target="../media/image7.svg"/></Relationships>
</file>

<file path=ppt/slides/_rels/slide1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4.svg"/><Relationship Id="rId7" Type="http://schemas.openxmlformats.org/officeDocument/2006/relationships/image" Target="../media/image22.svg"/><Relationship Id="rId12" Type="http://schemas.openxmlformats.org/officeDocument/2006/relationships/image" Target="../media/image32.jpe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18.svg"/><Relationship Id="rId5" Type="http://schemas.openxmlformats.org/officeDocument/2006/relationships/image" Target="../media/image20.svg"/><Relationship Id="rId10" Type="http://schemas.openxmlformats.org/officeDocument/2006/relationships/image" Target="../media/image17.png"/><Relationship Id="rId4" Type="http://schemas.openxmlformats.org/officeDocument/2006/relationships/image" Target="../media/image19.png"/><Relationship Id="rId9" Type="http://schemas.openxmlformats.org/officeDocument/2006/relationships/image" Target="../media/image7.svg"/></Relationships>
</file>

<file path=ppt/slides/_rels/slide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4.svg"/><Relationship Id="rId7" Type="http://schemas.openxmlformats.org/officeDocument/2006/relationships/image" Target="../media/image22.svg"/><Relationship Id="rId12" Type="http://schemas.openxmlformats.org/officeDocument/2006/relationships/image" Target="../media/image33.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18.svg"/><Relationship Id="rId5" Type="http://schemas.openxmlformats.org/officeDocument/2006/relationships/image" Target="../media/image20.svg"/><Relationship Id="rId10" Type="http://schemas.openxmlformats.org/officeDocument/2006/relationships/image" Target="../media/image17.png"/><Relationship Id="rId4" Type="http://schemas.openxmlformats.org/officeDocument/2006/relationships/image" Target="../media/image19.png"/><Relationship Id="rId9" Type="http://schemas.openxmlformats.org/officeDocument/2006/relationships/image" Target="../media/image7.svg"/></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4.svg"/><Relationship Id="rId7" Type="http://schemas.openxmlformats.org/officeDocument/2006/relationships/image" Target="../media/image22.svg"/><Relationship Id="rId12" Type="http://schemas.openxmlformats.org/officeDocument/2006/relationships/image" Target="../media/image3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18.svg"/><Relationship Id="rId5" Type="http://schemas.openxmlformats.org/officeDocument/2006/relationships/image" Target="../media/image20.svg"/><Relationship Id="rId10" Type="http://schemas.openxmlformats.org/officeDocument/2006/relationships/image" Target="../media/image17.png"/><Relationship Id="rId4" Type="http://schemas.openxmlformats.org/officeDocument/2006/relationships/image" Target="../media/image19.png"/><Relationship Id="rId9" Type="http://schemas.openxmlformats.org/officeDocument/2006/relationships/image" Target="../media/image7.svg"/></Relationships>
</file>

<file path=ppt/slides/_rels/slide1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4.svg"/><Relationship Id="rId7" Type="http://schemas.openxmlformats.org/officeDocument/2006/relationships/image" Target="../media/image7.svg"/><Relationship Id="rId12" Type="http://schemas.openxmlformats.org/officeDocument/2006/relationships/image" Target="../media/image35.jpe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20.svg"/><Relationship Id="rId5" Type="http://schemas.openxmlformats.org/officeDocument/2006/relationships/image" Target="../media/image22.svg"/><Relationship Id="rId10" Type="http://schemas.openxmlformats.org/officeDocument/2006/relationships/image" Target="../media/image19.png"/><Relationship Id="rId4" Type="http://schemas.openxmlformats.org/officeDocument/2006/relationships/image" Target="../media/image21.png"/><Relationship Id="rId9" Type="http://schemas.openxmlformats.org/officeDocument/2006/relationships/image" Target="../media/image18.svg"/></Relationships>
</file>

<file path=ppt/slides/_rels/slide1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4.svg"/><Relationship Id="rId7" Type="http://schemas.openxmlformats.org/officeDocument/2006/relationships/image" Target="../media/image7.svg"/><Relationship Id="rId12" Type="http://schemas.openxmlformats.org/officeDocument/2006/relationships/image" Target="../media/image20.sv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9.png"/><Relationship Id="rId5" Type="http://schemas.openxmlformats.org/officeDocument/2006/relationships/image" Target="../media/image22.svg"/><Relationship Id="rId10" Type="http://schemas.openxmlformats.org/officeDocument/2006/relationships/image" Target="../media/image36.png"/><Relationship Id="rId4" Type="http://schemas.openxmlformats.org/officeDocument/2006/relationships/image" Target="../media/image21.png"/><Relationship Id="rId9" Type="http://schemas.openxmlformats.org/officeDocument/2006/relationships/image" Target="../media/image18.svg"/></Relationships>
</file>

<file path=ppt/slides/_rels/slide1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4.svg"/><Relationship Id="rId7" Type="http://schemas.openxmlformats.org/officeDocument/2006/relationships/image" Target="../media/image18.svg"/><Relationship Id="rId12" Type="http://schemas.openxmlformats.org/officeDocument/2006/relationships/image" Target="../media/image37.jpe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svg"/><Relationship Id="rId5" Type="http://schemas.openxmlformats.org/officeDocument/2006/relationships/image" Target="../media/image7.svg"/><Relationship Id="rId10"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20.svg"/></Relationships>
</file>

<file path=ppt/slides/_rels/slide1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4.svg"/><Relationship Id="rId7" Type="http://schemas.openxmlformats.org/officeDocument/2006/relationships/image" Target="../media/image20.svg"/><Relationship Id="rId12" Type="http://schemas.openxmlformats.org/officeDocument/2006/relationships/image" Target="../media/image3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7.svg"/><Relationship Id="rId5" Type="http://schemas.openxmlformats.org/officeDocument/2006/relationships/image" Target="../media/image18.svg"/><Relationship Id="rId10" Type="http://schemas.openxmlformats.org/officeDocument/2006/relationships/image" Target="../media/image6.png"/><Relationship Id="rId4" Type="http://schemas.openxmlformats.org/officeDocument/2006/relationships/image" Target="../media/image17.png"/><Relationship Id="rId9" Type="http://schemas.openxmlformats.org/officeDocument/2006/relationships/image" Target="../media/image22.svg"/></Relationships>
</file>

<file path=ppt/slides/_rels/slide2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4.svg"/><Relationship Id="rId7" Type="http://schemas.openxmlformats.org/officeDocument/2006/relationships/image" Target="../media/image20.svg"/><Relationship Id="rId12" Type="http://schemas.openxmlformats.org/officeDocument/2006/relationships/image" Target="../media/image39.jpe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7.svg"/><Relationship Id="rId5" Type="http://schemas.openxmlformats.org/officeDocument/2006/relationships/image" Target="../media/image18.svg"/><Relationship Id="rId10" Type="http://schemas.openxmlformats.org/officeDocument/2006/relationships/image" Target="../media/image6.png"/><Relationship Id="rId4" Type="http://schemas.openxmlformats.org/officeDocument/2006/relationships/image" Target="../media/image17.png"/><Relationship Id="rId9" Type="http://schemas.openxmlformats.org/officeDocument/2006/relationships/image" Target="../media/image22.svg"/></Relationships>
</file>

<file path=ppt/slides/_rels/slide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65000">
              <a:srgbClr val="939393"/>
            </a:gs>
            <a:gs pos="0">
              <a:schemeClr val="bg1"/>
            </a:gs>
            <a:gs pos="100000">
              <a:schemeClr val="accent1">
                <a:lumMod val="60000"/>
                <a:lumOff val="40000"/>
              </a:schemeClr>
            </a:gs>
          </a:gsLst>
          <a:lin ang="2700000" scaled="1"/>
          <a:tileRect/>
        </a:gradFill>
        <a:effectLst/>
      </p:bgPr>
    </p:bg>
    <p:spTree>
      <p:nvGrpSpPr>
        <p:cNvPr id="1" name=""/>
        <p:cNvGrpSpPr/>
        <p:nvPr/>
      </p:nvGrpSpPr>
      <p:grpSpPr>
        <a:xfrm>
          <a:off x="0" y="0"/>
          <a:ext cx="0" cy="0"/>
          <a:chOff x="0" y="0"/>
          <a:chExt cx="0" cy="0"/>
        </a:xfrm>
      </p:grpSpPr>
      <p:pic>
        <p:nvPicPr>
          <p:cNvPr id="1026" name="Picture 2" descr="Πυθαγόρας, 580 - 496 π.Χ | bookpoint.gr">
            <a:extLst>
              <a:ext uri="{FF2B5EF4-FFF2-40B4-BE49-F238E27FC236}">
                <a16:creationId xmlns:a16="http://schemas.microsoft.com/office/drawing/2014/main" id="{5CE71DAC-FA73-43E3-861B-52E41031435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53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 y="0"/>
            <a:ext cx="6233609" cy="6858000"/>
          </a:xfrm>
          <a:prstGeom prst="rect">
            <a:avLst/>
          </a:prstGeom>
          <a:gradFill>
            <a:gsLst>
              <a:gs pos="0">
                <a:schemeClr val="accent1">
                  <a:lumMod val="5000"/>
                  <a:lumOff val="95000"/>
                </a:schemeClr>
              </a:gs>
              <a:gs pos="64000">
                <a:schemeClr val="accent1">
                  <a:lumMod val="45000"/>
                  <a:lumOff val="55000"/>
                </a:schemeClr>
              </a:gs>
              <a:gs pos="88000">
                <a:schemeClr val="accent1">
                  <a:lumMod val="45000"/>
                  <a:lumOff val="55000"/>
                </a:schemeClr>
              </a:gs>
              <a:gs pos="100000">
                <a:schemeClr val="accent1">
                  <a:lumMod val="30000"/>
                  <a:lumOff val="70000"/>
                </a:schemeClr>
              </a:gs>
            </a:gsLst>
            <a:path path="circle">
              <a:fillToRect l="100000" t="100000"/>
            </a:path>
          </a:gradFill>
        </p:spPr>
      </p:pic>
      <p:sp>
        <p:nvSpPr>
          <p:cNvPr id="5" name="TextBox 4">
            <a:extLst>
              <a:ext uri="{FF2B5EF4-FFF2-40B4-BE49-F238E27FC236}">
                <a16:creationId xmlns:a16="http://schemas.microsoft.com/office/drawing/2014/main" id="{98508F18-9E7A-4317-BFE4-D271529E2DA8}"/>
              </a:ext>
            </a:extLst>
          </p:cNvPr>
          <p:cNvSpPr txBox="1"/>
          <p:nvPr/>
        </p:nvSpPr>
        <p:spPr>
          <a:xfrm>
            <a:off x="766396" y="791308"/>
            <a:ext cx="4666216" cy="369332"/>
          </a:xfrm>
          <a:prstGeom prst="rect">
            <a:avLst/>
          </a:prstGeom>
          <a:noFill/>
        </p:spPr>
        <p:txBody>
          <a:bodyPr wrap="square" rtlCol="0">
            <a:spAutoFit/>
          </a:bodyPr>
          <a:lstStyle/>
          <a:p>
            <a:r>
              <a:rPr lang="el-GR" dirty="0">
                <a:latin typeface="Comic Sans MS" panose="030F0702030302020204" pitchFamily="66" charset="0"/>
              </a:rPr>
              <a:t> </a:t>
            </a:r>
          </a:p>
        </p:txBody>
      </p:sp>
      <p:grpSp>
        <p:nvGrpSpPr>
          <p:cNvPr id="27" name="Ομάδα 26">
            <a:extLst>
              <a:ext uri="{FF2B5EF4-FFF2-40B4-BE49-F238E27FC236}">
                <a16:creationId xmlns:a16="http://schemas.microsoft.com/office/drawing/2014/main" id="{969DDC87-FE07-40BE-87AC-5AD0B52FFBDD}"/>
              </a:ext>
            </a:extLst>
          </p:cNvPr>
          <p:cNvGrpSpPr/>
          <p:nvPr/>
        </p:nvGrpSpPr>
        <p:grpSpPr>
          <a:xfrm>
            <a:off x="-1" y="0"/>
            <a:ext cx="6233609" cy="6858000"/>
            <a:chOff x="-7139629" y="-194439"/>
            <a:chExt cx="6096000" cy="7391400"/>
          </a:xfrm>
          <a:gradFill>
            <a:gsLst>
              <a:gs pos="0">
                <a:schemeClr val="accent1">
                  <a:lumMod val="5000"/>
                  <a:lumOff val="95000"/>
                </a:schemeClr>
              </a:gs>
              <a:gs pos="64000">
                <a:schemeClr val="accent1">
                  <a:lumMod val="45000"/>
                  <a:lumOff val="55000"/>
                </a:schemeClr>
              </a:gs>
              <a:gs pos="88000">
                <a:schemeClr val="accent1">
                  <a:lumMod val="45000"/>
                  <a:lumOff val="55000"/>
                </a:schemeClr>
              </a:gs>
              <a:gs pos="100000">
                <a:schemeClr val="accent1">
                  <a:lumMod val="30000"/>
                  <a:lumOff val="70000"/>
                </a:schemeClr>
              </a:gs>
            </a:gsLst>
            <a:path path="circle">
              <a:fillToRect l="100000" t="100000"/>
            </a:path>
          </a:gradFill>
        </p:grpSpPr>
        <p:grpSp>
          <p:nvGrpSpPr>
            <p:cNvPr id="18" name="Ομάδα 17">
              <a:extLst>
                <a:ext uri="{FF2B5EF4-FFF2-40B4-BE49-F238E27FC236}">
                  <a16:creationId xmlns:a16="http://schemas.microsoft.com/office/drawing/2014/main" id="{E67E7DEA-D007-4282-8D76-03FFEA033D69}"/>
                </a:ext>
              </a:extLst>
            </p:cNvPr>
            <p:cNvGrpSpPr/>
            <p:nvPr/>
          </p:nvGrpSpPr>
          <p:grpSpPr>
            <a:xfrm>
              <a:off x="-7139629" y="-194439"/>
              <a:ext cx="6096000" cy="7391400"/>
              <a:chOff x="-4867551" y="-266700"/>
              <a:chExt cx="6096000" cy="7391400"/>
            </a:xfrm>
            <a:grpFill/>
          </p:grpSpPr>
          <p:sp useBgFill="1">
            <p:nvSpPr>
              <p:cNvPr id="13" name="TextBox 12">
                <a:extLst>
                  <a:ext uri="{FF2B5EF4-FFF2-40B4-BE49-F238E27FC236}">
                    <a16:creationId xmlns:a16="http://schemas.microsoft.com/office/drawing/2014/main" id="{F72BE6D9-32B0-4CC9-848A-CE4636FA68E7}"/>
                  </a:ext>
                </a:extLst>
              </p:cNvPr>
              <p:cNvSpPr txBox="1"/>
              <p:nvPr/>
            </p:nvSpPr>
            <p:spPr>
              <a:xfrm>
                <a:off x="-4867551" y="-266700"/>
                <a:ext cx="6096000" cy="7391400"/>
              </a:xfrm>
              <a:custGeom>
                <a:avLst/>
                <a:gdLst/>
                <a:ahLst/>
                <a:cxnLst/>
                <a:rect l="l" t="t" r="r" b="b"/>
                <a:pathLst>
                  <a:path w="6096000" h="6858000">
                    <a:moveTo>
                      <a:pt x="1954410" y="3385615"/>
                    </a:moveTo>
                    <a:cubicBezTo>
                      <a:pt x="1931140" y="3385615"/>
                      <a:pt x="1896236" y="3386646"/>
                      <a:pt x="1849696" y="3388708"/>
                    </a:cubicBezTo>
                    <a:cubicBezTo>
                      <a:pt x="1803156" y="3390770"/>
                      <a:pt x="1768251" y="3391801"/>
                      <a:pt x="1744981" y="3391801"/>
                    </a:cubicBezTo>
                    <a:cubicBezTo>
                      <a:pt x="1720239" y="3391801"/>
                      <a:pt x="1707867" y="3403289"/>
                      <a:pt x="1707867" y="3426264"/>
                    </a:cubicBezTo>
                    <a:cubicBezTo>
                      <a:pt x="1707867" y="3449239"/>
                      <a:pt x="1720239" y="3460727"/>
                      <a:pt x="1744981" y="3460727"/>
                    </a:cubicBezTo>
                    <a:cubicBezTo>
                      <a:pt x="1847486" y="3460727"/>
                      <a:pt x="1918769" y="3458665"/>
                      <a:pt x="1958829" y="3454541"/>
                    </a:cubicBezTo>
                    <a:cubicBezTo>
                      <a:pt x="1982099" y="3451890"/>
                      <a:pt x="1993734" y="3440403"/>
                      <a:pt x="1993734" y="3420078"/>
                    </a:cubicBezTo>
                    <a:cubicBezTo>
                      <a:pt x="1993734" y="3397103"/>
                      <a:pt x="1980626" y="3385615"/>
                      <a:pt x="1954410" y="3385615"/>
                    </a:cubicBezTo>
                    <a:close/>
                    <a:moveTo>
                      <a:pt x="5012140" y="3265436"/>
                    </a:moveTo>
                    <a:lnTo>
                      <a:pt x="5047928" y="3435984"/>
                    </a:lnTo>
                    <a:cubicBezTo>
                      <a:pt x="4975467" y="3448945"/>
                      <a:pt x="4921417" y="3459990"/>
                      <a:pt x="4885775" y="3469122"/>
                    </a:cubicBezTo>
                    <a:close/>
                    <a:moveTo>
                      <a:pt x="2602315" y="3265436"/>
                    </a:moveTo>
                    <a:lnTo>
                      <a:pt x="2638103" y="3435984"/>
                    </a:lnTo>
                    <a:cubicBezTo>
                      <a:pt x="2565643" y="3448945"/>
                      <a:pt x="2511592" y="3459990"/>
                      <a:pt x="2475950" y="3469122"/>
                    </a:cubicBezTo>
                    <a:close/>
                    <a:moveTo>
                      <a:pt x="3819305" y="3178395"/>
                    </a:moveTo>
                    <a:cubicBezTo>
                      <a:pt x="3890882" y="3178395"/>
                      <a:pt x="3941693" y="3192092"/>
                      <a:pt x="3971738" y="3219486"/>
                    </a:cubicBezTo>
                    <a:cubicBezTo>
                      <a:pt x="4003256" y="3248058"/>
                      <a:pt x="4019014" y="3297543"/>
                      <a:pt x="4019014" y="3367942"/>
                    </a:cubicBezTo>
                    <a:cubicBezTo>
                      <a:pt x="4019014" y="3448356"/>
                      <a:pt x="3998248" y="3520816"/>
                      <a:pt x="3956716" y="3585324"/>
                    </a:cubicBezTo>
                    <a:cubicBezTo>
                      <a:pt x="3910176" y="3657490"/>
                      <a:pt x="3851117" y="3693573"/>
                      <a:pt x="3779540" y="3693573"/>
                    </a:cubicBezTo>
                    <a:cubicBezTo>
                      <a:pt x="3720040" y="3693573"/>
                      <a:pt x="3670113" y="3676783"/>
                      <a:pt x="3629759" y="3643204"/>
                    </a:cubicBezTo>
                    <a:cubicBezTo>
                      <a:pt x="3587638" y="3607563"/>
                      <a:pt x="3566577" y="3561318"/>
                      <a:pt x="3566577" y="3504468"/>
                    </a:cubicBezTo>
                    <a:cubicBezTo>
                      <a:pt x="3566577" y="3424938"/>
                      <a:pt x="3589700" y="3352183"/>
                      <a:pt x="3635945" y="3286203"/>
                    </a:cubicBezTo>
                    <a:cubicBezTo>
                      <a:pt x="3686019" y="3214331"/>
                      <a:pt x="3747139" y="3178395"/>
                      <a:pt x="3819305" y="3178395"/>
                    </a:cubicBezTo>
                    <a:close/>
                    <a:moveTo>
                      <a:pt x="1876206" y="3178395"/>
                    </a:moveTo>
                    <a:cubicBezTo>
                      <a:pt x="1947783" y="3178395"/>
                      <a:pt x="1998594" y="3192092"/>
                      <a:pt x="2028638" y="3219486"/>
                    </a:cubicBezTo>
                    <a:cubicBezTo>
                      <a:pt x="2060156" y="3248058"/>
                      <a:pt x="2075915" y="3297543"/>
                      <a:pt x="2075915" y="3367942"/>
                    </a:cubicBezTo>
                    <a:cubicBezTo>
                      <a:pt x="2075915" y="3448356"/>
                      <a:pt x="2055148" y="3520816"/>
                      <a:pt x="2013616" y="3585324"/>
                    </a:cubicBezTo>
                    <a:cubicBezTo>
                      <a:pt x="1967076" y="3657490"/>
                      <a:pt x="1908018" y="3693573"/>
                      <a:pt x="1836441" y="3693573"/>
                    </a:cubicBezTo>
                    <a:cubicBezTo>
                      <a:pt x="1776941" y="3693573"/>
                      <a:pt x="1727013" y="3676783"/>
                      <a:pt x="1686659" y="3643204"/>
                    </a:cubicBezTo>
                    <a:cubicBezTo>
                      <a:pt x="1644538" y="3607563"/>
                      <a:pt x="1623477" y="3561318"/>
                      <a:pt x="1623477" y="3504468"/>
                    </a:cubicBezTo>
                    <a:cubicBezTo>
                      <a:pt x="1623477" y="3424938"/>
                      <a:pt x="1646600" y="3352183"/>
                      <a:pt x="1692845" y="3286203"/>
                    </a:cubicBezTo>
                    <a:cubicBezTo>
                      <a:pt x="1742919" y="3214331"/>
                      <a:pt x="1804040" y="3178395"/>
                      <a:pt x="1876206" y="3178395"/>
                    </a:cubicBezTo>
                    <a:close/>
                    <a:moveTo>
                      <a:pt x="4353659" y="3147025"/>
                    </a:moveTo>
                    <a:cubicBezTo>
                      <a:pt x="4391362" y="3147025"/>
                      <a:pt x="4426562" y="3157924"/>
                      <a:pt x="4459257" y="3179721"/>
                    </a:cubicBezTo>
                    <a:cubicBezTo>
                      <a:pt x="4494604" y="3203580"/>
                      <a:pt x="4512277" y="3232004"/>
                      <a:pt x="4512277" y="3264995"/>
                    </a:cubicBezTo>
                    <a:cubicBezTo>
                      <a:pt x="4512277" y="3311535"/>
                      <a:pt x="4493720" y="3348501"/>
                      <a:pt x="4456606" y="3375895"/>
                    </a:cubicBezTo>
                    <a:cubicBezTo>
                      <a:pt x="4422732" y="3400932"/>
                      <a:pt x="4381053" y="3413451"/>
                      <a:pt x="4331568" y="3413451"/>
                    </a:cubicBezTo>
                    <a:lnTo>
                      <a:pt x="4282966" y="3407707"/>
                    </a:lnTo>
                    <a:lnTo>
                      <a:pt x="4292244" y="3231857"/>
                    </a:lnTo>
                    <a:lnTo>
                      <a:pt x="4293128" y="3150560"/>
                    </a:lnTo>
                    <a:cubicBezTo>
                      <a:pt x="4300197" y="3149382"/>
                      <a:pt x="4308813" y="3148498"/>
                      <a:pt x="4318975" y="3147909"/>
                    </a:cubicBezTo>
                    <a:cubicBezTo>
                      <a:pt x="4329137" y="3147320"/>
                      <a:pt x="4340699" y="3147025"/>
                      <a:pt x="4353659" y="3147025"/>
                    </a:cubicBezTo>
                    <a:close/>
                    <a:moveTo>
                      <a:pt x="5033790" y="3104167"/>
                    </a:moveTo>
                    <a:cubicBezTo>
                      <a:pt x="5016705" y="3104167"/>
                      <a:pt x="4973258" y="3159986"/>
                      <a:pt x="4903449" y="3271622"/>
                    </a:cubicBezTo>
                    <a:cubicBezTo>
                      <a:pt x="4852196" y="3353509"/>
                      <a:pt x="4809780" y="3425969"/>
                      <a:pt x="4776201" y="3489004"/>
                    </a:cubicBezTo>
                    <a:cubicBezTo>
                      <a:pt x="4747335" y="3495779"/>
                      <a:pt x="4732901" y="3511096"/>
                      <a:pt x="4732901" y="3534955"/>
                    </a:cubicBezTo>
                    <a:cubicBezTo>
                      <a:pt x="4732901" y="3544970"/>
                      <a:pt x="4735405" y="3553806"/>
                      <a:pt x="4740412" y="3561465"/>
                    </a:cubicBezTo>
                    <a:cubicBezTo>
                      <a:pt x="4695934" y="3654839"/>
                      <a:pt x="4673695" y="3708596"/>
                      <a:pt x="4673695" y="3722734"/>
                    </a:cubicBezTo>
                    <a:cubicBezTo>
                      <a:pt x="4673695" y="3735400"/>
                      <a:pt x="4678335" y="3746004"/>
                      <a:pt x="4687613" y="3754546"/>
                    </a:cubicBezTo>
                    <a:cubicBezTo>
                      <a:pt x="4696892" y="3763088"/>
                      <a:pt x="4707422" y="3767359"/>
                      <a:pt x="4719204" y="3767359"/>
                    </a:cubicBezTo>
                    <a:cubicBezTo>
                      <a:pt x="4735405" y="3767359"/>
                      <a:pt x="4748218" y="3759112"/>
                      <a:pt x="4757644" y="3742617"/>
                    </a:cubicBezTo>
                    <a:cubicBezTo>
                      <a:pt x="4793285" y="3668389"/>
                      <a:pt x="4818470" y="3611981"/>
                      <a:pt x="4833197" y="3573394"/>
                    </a:cubicBezTo>
                    <a:lnTo>
                      <a:pt x="4950725" y="3549094"/>
                    </a:lnTo>
                    <a:cubicBezTo>
                      <a:pt x="4999326" y="3538490"/>
                      <a:pt x="5038650" y="3531126"/>
                      <a:pt x="5068694" y="3527002"/>
                    </a:cubicBezTo>
                    <a:cubicBezTo>
                      <a:pt x="5080182" y="3593277"/>
                      <a:pt x="5089755" y="3639669"/>
                      <a:pt x="5097414" y="3666179"/>
                    </a:cubicBezTo>
                    <a:cubicBezTo>
                      <a:pt x="5117443" y="3735695"/>
                      <a:pt x="5141008" y="3770452"/>
                      <a:pt x="5168107" y="3770452"/>
                    </a:cubicBezTo>
                    <a:cubicBezTo>
                      <a:pt x="5179889" y="3770452"/>
                      <a:pt x="5190346" y="3766181"/>
                      <a:pt x="5199477" y="3757639"/>
                    </a:cubicBezTo>
                    <a:cubicBezTo>
                      <a:pt x="5208608" y="3749097"/>
                      <a:pt x="5213174" y="3738493"/>
                      <a:pt x="5213174" y="3725827"/>
                    </a:cubicBezTo>
                    <a:cubicBezTo>
                      <a:pt x="5213174" y="3717874"/>
                      <a:pt x="5208903" y="3701968"/>
                      <a:pt x="5200361" y="3678109"/>
                    </a:cubicBezTo>
                    <a:lnTo>
                      <a:pt x="5175176" y="3608299"/>
                    </a:lnTo>
                    <a:lnTo>
                      <a:pt x="5109343" y="3301225"/>
                    </a:lnTo>
                    <a:lnTo>
                      <a:pt x="5081508" y="3152769"/>
                    </a:lnTo>
                    <a:cubicBezTo>
                      <a:pt x="5072966" y="3120368"/>
                      <a:pt x="5057060" y="3104167"/>
                      <a:pt x="5033790" y="3104167"/>
                    </a:cubicBezTo>
                    <a:close/>
                    <a:moveTo>
                      <a:pt x="2623965" y="3104167"/>
                    </a:moveTo>
                    <a:cubicBezTo>
                      <a:pt x="2606881" y="3104167"/>
                      <a:pt x="2563433" y="3159986"/>
                      <a:pt x="2493624" y="3271622"/>
                    </a:cubicBezTo>
                    <a:cubicBezTo>
                      <a:pt x="2442371" y="3353509"/>
                      <a:pt x="2399955" y="3425969"/>
                      <a:pt x="2366376" y="3489004"/>
                    </a:cubicBezTo>
                    <a:cubicBezTo>
                      <a:pt x="2337509" y="3495779"/>
                      <a:pt x="2323076" y="3511096"/>
                      <a:pt x="2323076" y="3534955"/>
                    </a:cubicBezTo>
                    <a:cubicBezTo>
                      <a:pt x="2323076" y="3544970"/>
                      <a:pt x="2325580" y="3553806"/>
                      <a:pt x="2330587" y="3561465"/>
                    </a:cubicBezTo>
                    <a:cubicBezTo>
                      <a:pt x="2286110" y="3654839"/>
                      <a:pt x="2263871" y="3708596"/>
                      <a:pt x="2263871" y="3722734"/>
                    </a:cubicBezTo>
                    <a:cubicBezTo>
                      <a:pt x="2263871" y="3735400"/>
                      <a:pt x="2268510" y="3746004"/>
                      <a:pt x="2277788" y="3754546"/>
                    </a:cubicBezTo>
                    <a:cubicBezTo>
                      <a:pt x="2287067" y="3763088"/>
                      <a:pt x="2297597" y="3767359"/>
                      <a:pt x="2309379" y="3767359"/>
                    </a:cubicBezTo>
                    <a:cubicBezTo>
                      <a:pt x="2325580" y="3767359"/>
                      <a:pt x="2338393" y="3759112"/>
                      <a:pt x="2347819" y="3742617"/>
                    </a:cubicBezTo>
                    <a:cubicBezTo>
                      <a:pt x="2383460" y="3668389"/>
                      <a:pt x="2408645" y="3611981"/>
                      <a:pt x="2423372" y="3573394"/>
                    </a:cubicBezTo>
                    <a:lnTo>
                      <a:pt x="2540900" y="3549094"/>
                    </a:lnTo>
                    <a:cubicBezTo>
                      <a:pt x="2589502" y="3538490"/>
                      <a:pt x="2628825" y="3531126"/>
                      <a:pt x="2658870" y="3527002"/>
                    </a:cubicBezTo>
                    <a:cubicBezTo>
                      <a:pt x="2670357" y="3593277"/>
                      <a:pt x="2679930" y="3639669"/>
                      <a:pt x="2687589" y="3666179"/>
                    </a:cubicBezTo>
                    <a:cubicBezTo>
                      <a:pt x="2707619" y="3735695"/>
                      <a:pt x="2731183" y="3770452"/>
                      <a:pt x="2758282" y="3770452"/>
                    </a:cubicBezTo>
                    <a:cubicBezTo>
                      <a:pt x="2770064" y="3770452"/>
                      <a:pt x="2780521" y="3766181"/>
                      <a:pt x="2789652" y="3757639"/>
                    </a:cubicBezTo>
                    <a:cubicBezTo>
                      <a:pt x="2798784" y="3749097"/>
                      <a:pt x="2803349" y="3738493"/>
                      <a:pt x="2803349" y="3725827"/>
                    </a:cubicBezTo>
                    <a:cubicBezTo>
                      <a:pt x="2803349" y="3717874"/>
                      <a:pt x="2799078" y="3701968"/>
                      <a:pt x="2790536" y="3678109"/>
                    </a:cubicBezTo>
                    <a:lnTo>
                      <a:pt x="2765351" y="3608299"/>
                    </a:lnTo>
                    <a:lnTo>
                      <a:pt x="2699518" y="3301225"/>
                    </a:lnTo>
                    <a:lnTo>
                      <a:pt x="2671683" y="3152769"/>
                    </a:lnTo>
                    <a:cubicBezTo>
                      <a:pt x="2663140" y="3120368"/>
                      <a:pt x="2647235" y="3104167"/>
                      <a:pt x="2623965" y="3104167"/>
                    </a:cubicBezTo>
                    <a:close/>
                    <a:moveTo>
                      <a:pt x="3819305" y="3087819"/>
                    </a:moveTo>
                    <a:cubicBezTo>
                      <a:pt x="3718567" y="3087819"/>
                      <a:pt x="3634472" y="3134065"/>
                      <a:pt x="3567019" y="3226555"/>
                    </a:cubicBezTo>
                    <a:cubicBezTo>
                      <a:pt x="3506635" y="3309914"/>
                      <a:pt x="3476443" y="3402552"/>
                      <a:pt x="3476443" y="3504468"/>
                    </a:cubicBezTo>
                    <a:cubicBezTo>
                      <a:pt x="3476443" y="3588122"/>
                      <a:pt x="3507077" y="3656459"/>
                      <a:pt x="3568344" y="3709479"/>
                    </a:cubicBezTo>
                    <a:cubicBezTo>
                      <a:pt x="3626077" y="3759259"/>
                      <a:pt x="3696476" y="3784149"/>
                      <a:pt x="3779540" y="3784149"/>
                    </a:cubicBezTo>
                    <a:cubicBezTo>
                      <a:pt x="3880278" y="3784149"/>
                      <a:pt x="3962459" y="3737315"/>
                      <a:pt x="4026083" y="3643646"/>
                    </a:cubicBezTo>
                    <a:cubicBezTo>
                      <a:pt x="4081460" y="3561759"/>
                      <a:pt x="4109148" y="3469858"/>
                      <a:pt x="4109148" y="3367942"/>
                    </a:cubicBezTo>
                    <a:cubicBezTo>
                      <a:pt x="4109148" y="3270149"/>
                      <a:pt x="4084553" y="3198572"/>
                      <a:pt x="4035362" y="3153211"/>
                    </a:cubicBezTo>
                    <a:cubicBezTo>
                      <a:pt x="3988233" y="3109617"/>
                      <a:pt x="3916215" y="3087819"/>
                      <a:pt x="3819305" y="3087819"/>
                    </a:cubicBezTo>
                    <a:close/>
                    <a:moveTo>
                      <a:pt x="2989138" y="3087819"/>
                    </a:moveTo>
                    <a:cubicBezTo>
                      <a:pt x="2975883" y="3087819"/>
                      <a:pt x="2964984" y="3092090"/>
                      <a:pt x="2956442" y="3100633"/>
                    </a:cubicBezTo>
                    <a:cubicBezTo>
                      <a:pt x="2947900" y="3109175"/>
                      <a:pt x="2943629" y="3120221"/>
                      <a:pt x="2943629" y="3133770"/>
                    </a:cubicBezTo>
                    <a:cubicBezTo>
                      <a:pt x="2943629" y="3179721"/>
                      <a:pt x="2948489" y="3248499"/>
                      <a:pt x="2958209" y="3340106"/>
                    </a:cubicBezTo>
                    <a:cubicBezTo>
                      <a:pt x="2967930" y="3431713"/>
                      <a:pt x="2972790" y="3500492"/>
                      <a:pt x="2972790" y="3546443"/>
                    </a:cubicBezTo>
                    <a:cubicBezTo>
                      <a:pt x="2972790" y="3561170"/>
                      <a:pt x="2973821" y="3582967"/>
                      <a:pt x="2975883" y="3611834"/>
                    </a:cubicBezTo>
                    <a:cubicBezTo>
                      <a:pt x="2977945" y="3640700"/>
                      <a:pt x="2978976" y="3662350"/>
                      <a:pt x="2978976" y="3676783"/>
                    </a:cubicBezTo>
                    <a:cubicBezTo>
                      <a:pt x="2978976" y="3681202"/>
                      <a:pt x="2978166" y="3687829"/>
                      <a:pt x="2976545" y="3696666"/>
                    </a:cubicBezTo>
                    <a:cubicBezTo>
                      <a:pt x="2974926" y="3705503"/>
                      <a:pt x="2974115" y="3712130"/>
                      <a:pt x="2974115" y="3716549"/>
                    </a:cubicBezTo>
                    <a:cubicBezTo>
                      <a:pt x="2974115" y="3728920"/>
                      <a:pt x="2978681" y="3739377"/>
                      <a:pt x="2987812" y="3747919"/>
                    </a:cubicBezTo>
                    <a:cubicBezTo>
                      <a:pt x="2996944" y="3756461"/>
                      <a:pt x="3007695" y="3760732"/>
                      <a:pt x="3020066" y="3760732"/>
                    </a:cubicBezTo>
                    <a:cubicBezTo>
                      <a:pt x="3052173" y="3760732"/>
                      <a:pt x="3068226" y="3733780"/>
                      <a:pt x="3068226" y="3679876"/>
                    </a:cubicBezTo>
                    <a:cubicBezTo>
                      <a:pt x="3068226" y="3669272"/>
                      <a:pt x="3067195" y="3653514"/>
                      <a:pt x="3065133" y="3632600"/>
                    </a:cubicBezTo>
                    <a:cubicBezTo>
                      <a:pt x="3063071" y="3611687"/>
                      <a:pt x="3062040" y="3596075"/>
                      <a:pt x="3062040" y="3585766"/>
                    </a:cubicBezTo>
                    <a:cubicBezTo>
                      <a:pt x="3062040" y="3538931"/>
                      <a:pt x="3058800" y="3472804"/>
                      <a:pt x="3052320" y="3387383"/>
                    </a:cubicBezTo>
                    <a:cubicBezTo>
                      <a:pt x="3045251" y="3296070"/>
                      <a:pt x="3041274" y="3230090"/>
                      <a:pt x="3040390" y="3189441"/>
                    </a:cubicBezTo>
                    <a:lnTo>
                      <a:pt x="3077946" y="3189441"/>
                    </a:lnTo>
                    <a:cubicBezTo>
                      <a:pt x="3100333" y="3189147"/>
                      <a:pt x="3144663" y="3190619"/>
                      <a:pt x="3210938" y="3193859"/>
                    </a:cubicBezTo>
                    <a:cubicBezTo>
                      <a:pt x="3278686" y="3197394"/>
                      <a:pt x="3323017" y="3199161"/>
                      <a:pt x="3343930" y="3199161"/>
                    </a:cubicBezTo>
                    <a:cubicBezTo>
                      <a:pt x="3356596" y="3199161"/>
                      <a:pt x="3367200" y="3194817"/>
                      <a:pt x="3375742" y="3186127"/>
                    </a:cubicBezTo>
                    <a:cubicBezTo>
                      <a:pt x="3384284" y="3177438"/>
                      <a:pt x="3388555" y="3166760"/>
                      <a:pt x="3388555" y="3154095"/>
                    </a:cubicBezTo>
                    <a:cubicBezTo>
                      <a:pt x="3388555" y="3141429"/>
                      <a:pt x="3384284" y="3130677"/>
                      <a:pt x="3375742" y="3121841"/>
                    </a:cubicBezTo>
                    <a:cubicBezTo>
                      <a:pt x="3367200" y="3113004"/>
                      <a:pt x="3356596" y="3108586"/>
                      <a:pt x="3343930" y="3108586"/>
                    </a:cubicBezTo>
                    <a:cubicBezTo>
                      <a:pt x="3320366" y="3108586"/>
                      <a:pt x="3275004" y="3107113"/>
                      <a:pt x="3207845" y="3104167"/>
                    </a:cubicBezTo>
                    <a:cubicBezTo>
                      <a:pt x="3138330" y="3100927"/>
                      <a:pt x="3092969" y="3099160"/>
                      <a:pt x="3071761" y="3098865"/>
                    </a:cubicBezTo>
                    <a:lnTo>
                      <a:pt x="3048785" y="3098865"/>
                    </a:lnTo>
                    <a:cubicBezTo>
                      <a:pt x="3035825" y="3098571"/>
                      <a:pt x="3029345" y="3097687"/>
                      <a:pt x="3029345" y="3096214"/>
                    </a:cubicBezTo>
                    <a:cubicBezTo>
                      <a:pt x="3029345" y="3090618"/>
                      <a:pt x="3015942" y="3087819"/>
                      <a:pt x="2989138" y="3087819"/>
                    </a:cubicBezTo>
                    <a:close/>
                    <a:moveTo>
                      <a:pt x="1876206" y="3087819"/>
                    </a:moveTo>
                    <a:cubicBezTo>
                      <a:pt x="1775468" y="3087819"/>
                      <a:pt x="1691372" y="3134065"/>
                      <a:pt x="1623919" y="3226555"/>
                    </a:cubicBezTo>
                    <a:cubicBezTo>
                      <a:pt x="1563535" y="3309914"/>
                      <a:pt x="1533343" y="3402552"/>
                      <a:pt x="1533343" y="3504468"/>
                    </a:cubicBezTo>
                    <a:cubicBezTo>
                      <a:pt x="1533343" y="3588122"/>
                      <a:pt x="1563977" y="3656459"/>
                      <a:pt x="1625244" y="3709479"/>
                    </a:cubicBezTo>
                    <a:cubicBezTo>
                      <a:pt x="1682977" y="3759259"/>
                      <a:pt x="1753376" y="3784149"/>
                      <a:pt x="1836441" y="3784149"/>
                    </a:cubicBezTo>
                    <a:cubicBezTo>
                      <a:pt x="1937179" y="3784149"/>
                      <a:pt x="2019360" y="3737315"/>
                      <a:pt x="2082984" y="3643646"/>
                    </a:cubicBezTo>
                    <a:cubicBezTo>
                      <a:pt x="2138360" y="3561759"/>
                      <a:pt x="2166049" y="3469858"/>
                      <a:pt x="2166049" y="3367942"/>
                    </a:cubicBezTo>
                    <a:cubicBezTo>
                      <a:pt x="2166049" y="3270149"/>
                      <a:pt x="2141453" y="3198572"/>
                      <a:pt x="2092262" y="3153211"/>
                    </a:cubicBezTo>
                    <a:cubicBezTo>
                      <a:pt x="2045133" y="3109617"/>
                      <a:pt x="1973115" y="3087819"/>
                      <a:pt x="1876206" y="3087819"/>
                    </a:cubicBezTo>
                    <a:close/>
                    <a:moveTo>
                      <a:pt x="5411776" y="3085168"/>
                    </a:moveTo>
                    <a:cubicBezTo>
                      <a:pt x="5394986" y="3085168"/>
                      <a:pt x="5380258" y="3088556"/>
                      <a:pt x="5367592" y="3095331"/>
                    </a:cubicBezTo>
                    <a:cubicBezTo>
                      <a:pt x="5351981" y="3103873"/>
                      <a:pt x="5344175" y="3115802"/>
                      <a:pt x="5344175" y="3131119"/>
                    </a:cubicBezTo>
                    <a:cubicBezTo>
                      <a:pt x="5344175" y="3162342"/>
                      <a:pt x="5423558" y="3252476"/>
                      <a:pt x="5582323" y="3401521"/>
                    </a:cubicBezTo>
                    <a:cubicBezTo>
                      <a:pt x="5539024" y="3449828"/>
                      <a:pt x="5485267" y="3517429"/>
                      <a:pt x="5421054" y="3604323"/>
                    </a:cubicBezTo>
                    <a:cubicBezTo>
                      <a:pt x="5421054" y="3604323"/>
                      <a:pt x="5403086" y="3623469"/>
                      <a:pt x="5367151" y="3661761"/>
                    </a:cubicBezTo>
                    <a:cubicBezTo>
                      <a:pt x="5340641" y="3690038"/>
                      <a:pt x="5327386" y="3709626"/>
                      <a:pt x="5327386" y="3720525"/>
                    </a:cubicBezTo>
                    <a:cubicBezTo>
                      <a:pt x="5327386" y="3731129"/>
                      <a:pt x="5332835" y="3740628"/>
                      <a:pt x="5343733" y="3749023"/>
                    </a:cubicBezTo>
                    <a:cubicBezTo>
                      <a:pt x="5354632" y="3757418"/>
                      <a:pt x="5365383" y="3761616"/>
                      <a:pt x="5375987" y="3761616"/>
                    </a:cubicBezTo>
                    <a:cubicBezTo>
                      <a:pt x="5381289" y="3761616"/>
                      <a:pt x="5389168" y="3760732"/>
                      <a:pt x="5399625" y="3758965"/>
                    </a:cubicBezTo>
                    <a:cubicBezTo>
                      <a:pt x="5410082" y="3757197"/>
                      <a:pt x="5417961" y="3756314"/>
                      <a:pt x="5423263" y="3756314"/>
                    </a:cubicBezTo>
                    <a:cubicBezTo>
                      <a:pt x="5470392" y="3756314"/>
                      <a:pt x="5541233" y="3758449"/>
                      <a:pt x="5635785" y="3762720"/>
                    </a:cubicBezTo>
                    <a:cubicBezTo>
                      <a:pt x="5730338" y="3766991"/>
                      <a:pt x="5801178" y="3769127"/>
                      <a:pt x="5848307" y="3769127"/>
                    </a:cubicBezTo>
                    <a:cubicBezTo>
                      <a:pt x="5859500" y="3769127"/>
                      <a:pt x="5868779" y="3765371"/>
                      <a:pt x="5876143" y="3757860"/>
                    </a:cubicBezTo>
                    <a:cubicBezTo>
                      <a:pt x="5883506" y="3750349"/>
                      <a:pt x="5887189" y="3740997"/>
                      <a:pt x="5887189" y="3729804"/>
                    </a:cubicBezTo>
                    <a:cubicBezTo>
                      <a:pt x="5887189" y="3714781"/>
                      <a:pt x="5882328" y="3702704"/>
                      <a:pt x="5872608" y="3693573"/>
                    </a:cubicBezTo>
                    <a:cubicBezTo>
                      <a:pt x="5862888" y="3684442"/>
                      <a:pt x="5850516" y="3679876"/>
                      <a:pt x="5835494" y="3679876"/>
                    </a:cubicBezTo>
                    <a:cubicBezTo>
                      <a:pt x="5677023" y="3679876"/>
                      <a:pt x="5555813" y="3677078"/>
                      <a:pt x="5471865" y="3671481"/>
                    </a:cubicBezTo>
                    <a:cubicBezTo>
                      <a:pt x="5491011" y="3652630"/>
                      <a:pt x="5520909" y="3614779"/>
                      <a:pt x="5561557" y="3557930"/>
                    </a:cubicBezTo>
                    <a:cubicBezTo>
                      <a:pt x="5595726" y="3510212"/>
                      <a:pt x="5629452" y="3473687"/>
                      <a:pt x="5662737" y="3448356"/>
                    </a:cubicBezTo>
                    <a:cubicBezTo>
                      <a:pt x="5678054" y="3436868"/>
                      <a:pt x="5685713" y="3424791"/>
                      <a:pt x="5685713" y="3412125"/>
                    </a:cubicBezTo>
                    <a:cubicBezTo>
                      <a:pt x="5685713" y="3402994"/>
                      <a:pt x="5681147" y="3393421"/>
                      <a:pt x="5672016" y="3383406"/>
                    </a:cubicBezTo>
                    <a:cubicBezTo>
                      <a:pt x="5642855" y="3353067"/>
                      <a:pt x="5620763" y="3330386"/>
                      <a:pt x="5605741" y="3315364"/>
                    </a:cubicBezTo>
                    <a:cubicBezTo>
                      <a:pt x="5525032" y="3228470"/>
                      <a:pt x="5479670" y="3180163"/>
                      <a:pt x="5469656" y="3170442"/>
                    </a:cubicBezTo>
                    <a:cubicBezTo>
                      <a:pt x="5469656" y="3170442"/>
                      <a:pt x="5514723" y="3170442"/>
                      <a:pt x="5604857" y="3170442"/>
                    </a:cubicBezTo>
                    <a:cubicBezTo>
                      <a:pt x="5624003" y="3170442"/>
                      <a:pt x="5652575" y="3171547"/>
                      <a:pt x="5690573" y="3173756"/>
                    </a:cubicBezTo>
                    <a:cubicBezTo>
                      <a:pt x="5728570" y="3175965"/>
                      <a:pt x="5756995" y="3177070"/>
                      <a:pt x="5775847" y="3177070"/>
                    </a:cubicBezTo>
                    <a:cubicBezTo>
                      <a:pt x="5821797" y="3177070"/>
                      <a:pt x="5844773" y="3161606"/>
                      <a:pt x="5844773" y="3130677"/>
                    </a:cubicBezTo>
                    <a:cubicBezTo>
                      <a:pt x="5844773" y="3119779"/>
                      <a:pt x="5841164" y="3110427"/>
                      <a:pt x="5833948" y="3102621"/>
                    </a:cubicBezTo>
                    <a:cubicBezTo>
                      <a:pt x="5826731" y="3094815"/>
                      <a:pt x="5817821" y="3090912"/>
                      <a:pt x="5807217" y="3090912"/>
                    </a:cubicBezTo>
                    <a:cubicBezTo>
                      <a:pt x="5763328" y="3090912"/>
                      <a:pt x="5697421" y="3089955"/>
                      <a:pt x="5609496" y="3088040"/>
                    </a:cubicBezTo>
                    <a:cubicBezTo>
                      <a:pt x="5521571" y="3086126"/>
                      <a:pt x="5455664" y="3085168"/>
                      <a:pt x="5411776" y="3085168"/>
                    </a:cubicBezTo>
                    <a:close/>
                    <a:moveTo>
                      <a:pt x="968912" y="3085168"/>
                    </a:moveTo>
                    <a:cubicBezTo>
                      <a:pt x="957130" y="3085168"/>
                      <a:pt x="946600" y="3089513"/>
                      <a:pt x="937321" y="3098202"/>
                    </a:cubicBezTo>
                    <a:cubicBezTo>
                      <a:pt x="928043" y="3106892"/>
                      <a:pt x="923403" y="3117570"/>
                      <a:pt x="923403" y="3130236"/>
                    </a:cubicBezTo>
                    <a:cubicBezTo>
                      <a:pt x="923403" y="3138189"/>
                      <a:pt x="925613" y="3146142"/>
                      <a:pt x="930031" y="3154095"/>
                    </a:cubicBezTo>
                    <a:cubicBezTo>
                      <a:pt x="937395" y="3167349"/>
                      <a:pt x="962285" y="3205789"/>
                      <a:pt x="1004701" y="3269413"/>
                    </a:cubicBezTo>
                    <a:cubicBezTo>
                      <a:pt x="1035629" y="3315953"/>
                      <a:pt x="1057721" y="3355865"/>
                      <a:pt x="1070976" y="3389150"/>
                    </a:cubicBezTo>
                    <a:cubicBezTo>
                      <a:pt x="1086587" y="3428326"/>
                      <a:pt x="1120756" y="3481935"/>
                      <a:pt x="1173481" y="3549977"/>
                    </a:cubicBezTo>
                    <a:lnTo>
                      <a:pt x="1119136" y="3649390"/>
                    </a:lnTo>
                    <a:cubicBezTo>
                      <a:pt x="1091447" y="3702115"/>
                      <a:pt x="1077603" y="3733485"/>
                      <a:pt x="1077603" y="3743500"/>
                    </a:cubicBezTo>
                    <a:cubicBezTo>
                      <a:pt x="1077603" y="3756166"/>
                      <a:pt x="1082316" y="3766770"/>
                      <a:pt x="1091742" y="3775312"/>
                    </a:cubicBezTo>
                    <a:cubicBezTo>
                      <a:pt x="1101168" y="3783854"/>
                      <a:pt x="1111624" y="3788126"/>
                      <a:pt x="1123112" y="3788126"/>
                    </a:cubicBezTo>
                    <a:cubicBezTo>
                      <a:pt x="1139607" y="3788126"/>
                      <a:pt x="1152715" y="3779583"/>
                      <a:pt x="1162435" y="3762499"/>
                    </a:cubicBezTo>
                    <a:lnTo>
                      <a:pt x="1185853" y="3714781"/>
                    </a:lnTo>
                    <a:lnTo>
                      <a:pt x="1241082" y="3616252"/>
                    </a:lnTo>
                    <a:cubicBezTo>
                      <a:pt x="1267003" y="3563527"/>
                      <a:pt x="1294691" y="3501965"/>
                      <a:pt x="1324147" y="3431566"/>
                    </a:cubicBezTo>
                    <a:lnTo>
                      <a:pt x="1400142" y="3243787"/>
                    </a:lnTo>
                    <a:cubicBezTo>
                      <a:pt x="1411924" y="3220517"/>
                      <a:pt x="1421350" y="3203285"/>
                      <a:pt x="1428419" y="3192092"/>
                    </a:cubicBezTo>
                    <a:cubicBezTo>
                      <a:pt x="1444031" y="3164109"/>
                      <a:pt x="1451836" y="3143343"/>
                      <a:pt x="1451836" y="3129794"/>
                    </a:cubicBezTo>
                    <a:cubicBezTo>
                      <a:pt x="1451836" y="3116833"/>
                      <a:pt x="1447197" y="3106229"/>
                      <a:pt x="1437919" y="3097982"/>
                    </a:cubicBezTo>
                    <a:cubicBezTo>
                      <a:pt x="1428640" y="3089734"/>
                      <a:pt x="1418110" y="3085610"/>
                      <a:pt x="1406328" y="3085610"/>
                    </a:cubicBezTo>
                    <a:cubicBezTo>
                      <a:pt x="1387181" y="3085610"/>
                      <a:pt x="1373485" y="3095625"/>
                      <a:pt x="1365237" y="3115655"/>
                    </a:cubicBezTo>
                    <a:cubicBezTo>
                      <a:pt x="1344913" y="3158071"/>
                      <a:pt x="1329007" y="3189441"/>
                      <a:pt x="1317519" y="3209765"/>
                    </a:cubicBezTo>
                    <a:lnTo>
                      <a:pt x="1216339" y="3456309"/>
                    </a:lnTo>
                    <a:cubicBezTo>
                      <a:pt x="1184527" y="3413893"/>
                      <a:pt x="1163761" y="3380460"/>
                      <a:pt x="1154041" y="3356012"/>
                    </a:cubicBezTo>
                    <a:cubicBezTo>
                      <a:pt x="1141669" y="3325084"/>
                      <a:pt x="1124438" y="3291505"/>
                      <a:pt x="1102346" y="3255274"/>
                    </a:cubicBezTo>
                    <a:cubicBezTo>
                      <a:pt x="1092331" y="3238485"/>
                      <a:pt x="1071712" y="3206967"/>
                      <a:pt x="1040489" y="3160722"/>
                    </a:cubicBezTo>
                    <a:lnTo>
                      <a:pt x="1005143" y="3105935"/>
                    </a:lnTo>
                    <a:cubicBezTo>
                      <a:pt x="995422" y="3092090"/>
                      <a:pt x="983345" y="3085168"/>
                      <a:pt x="968912" y="3085168"/>
                    </a:cubicBezTo>
                    <a:close/>
                    <a:moveTo>
                      <a:pt x="208526" y="3064402"/>
                    </a:moveTo>
                    <a:cubicBezTo>
                      <a:pt x="161397" y="3064402"/>
                      <a:pt x="137833" y="3079719"/>
                      <a:pt x="137833" y="3110353"/>
                    </a:cubicBezTo>
                    <a:cubicBezTo>
                      <a:pt x="137833" y="3123019"/>
                      <a:pt x="141956" y="3133476"/>
                      <a:pt x="150204" y="3141723"/>
                    </a:cubicBezTo>
                    <a:cubicBezTo>
                      <a:pt x="158452" y="3149971"/>
                      <a:pt x="168908" y="3154095"/>
                      <a:pt x="181574" y="3154095"/>
                    </a:cubicBezTo>
                    <a:cubicBezTo>
                      <a:pt x="189233" y="3154095"/>
                      <a:pt x="199837" y="3153947"/>
                      <a:pt x="213386" y="3153653"/>
                    </a:cubicBezTo>
                    <a:cubicBezTo>
                      <a:pt x="228409" y="3153358"/>
                      <a:pt x="239013" y="3153211"/>
                      <a:pt x="245198" y="3153211"/>
                    </a:cubicBezTo>
                    <a:cubicBezTo>
                      <a:pt x="253740" y="3326704"/>
                      <a:pt x="258011" y="3430829"/>
                      <a:pt x="258011" y="3465587"/>
                    </a:cubicBezTo>
                    <a:cubicBezTo>
                      <a:pt x="258011" y="3480020"/>
                      <a:pt x="257128" y="3499755"/>
                      <a:pt x="255360" y="3524793"/>
                    </a:cubicBezTo>
                    <a:cubicBezTo>
                      <a:pt x="253299" y="3553070"/>
                      <a:pt x="252120" y="3572805"/>
                      <a:pt x="251826" y="3583998"/>
                    </a:cubicBezTo>
                    <a:cubicBezTo>
                      <a:pt x="251237" y="3608152"/>
                      <a:pt x="250942" y="3644382"/>
                      <a:pt x="250942" y="3692689"/>
                    </a:cubicBezTo>
                    <a:cubicBezTo>
                      <a:pt x="250942" y="3720672"/>
                      <a:pt x="252120" y="3738493"/>
                      <a:pt x="254477" y="3746151"/>
                    </a:cubicBezTo>
                    <a:cubicBezTo>
                      <a:pt x="260073" y="3764414"/>
                      <a:pt x="273623" y="3773545"/>
                      <a:pt x="295125" y="3773545"/>
                    </a:cubicBezTo>
                    <a:cubicBezTo>
                      <a:pt x="325465" y="3773545"/>
                      <a:pt x="340634" y="3750128"/>
                      <a:pt x="340634" y="3703293"/>
                    </a:cubicBezTo>
                    <a:cubicBezTo>
                      <a:pt x="340634" y="3694751"/>
                      <a:pt x="340340" y="3675163"/>
                      <a:pt x="339751" y="3644530"/>
                    </a:cubicBezTo>
                    <a:cubicBezTo>
                      <a:pt x="339162" y="3620376"/>
                      <a:pt x="339162" y="3600935"/>
                      <a:pt x="339751" y="3586208"/>
                    </a:cubicBezTo>
                    <a:cubicBezTo>
                      <a:pt x="340045" y="3574425"/>
                      <a:pt x="341223" y="3554248"/>
                      <a:pt x="343285" y="3525676"/>
                    </a:cubicBezTo>
                    <a:cubicBezTo>
                      <a:pt x="345053" y="3500050"/>
                      <a:pt x="345936" y="3480020"/>
                      <a:pt x="345936" y="3465587"/>
                    </a:cubicBezTo>
                    <a:cubicBezTo>
                      <a:pt x="345936" y="3408149"/>
                      <a:pt x="341665" y="3304760"/>
                      <a:pt x="333123" y="3155420"/>
                    </a:cubicBezTo>
                    <a:cubicBezTo>
                      <a:pt x="406762" y="3158071"/>
                      <a:pt x="483936" y="3159396"/>
                      <a:pt x="564644" y="3159396"/>
                    </a:cubicBezTo>
                    <a:cubicBezTo>
                      <a:pt x="610595" y="3159396"/>
                      <a:pt x="640787" y="3158955"/>
                      <a:pt x="655220" y="3158071"/>
                    </a:cubicBezTo>
                    <a:cubicBezTo>
                      <a:pt x="682319" y="3155714"/>
                      <a:pt x="692776" y="3154389"/>
                      <a:pt x="686590" y="3154095"/>
                    </a:cubicBezTo>
                    <a:lnTo>
                      <a:pt x="687032" y="3154095"/>
                    </a:lnTo>
                    <a:cubicBezTo>
                      <a:pt x="682908" y="3203874"/>
                      <a:pt x="680846" y="3272506"/>
                      <a:pt x="680846" y="3359989"/>
                    </a:cubicBezTo>
                    <a:cubicBezTo>
                      <a:pt x="680846" y="3391506"/>
                      <a:pt x="682319" y="3438562"/>
                      <a:pt x="685264" y="3501155"/>
                    </a:cubicBezTo>
                    <a:cubicBezTo>
                      <a:pt x="688210" y="3563748"/>
                      <a:pt x="689683" y="3610803"/>
                      <a:pt x="689683" y="3642320"/>
                    </a:cubicBezTo>
                    <a:cubicBezTo>
                      <a:pt x="689683" y="3667358"/>
                      <a:pt x="692481" y="3697255"/>
                      <a:pt x="698078" y="3732013"/>
                    </a:cubicBezTo>
                    <a:cubicBezTo>
                      <a:pt x="702496" y="3759406"/>
                      <a:pt x="716929" y="3773103"/>
                      <a:pt x="741377" y="3773103"/>
                    </a:cubicBezTo>
                    <a:cubicBezTo>
                      <a:pt x="754043" y="3773103"/>
                      <a:pt x="764573" y="3768979"/>
                      <a:pt x="772968" y="3760732"/>
                    </a:cubicBezTo>
                    <a:cubicBezTo>
                      <a:pt x="781363" y="3752484"/>
                      <a:pt x="785561" y="3742175"/>
                      <a:pt x="785561" y="3729804"/>
                    </a:cubicBezTo>
                    <a:cubicBezTo>
                      <a:pt x="785561" y="3720083"/>
                      <a:pt x="784235" y="3705503"/>
                      <a:pt x="781584" y="3686062"/>
                    </a:cubicBezTo>
                    <a:cubicBezTo>
                      <a:pt x="778933" y="3666621"/>
                      <a:pt x="777608" y="3652041"/>
                      <a:pt x="777608" y="3642320"/>
                    </a:cubicBezTo>
                    <a:cubicBezTo>
                      <a:pt x="777608" y="3610803"/>
                      <a:pt x="776061" y="3563748"/>
                      <a:pt x="772968" y="3501155"/>
                    </a:cubicBezTo>
                    <a:cubicBezTo>
                      <a:pt x="769875" y="3438562"/>
                      <a:pt x="768329" y="3391506"/>
                      <a:pt x="768329" y="3359989"/>
                    </a:cubicBezTo>
                    <a:cubicBezTo>
                      <a:pt x="768329" y="3272801"/>
                      <a:pt x="770391" y="3205642"/>
                      <a:pt x="774515" y="3158513"/>
                    </a:cubicBezTo>
                    <a:cubicBezTo>
                      <a:pt x="796017" y="3159396"/>
                      <a:pt x="807505" y="3159838"/>
                      <a:pt x="808978" y="3159838"/>
                    </a:cubicBezTo>
                    <a:cubicBezTo>
                      <a:pt x="847859" y="3159838"/>
                      <a:pt x="867300" y="3145110"/>
                      <a:pt x="867300" y="3115655"/>
                    </a:cubicBezTo>
                    <a:cubicBezTo>
                      <a:pt x="867300" y="3102989"/>
                      <a:pt x="863102" y="3092532"/>
                      <a:pt x="854708" y="3084285"/>
                    </a:cubicBezTo>
                    <a:cubicBezTo>
                      <a:pt x="846313" y="3076037"/>
                      <a:pt x="835782" y="3071914"/>
                      <a:pt x="823116" y="3071914"/>
                    </a:cubicBezTo>
                    <a:lnTo>
                      <a:pt x="455069" y="3071030"/>
                    </a:lnTo>
                    <a:cubicBezTo>
                      <a:pt x="427675" y="3071030"/>
                      <a:pt x="386585" y="3069925"/>
                      <a:pt x="331798" y="3067716"/>
                    </a:cubicBezTo>
                    <a:cubicBezTo>
                      <a:pt x="277010" y="3065507"/>
                      <a:pt x="235920" y="3064402"/>
                      <a:pt x="208526" y="3064402"/>
                    </a:cubicBezTo>
                    <a:close/>
                    <a:moveTo>
                      <a:pt x="4363821" y="3063077"/>
                    </a:moveTo>
                    <a:cubicBezTo>
                      <a:pt x="4338490" y="3063077"/>
                      <a:pt x="4317134" y="3063813"/>
                      <a:pt x="4299756" y="3065286"/>
                    </a:cubicBezTo>
                    <a:cubicBezTo>
                      <a:pt x="4282377" y="3066759"/>
                      <a:pt x="4268974" y="3068968"/>
                      <a:pt x="4259549" y="3071914"/>
                    </a:cubicBezTo>
                    <a:cubicBezTo>
                      <a:pt x="4237457" y="3068379"/>
                      <a:pt x="4223024" y="3079572"/>
                      <a:pt x="4216249" y="3105493"/>
                    </a:cubicBezTo>
                    <a:cubicBezTo>
                      <a:pt x="4212714" y="3118748"/>
                      <a:pt x="4210947" y="3139956"/>
                      <a:pt x="4210947" y="3169117"/>
                    </a:cubicBezTo>
                    <a:lnTo>
                      <a:pt x="4210947" y="3230090"/>
                    </a:lnTo>
                    <a:cubicBezTo>
                      <a:pt x="4210358" y="3266909"/>
                      <a:pt x="4207118" y="3327882"/>
                      <a:pt x="4201227" y="3413009"/>
                    </a:cubicBezTo>
                    <a:cubicBezTo>
                      <a:pt x="4195925" y="3491655"/>
                      <a:pt x="4193274" y="3552628"/>
                      <a:pt x="4193274" y="3595928"/>
                    </a:cubicBezTo>
                    <a:lnTo>
                      <a:pt x="4193274" y="3725827"/>
                    </a:lnTo>
                    <a:cubicBezTo>
                      <a:pt x="4193274" y="3737609"/>
                      <a:pt x="4197103" y="3747550"/>
                      <a:pt x="4204761" y="3755651"/>
                    </a:cubicBezTo>
                    <a:cubicBezTo>
                      <a:pt x="4212420" y="3763751"/>
                      <a:pt x="4222140" y="3767801"/>
                      <a:pt x="4233922" y="3767801"/>
                    </a:cubicBezTo>
                    <a:cubicBezTo>
                      <a:pt x="4245410" y="3767801"/>
                      <a:pt x="4254983" y="3763751"/>
                      <a:pt x="4262642" y="3755651"/>
                    </a:cubicBezTo>
                    <a:cubicBezTo>
                      <a:pt x="4270300" y="3747550"/>
                      <a:pt x="4274129" y="3737609"/>
                      <a:pt x="4274129" y="3725827"/>
                    </a:cubicBezTo>
                    <a:cubicBezTo>
                      <a:pt x="4274129" y="3614485"/>
                      <a:pt x="4275308" y="3536575"/>
                      <a:pt x="4277664" y="3492097"/>
                    </a:cubicBezTo>
                    <a:cubicBezTo>
                      <a:pt x="4305352" y="3495926"/>
                      <a:pt x="4323320" y="3497841"/>
                      <a:pt x="4331568" y="3497841"/>
                    </a:cubicBezTo>
                    <a:cubicBezTo>
                      <a:pt x="4401082" y="3497841"/>
                      <a:pt x="4460583" y="3478400"/>
                      <a:pt x="4510068" y="3439519"/>
                    </a:cubicBezTo>
                    <a:cubicBezTo>
                      <a:pt x="4565445" y="3396219"/>
                      <a:pt x="4593133" y="3338045"/>
                      <a:pt x="4593133" y="3264995"/>
                    </a:cubicBezTo>
                    <a:cubicBezTo>
                      <a:pt x="4593133" y="3207851"/>
                      <a:pt x="4567212" y="3158955"/>
                      <a:pt x="4515370" y="3118306"/>
                    </a:cubicBezTo>
                    <a:cubicBezTo>
                      <a:pt x="4468241" y="3081486"/>
                      <a:pt x="4417725" y="3063077"/>
                      <a:pt x="4363821" y="3063077"/>
                    </a:cubicBezTo>
                    <a:close/>
                    <a:moveTo>
                      <a:pt x="0" y="0"/>
                    </a:moveTo>
                    <a:lnTo>
                      <a:pt x="6096000" y="0"/>
                    </a:lnTo>
                    <a:lnTo>
                      <a:pt x="6096000" y="6858000"/>
                    </a:lnTo>
                    <a:lnTo>
                      <a:pt x="0" y="6858000"/>
                    </a:lnTo>
                    <a:close/>
                  </a:path>
                </a:pathLst>
              </a:custGeom>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l-GR" sz="7100" dirty="0">
                  <a:latin typeface="Comic Sans MS" panose="030F0702030302020204" pitchFamily="66" charset="0"/>
                </a:endParaRPr>
              </a:p>
            </p:txBody>
          </p:sp>
          <p:grpSp>
            <p:nvGrpSpPr>
              <p:cNvPr id="15" name="Ομάδα 14">
                <a:extLst>
                  <a:ext uri="{FF2B5EF4-FFF2-40B4-BE49-F238E27FC236}">
                    <a16:creationId xmlns:a16="http://schemas.microsoft.com/office/drawing/2014/main" id="{CFBD7384-516D-4E43-8DB7-ACDE244A1137}"/>
                  </a:ext>
                </a:extLst>
              </p:cNvPr>
              <p:cNvGrpSpPr/>
              <p:nvPr/>
            </p:nvGrpSpPr>
            <p:grpSpPr>
              <a:xfrm>
                <a:off x="-4433890" y="821904"/>
                <a:ext cx="5282924" cy="5718605"/>
                <a:chOff x="-4281489" y="1391045"/>
                <a:chExt cx="5282924" cy="5305923"/>
              </a:xfrm>
              <a:grpFill/>
            </p:grpSpPr>
            <p:sp useBgFill="1">
              <p:nvSpPr>
                <p:cNvPr id="11" name="TextBox 10">
                  <a:extLst>
                    <a:ext uri="{FF2B5EF4-FFF2-40B4-BE49-F238E27FC236}">
                      <a16:creationId xmlns:a16="http://schemas.microsoft.com/office/drawing/2014/main" id="{5DCF4600-2213-4EB3-A7DE-0973453166F9}"/>
                    </a:ext>
                  </a:extLst>
                </p:cNvPr>
                <p:cNvSpPr txBox="1"/>
                <p:nvPr/>
              </p:nvSpPr>
              <p:spPr>
                <a:xfrm>
                  <a:off x="-4281489" y="1391045"/>
                  <a:ext cx="5282924" cy="553998"/>
                </a:xfrm>
                <a:prstGeom prst="rect">
                  <a:avLst/>
                </a:prstGeom>
                <a:ln>
                  <a:noFill/>
                </a:ln>
              </p:spPr>
              <p:txBody>
                <a:bodyPr wrap="square" rtlCol="0" anchor="ctr">
                  <a:spAutoFit/>
                </a:bodyPr>
                <a:lstStyle/>
                <a:p>
                  <a:pPr algn="ctr"/>
                  <a:r>
                    <a:rPr lang="en-US" sz="3000" b="1" dirty="0">
                      <a:latin typeface="Comic Sans MS" panose="030F0702030302020204" pitchFamily="66" charset="0"/>
                    </a:rPr>
                    <a:t>The father of Mathematics</a:t>
                  </a:r>
                  <a:endParaRPr lang="el-GR" sz="3000" b="1" dirty="0">
                    <a:latin typeface="Comic Sans MS" panose="030F0702030302020204" pitchFamily="66" charset="0"/>
                  </a:endParaRPr>
                </a:p>
              </p:txBody>
            </p:sp>
            <p:sp>
              <p:nvSpPr>
                <p:cNvPr id="14" name="TextBox 13">
                  <a:extLst>
                    <a:ext uri="{FF2B5EF4-FFF2-40B4-BE49-F238E27FC236}">
                      <a16:creationId xmlns:a16="http://schemas.microsoft.com/office/drawing/2014/main" id="{B1AC8B80-2FC4-4A46-8E2A-1A3FC6BCF725}"/>
                    </a:ext>
                  </a:extLst>
                </p:cNvPr>
                <p:cNvSpPr txBox="1"/>
                <p:nvPr/>
              </p:nvSpPr>
              <p:spPr>
                <a:xfrm>
                  <a:off x="-3948754" y="5619750"/>
                  <a:ext cx="4837874" cy="1077218"/>
                </a:xfrm>
                <a:prstGeom prst="rect">
                  <a:avLst/>
                </a:prstGeom>
                <a:ln>
                  <a:noFill/>
                </a:ln>
              </p:spPr>
              <p:txBody>
                <a:bodyPr wrap="square" rtlCol="0">
                  <a:spAutoFit/>
                </a:bodyPr>
                <a:lstStyle/>
                <a:p>
                  <a:pPr algn="ctr"/>
                  <a:r>
                    <a:rPr lang="el-GR" sz="3000" b="1" dirty="0"/>
                    <a:t>«</a:t>
                  </a:r>
                  <a:r>
                    <a:rPr lang="el-GR" sz="3200" b="1" dirty="0"/>
                    <a:t>Πάντα </a:t>
                  </a:r>
                  <a:r>
                    <a:rPr lang="el-GR" sz="3200" b="1" dirty="0" err="1"/>
                    <a:t>τὰ</a:t>
                  </a:r>
                  <a:r>
                    <a:rPr lang="el-GR" sz="3200" b="1" dirty="0"/>
                    <a:t> </a:t>
                  </a:r>
                  <a:r>
                    <a:rPr lang="el-GR" sz="3200" b="1" dirty="0" err="1"/>
                    <a:t>ὄντα</a:t>
                  </a:r>
                  <a:r>
                    <a:rPr lang="el-GR" sz="3200" b="1" dirty="0"/>
                    <a:t> </a:t>
                  </a:r>
                  <a:r>
                    <a:rPr lang="el-GR" sz="3200" b="1" dirty="0" err="1"/>
                    <a:t>ἀριθμοὶ</a:t>
                  </a:r>
                  <a:r>
                    <a:rPr lang="el-GR" sz="3200" b="1" dirty="0"/>
                    <a:t> </a:t>
                  </a:r>
                  <a:r>
                    <a:rPr lang="el-GR" sz="3200" b="1" dirty="0" err="1"/>
                    <a:t>καὶ</a:t>
                  </a:r>
                  <a:r>
                    <a:rPr lang="el-GR" sz="3200" b="1" dirty="0"/>
                    <a:t> </a:t>
                  </a:r>
                  <a:r>
                    <a:rPr lang="el-GR" sz="3200" b="1" dirty="0" err="1"/>
                    <a:t>ἐξ</a:t>
                  </a:r>
                  <a:r>
                    <a:rPr lang="el-GR" sz="3200" b="1" dirty="0"/>
                    <a:t> </a:t>
                  </a:r>
                  <a:r>
                    <a:rPr lang="el-GR" sz="3200" b="1" dirty="0" err="1"/>
                    <a:t>ἀριθμῶν</a:t>
                  </a:r>
                  <a:r>
                    <a:rPr lang="el-GR" sz="3200" b="1" dirty="0"/>
                    <a:t>»</a:t>
                  </a:r>
                  <a:endParaRPr lang="el-GR" sz="3000" b="1" dirty="0"/>
                </a:p>
              </p:txBody>
            </p:sp>
          </p:grpSp>
        </p:grpSp>
        <p:sp useBgFill="1">
          <p:nvSpPr>
            <p:cNvPr id="19" name="TextBox 18">
              <a:extLst>
                <a:ext uri="{FF2B5EF4-FFF2-40B4-BE49-F238E27FC236}">
                  <a16:creationId xmlns:a16="http://schemas.microsoft.com/office/drawing/2014/main" id="{768CCD24-8704-48CA-84A9-687F2BE69E4F}"/>
                </a:ext>
              </a:extLst>
            </p:cNvPr>
            <p:cNvSpPr txBox="1"/>
            <p:nvPr/>
          </p:nvSpPr>
          <p:spPr>
            <a:xfrm>
              <a:off x="-6705967" y="4038600"/>
              <a:ext cx="5170608" cy="514158"/>
            </a:xfrm>
            <a:prstGeom prst="rect">
              <a:avLst/>
            </a:prstGeom>
            <a:ln>
              <a:noFill/>
            </a:ln>
          </p:spPr>
          <p:txBody>
            <a:bodyPr wrap="square" rtlCol="0">
              <a:spAutoFit/>
            </a:bodyPr>
            <a:lstStyle/>
            <a:p>
              <a:pPr algn="ctr"/>
              <a:r>
                <a:rPr lang="en-US" sz="2500" b="1" dirty="0">
                  <a:solidFill>
                    <a:schemeClr val="bg1"/>
                  </a:solidFill>
                  <a:latin typeface="Comic Sans MS" panose="030F0702030302020204" pitchFamily="66" charset="0"/>
                </a:rPr>
                <a:t>His life, work and influence</a:t>
              </a:r>
              <a:endParaRPr lang="el-GR" sz="2500" b="1" dirty="0">
                <a:solidFill>
                  <a:schemeClr val="bg1"/>
                </a:solidFill>
                <a:latin typeface="Comic Sans MS" panose="030F0702030302020204" pitchFamily="66" charset="0"/>
              </a:endParaRPr>
            </a:p>
          </p:txBody>
        </p:sp>
      </p:grpSp>
      <p:grpSp>
        <p:nvGrpSpPr>
          <p:cNvPr id="6" name="Ομάδα 5">
            <a:extLst>
              <a:ext uri="{FF2B5EF4-FFF2-40B4-BE49-F238E27FC236}">
                <a16:creationId xmlns:a16="http://schemas.microsoft.com/office/drawing/2014/main" id="{4C20E666-5470-43FC-BE87-0C77A8AC5646}"/>
              </a:ext>
            </a:extLst>
          </p:cNvPr>
          <p:cNvGrpSpPr/>
          <p:nvPr/>
        </p:nvGrpSpPr>
        <p:grpSpPr>
          <a:xfrm>
            <a:off x="12191999" y="0"/>
            <a:ext cx="6233609" cy="6858000"/>
            <a:chOff x="12191999" y="0"/>
            <a:chExt cx="6233609" cy="6858000"/>
          </a:xfrm>
        </p:grpSpPr>
        <p:sp>
          <p:nvSpPr>
            <p:cNvPr id="16" name="Ορθογώνιο 15">
              <a:extLst>
                <a:ext uri="{FF2B5EF4-FFF2-40B4-BE49-F238E27FC236}">
                  <a16:creationId xmlns:a16="http://schemas.microsoft.com/office/drawing/2014/main" id="{82505C75-722D-4721-90E1-3A53B1930188}"/>
                </a:ext>
              </a:extLst>
            </p:cNvPr>
            <p:cNvSpPr/>
            <p:nvPr/>
          </p:nvSpPr>
          <p:spPr>
            <a:xfrm>
              <a:off x="12191999" y="0"/>
              <a:ext cx="6233609" cy="685800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Comic Sans MS" panose="030F0702030302020204" pitchFamily="66" charset="0"/>
              </a:endParaRPr>
            </a:p>
          </p:txBody>
        </p:sp>
        <p:sp>
          <p:nvSpPr>
            <p:cNvPr id="2" name="TextBox 1">
              <a:extLst>
                <a:ext uri="{FF2B5EF4-FFF2-40B4-BE49-F238E27FC236}">
                  <a16:creationId xmlns:a16="http://schemas.microsoft.com/office/drawing/2014/main" id="{BA7DD40C-BF96-408E-B4DC-0B5784743C3D}"/>
                </a:ext>
              </a:extLst>
            </p:cNvPr>
            <p:cNvSpPr txBox="1"/>
            <p:nvPr/>
          </p:nvSpPr>
          <p:spPr>
            <a:xfrm>
              <a:off x="12192000" y="2743200"/>
              <a:ext cx="6233608" cy="892552"/>
            </a:xfrm>
            <a:prstGeom prst="rect">
              <a:avLst/>
            </a:prstGeom>
            <a:noFill/>
          </p:spPr>
          <p:txBody>
            <a:bodyPr wrap="square" rtlCol="0">
              <a:spAutoFit/>
            </a:bodyPr>
            <a:lstStyle/>
            <a:p>
              <a:r>
                <a:rPr lang="el-GR" sz="5200" dirty="0">
                  <a:solidFill>
                    <a:schemeClr val="tx1">
                      <a:lumMod val="50000"/>
                      <a:lumOff val="50000"/>
                    </a:schemeClr>
                  </a:solidFill>
                  <a:latin typeface="Comic Sans MS" panose="030F0702030302020204" pitchFamily="66" charset="0"/>
                </a:rPr>
                <a:t>570 </a:t>
              </a:r>
              <a:r>
                <a:rPr lang="en-US" sz="5200" dirty="0">
                  <a:solidFill>
                    <a:schemeClr val="tx1">
                      <a:lumMod val="50000"/>
                      <a:lumOff val="50000"/>
                    </a:schemeClr>
                  </a:solidFill>
                  <a:latin typeface="Comic Sans MS" panose="030F0702030302020204" pitchFamily="66" charset="0"/>
                </a:rPr>
                <a:t>BC</a:t>
              </a:r>
              <a:r>
                <a:rPr lang="el-GR" sz="5200" dirty="0">
                  <a:solidFill>
                    <a:schemeClr val="tx1">
                      <a:lumMod val="50000"/>
                      <a:lumOff val="50000"/>
                    </a:schemeClr>
                  </a:solidFill>
                  <a:latin typeface="Comic Sans MS" panose="030F0702030302020204" pitchFamily="66" charset="0"/>
                </a:rPr>
                <a:t> – 496 </a:t>
              </a:r>
              <a:r>
                <a:rPr lang="en-US" sz="5200">
                  <a:solidFill>
                    <a:schemeClr val="tx1">
                      <a:lumMod val="50000"/>
                      <a:lumOff val="50000"/>
                    </a:schemeClr>
                  </a:solidFill>
                  <a:latin typeface="Comic Sans MS" panose="030F0702030302020204" pitchFamily="66" charset="0"/>
                </a:rPr>
                <a:t>BC</a:t>
              </a:r>
              <a:endParaRPr lang="el-GR" sz="5200" dirty="0">
                <a:solidFill>
                  <a:schemeClr val="tx1">
                    <a:lumMod val="50000"/>
                    <a:lumOff val="50000"/>
                  </a:schemeClr>
                </a:solidFill>
                <a:latin typeface="Comic Sans MS" panose="030F0702030302020204" pitchFamily="66" charset="0"/>
              </a:endParaRPr>
            </a:p>
          </p:txBody>
        </p:sp>
      </p:grpSp>
    </p:spTree>
    <p:extLst>
      <p:ext uri="{BB962C8B-B14F-4D97-AF65-F5344CB8AC3E}">
        <p14:creationId xmlns:p14="http://schemas.microsoft.com/office/powerpoint/2010/main" val="41177869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8000">
        <p159:morph option="byObject"/>
      </p:transition>
    </mc:Choice>
    <mc:Fallback xmlns="">
      <p:transition spd="slow" advClick="0" advTm="8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accel="50000" decel="50000" fill="hold" nodeType="withEffect">
                                  <p:stCondLst>
                                    <p:cond delay="0"/>
                                  </p:stCondLst>
                                  <p:childTnLst>
                                    <p:animMotion origin="layout" path="M 1.04167E-6 0 L -0.5181 0 " pathEditMode="relative" rAng="0" ptsTypes="AA">
                                      <p:cBhvr>
                                        <p:cTn id="6" dur="1000" fill="hold"/>
                                        <p:tgtEl>
                                          <p:spTgt spid="27"/>
                                        </p:tgtEl>
                                        <p:attrNameLst>
                                          <p:attrName>ppt_x</p:attrName>
                                          <p:attrName>ppt_y</p:attrName>
                                        </p:attrNameLst>
                                      </p:cBhvr>
                                      <p:rCtr x="-25898" y="0"/>
                                    </p:animMotion>
                                  </p:childTnLst>
                                </p:cTn>
                              </p:par>
                              <p:par>
                                <p:cTn id="7" presetID="35" presetClass="path" presetSubtype="0" accel="50000" decel="50000" fill="hold" nodeType="withEffect">
                                  <p:stCondLst>
                                    <p:cond delay="0"/>
                                  </p:stCondLst>
                                  <p:childTnLst>
                                    <p:animMotion origin="layout" path="M 1.04167E-6 0 L -0.49935 0 " pathEditMode="relative" rAng="0" ptsTypes="AA">
                                      <p:cBhvr>
                                        <p:cTn id="8" dur="1000" fill="hold"/>
                                        <p:tgtEl>
                                          <p:spTgt spid="6"/>
                                        </p:tgtEl>
                                        <p:attrNameLst>
                                          <p:attrName>ppt_x</p:attrName>
                                          <p:attrName>ppt_y</p:attrName>
                                        </p:attrNameLst>
                                      </p:cBhvr>
                                      <p:rCtr x="-2497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65000">
              <a:srgbClr val="939393"/>
            </a:gs>
            <a:gs pos="0">
              <a:schemeClr val="bg1"/>
            </a:gs>
            <a:gs pos="100000">
              <a:schemeClr val="accent1">
                <a:lumMod val="60000"/>
                <a:lumOff val="40000"/>
              </a:schemeClr>
            </a:gs>
          </a:gsLst>
          <a:lin ang="2700000" scaled="1"/>
          <a:tileRect/>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E83E05-E82F-4A12-B9FA-3A115E60002E}"/>
              </a:ext>
            </a:extLst>
          </p:cNvPr>
          <p:cNvSpPr txBox="1"/>
          <p:nvPr/>
        </p:nvSpPr>
        <p:spPr>
          <a:xfrm>
            <a:off x="518690" y="4669591"/>
            <a:ext cx="6096000" cy="733021"/>
          </a:xfrm>
          <a:prstGeom prst="rect">
            <a:avLst/>
          </a:prstGeom>
          <a:noFill/>
        </p:spPr>
        <p:txBody>
          <a:bodyPr wrap="square">
            <a:spAutoFit/>
          </a:bodyPr>
          <a:lstStyle/>
          <a:p>
            <a:pPr>
              <a:lnSpc>
                <a:spcPct val="107000"/>
              </a:lnSpc>
              <a:spcAft>
                <a:spcPts val="800"/>
              </a:spcAft>
            </a:pPr>
            <a:r>
              <a:rPr lang="en-US" sz="2000" dirty="0">
                <a:latin typeface="Comic Sans MS" panose="030F0702030302020204" pitchFamily="66" charset="0"/>
              </a:rPr>
              <a:t>He deeply influenced philosophy, music, science, and the way people understand the world.</a:t>
            </a:r>
            <a:endParaRPr lang="el-GR" sz="2000" dirty="0">
              <a:effectLst/>
              <a:latin typeface="Comic Sans MS" panose="030F0702030302020204" pitchFamily="66" charset="0"/>
              <a:ea typeface="Calibri" panose="020F0502020204030204" pitchFamily="34" charset="0"/>
              <a:cs typeface="Times New Roman" panose="02020603050405020304" pitchFamily="18" charset="0"/>
            </a:endParaRPr>
          </a:p>
        </p:txBody>
      </p:sp>
      <p:pic>
        <p:nvPicPr>
          <p:cNvPr id="2050" name="Picture 2">
            <a:extLst>
              <a:ext uri="{FF2B5EF4-FFF2-40B4-BE49-F238E27FC236}">
                <a16:creationId xmlns:a16="http://schemas.microsoft.com/office/drawing/2014/main" id="{7F6D93BE-37F8-46AD-8627-92CA8A3BCB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19902" y="751286"/>
            <a:ext cx="2389909" cy="2743200"/>
          </a:xfrm>
          <a:prstGeom prst="rect">
            <a:avLst/>
          </a:prstGeom>
          <a:solidFill>
            <a:schemeClr val="bg1"/>
          </a:solidFill>
        </p:spPr>
      </p:pic>
      <p:pic>
        <p:nvPicPr>
          <p:cNvPr id="2052" name="Picture 4">
            <a:extLst>
              <a:ext uri="{FF2B5EF4-FFF2-40B4-BE49-F238E27FC236}">
                <a16:creationId xmlns:a16="http://schemas.microsoft.com/office/drawing/2014/main" id="{9FEAE17F-B403-422E-8720-0C927C6508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7348" y="401054"/>
            <a:ext cx="2609816" cy="343852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48450DC8-8CE5-4FAF-B073-48528A53CF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9202" y="4128213"/>
            <a:ext cx="3581400" cy="23876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69D2381-C517-4A3F-AE11-86ECDA171DDF}"/>
              </a:ext>
            </a:extLst>
          </p:cNvPr>
          <p:cNvSpPr txBox="1"/>
          <p:nvPr/>
        </p:nvSpPr>
        <p:spPr>
          <a:xfrm>
            <a:off x="518690" y="892503"/>
            <a:ext cx="6153150" cy="1062342"/>
          </a:xfrm>
          <a:prstGeom prst="rect">
            <a:avLst/>
          </a:prstGeom>
          <a:noFill/>
        </p:spPr>
        <p:txBody>
          <a:bodyPr wrap="square">
            <a:spAutoFit/>
          </a:bodyPr>
          <a:lstStyle/>
          <a:p>
            <a:pPr>
              <a:lnSpc>
                <a:spcPct val="107000"/>
              </a:lnSpc>
              <a:spcAft>
                <a:spcPts val="800"/>
              </a:spcAft>
            </a:pPr>
            <a:r>
              <a:rPr lang="en-US" sz="2000" dirty="0">
                <a:latin typeface="Comic Sans MS" panose="030F0702030302020204" pitchFamily="66" charset="0"/>
              </a:rPr>
              <a:t>Pythagoras was one of the most important philosophers and mathematicians of ancient Greece. </a:t>
            </a:r>
            <a:endParaRPr lang="en-US" sz="2000" dirty="0">
              <a:effectLst/>
              <a:latin typeface="Comic Sans MS" panose="030F0702030302020204" pitchFamily="66" charset="0"/>
              <a:ea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8FF6AB20-2400-478C-82B5-73961100F295}"/>
              </a:ext>
            </a:extLst>
          </p:cNvPr>
          <p:cNvSpPr txBox="1"/>
          <p:nvPr/>
        </p:nvSpPr>
        <p:spPr>
          <a:xfrm>
            <a:off x="518690" y="2781047"/>
            <a:ext cx="6153150" cy="1062342"/>
          </a:xfrm>
          <a:prstGeom prst="rect">
            <a:avLst/>
          </a:prstGeom>
          <a:noFill/>
        </p:spPr>
        <p:txBody>
          <a:bodyPr wrap="square">
            <a:spAutoFit/>
          </a:bodyPr>
          <a:lstStyle/>
          <a:p>
            <a:pPr>
              <a:lnSpc>
                <a:spcPct val="107000"/>
              </a:lnSpc>
              <a:spcAft>
                <a:spcPts val="800"/>
              </a:spcAft>
            </a:pPr>
            <a:r>
              <a:rPr lang="en-US" sz="2000" dirty="0">
                <a:latin typeface="Comic Sans MS" panose="030F0702030302020204" pitchFamily="66" charset="0"/>
              </a:rPr>
              <a:t>His name is mainly associated with the Pythagorean Theorem, but his contribution was not limited to mathematics. </a:t>
            </a:r>
            <a:endParaRPr lang="en-US" sz="2000" dirty="0">
              <a:effectLst/>
              <a:latin typeface="Comic Sans MS" panose="030F0702030302020204" pitchFamily="66"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2540942"/>
      </p:ext>
    </p:extLst>
  </p:cSld>
  <p:clrMapOvr>
    <a:masterClrMapping/>
  </p:clrMapOvr>
  <mc:AlternateContent xmlns:mc="http://schemas.openxmlformats.org/markup-compatibility/2006" xmlns:p14="http://schemas.microsoft.com/office/powerpoint/2010/main">
    <mc:Choice Requires="p14">
      <p:transition spd="slow" p14:dur="1250" advClick="0" advTm="8000">
        <p14:flip dir="r"/>
      </p:transition>
    </mc:Choice>
    <mc:Fallback xmlns="">
      <p:transition spd="slow" advClick="0" advTm="8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1500"/>
                                        <p:tgtEl>
                                          <p:spTgt spid="10"/>
                                        </p:tgtEl>
                                      </p:cBhvr>
                                    </p:animEffect>
                                  </p:childTnLst>
                                </p:cTn>
                              </p:par>
                              <p:par>
                                <p:cTn id="8" presetID="22" presetClass="entr" presetSubtype="4" fill="hold" nodeType="withEffect">
                                  <p:stCondLst>
                                    <p:cond delay="0"/>
                                  </p:stCondLst>
                                  <p:childTnLst>
                                    <p:set>
                                      <p:cBhvr>
                                        <p:cTn id="9" dur="1" fill="hold">
                                          <p:stCondLst>
                                            <p:cond delay="0"/>
                                          </p:stCondLst>
                                        </p:cTn>
                                        <p:tgtEl>
                                          <p:spTgt spid="2052"/>
                                        </p:tgtEl>
                                        <p:attrNameLst>
                                          <p:attrName>style.visibility</p:attrName>
                                        </p:attrNameLst>
                                      </p:cBhvr>
                                      <p:to>
                                        <p:strVal val="visible"/>
                                      </p:to>
                                    </p:set>
                                    <p:animEffect transition="in" filter="wipe(down)">
                                      <p:cBhvr>
                                        <p:cTn id="10" dur="1500"/>
                                        <p:tgtEl>
                                          <p:spTgt spid="2052"/>
                                        </p:tgtEl>
                                      </p:cBhvr>
                                    </p:animEffect>
                                  </p:childTnLst>
                                </p:cTn>
                              </p:par>
                              <p:par>
                                <p:cTn id="11" presetID="22" presetClass="entr" presetSubtype="4" fill="hold" nodeType="withEffect">
                                  <p:stCondLst>
                                    <p:cond delay="0"/>
                                  </p:stCondLst>
                                  <p:childTnLst>
                                    <p:set>
                                      <p:cBhvr>
                                        <p:cTn id="12" dur="1" fill="hold">
                                          <p:stCondLst>
                                            <p:cond delay="0"/>
                                          </p:stCondLst>
                                        </p:cTn>
                                        <p:tgtEl>
                                          <p:spTgt spid="2050"/>
                                        </p:tgtEl>
                                        <p:attrNameLst>
                                          <p:attrName>style.visibility</p:attrName>
                                        </p:attrNameLst>
                                      </p:cBhvr>
                                      <p:to>
                                        <p:strVal val="visible"/>
                                      </p:to>
                                    </p:set>
                                    <p:animEffect transition="in" filter="wipe(down)">
                                      <p:cBhvr>
                                        <p:cTn id="13" dur="1500"/>
                                        <p:tgtEl>
                                          <p:spTgt spid="2050"/>
                                        </p:tgtEl>
                                      </p:cBhvr>
                                    </p:animEffect>
                                  </p:childTnLst>
                                </p:cTn>
                              </p:par>
                              <p:par>
                                <p:cTn id="14" presetID="22" presetClass="entr" presetSubtype="4" fill="hold" nodeType="withEffect">
                                  <p:stCondLst>
                                    <p:cond delay="0"/>
                                  </p:stCondLst>
                                  <p:childTnLst>
                                    <p:set>
                                      <p:cBhvr>
                                        <p:cTn id="15" dur="1" fill="hold">
                                          <p:stCondLst>
                                            <p:cond delay="0"/>
                                          </p:stCondLst>
                                        </p:cTn>
                                        <p:tgtEl>
                                          <p:spTgt spid="2054"/>
                                        </p:tgtEl>
                                        <p:attrNameLst>
                                          <p:attrName>style.visibility</p:attrName>
                                        </p:attrNameLst>
                                      </p:cBhvr>
                                      <p:to>
                                        <p:strVal val="visible"/>
                                      </p:to>
                                    </p:set>
                                    <p:animEffect transition="in" filter="wipe(down)">
                                      <p:cBhvr>
                                        <p:cTn id="16" dur="1500"/>
                                        <p:tgtEl>
                                          <p:spTgt spid="205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down)">
                                      <p:cBhvr>
                                        <p:cTn id="21" dur="1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down)">
                                      <p:cBhvr>
                                        <p:cTn id="26" dur="1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65000">
              <a:srgbClr val="939393"/>
            </a:gs>
            <a:gs pos="0">
              <a:schemeClr val="bg1"/>
            </a:gs>
            <a:gs pos="100000">
              <a:schemeClr val="accent1">
                <a:lumMod val="60000"/>
                <a:lumOff val="40000"/>
              </a:schemeClr>
            </a:gs>
          </a:gsLst>
          <a:lin ang="2700000" scaled="1"/>
          <a:tileRect/>
        </a:gradFill>
        <a:effectLst/>
      </p:bgPr>
    </p:bg>
    <p:spTree>
      <p:nvGrpSpPr>
        <p:cNvPr id="1" name=""/>
        <p:cNvGrpSpPr/>
        <p:nvPr/>
      </p:nvGrpSpPr>
      <p:grpSpPr>
        <a:xfrm>
          <a:off x="0" y="0"/>
          <a:ext cx="0" cy="0"/>
          <a:chOff x="0" y="0"/>
          <a:chExt cx="0" cy="0"/>
        </a:xfrm>
      </p:grpSpPr>
      <p:sp>
        <p:nvSpPr>
          <p:cNvPr id="60" name="TextBox 59">
            <a:extLst>
              <a:ext uri="{FF2B5EF4-FFF2-40B4-BE49-F238E27FC236}">
                <a16:creationId xmlns:a16="http://schemas.microsoft.com/office/drawing/2014/main" id="{FCE94083-0230-494A-8102-A365E0D6756F}"/>
              </a:ext>
            </a:extLst>
          </p:cNvPr>
          <p:cNvSpPr txBox="1"/>
          <p:nvPr/>
        </p:nvSpPr>
        <p:spPr>
          <a:xfrm>
            <a:off x="10934486" y="355179"/>
            <a:ext cx="1079559" cy="400110"/>
          </a:xfrm>
          <a:prstGeom prst="rect">
            <a:avLst/>
          </a:prstGeom>
          <a:noFill/>
        </p:spPr>
        <p:txBody>
          <a:bodyPr wrap="square" rtlCol="0">
            <a:spAutoFit/>
          </a:bodyPr>
          <a:lstStyle/>
          <a:p>
            <a:pPr algn="ctr"/>
            <a:r>
              <a:rPr lang="en-US" sz="2000" dirty="0">
                <a:latin typeface="Comic Sans MS" panose="030F0702030302020204" pitchFamily="66" charset="0"/>
              </a:rPr>
              <a:t> 7</a:t>
            </a:r>
            <a:endParaRPr lang="el-GR" sz="2000" dirty="0">
              <a:latin typeface="Comic Sans MS" panose="030F0702030302020204" pitchFamily="66" charset="0"/>
            </a:endParaRPr>
          </a:p>
        </p:txBody>
      </p:sp>
      <p:grpSp>
        <p:nvGrpSpPr>
          <p:cNvPr id="2" name="Ομάδα 1">
            <a:extLst>
              <a:ext uri="{FF2B5EF4-FFF2-40B4-BE49-F238E27FC236}">
                <a16:creationId xmlns:a16="http://schemas.microsoft.com/office/drawing/2014/main" id="{5C96BD39-248C-4F7F-BFA4-16A642377711}"/>
              </a:ext>
            </a:extLst>
          </p:cNvPr>
          <p:cNvGrpSpPr/>
          <p:nvPr/>
        </p:nvGrpSpPr>
        <p:grpSpPr>
          <a:xfrm>
            <a:off x="10451654" y="-8792"/>
            <a:ext cx="2200293" cy="6858000"/>
            <a:chOff x="10469238" y="0"/>
            <a:chExt cx="2200293" cy="6858000"/>
          </a:xfrm>
        </p:grpSpPr>
        <p:sp>
          <p:nvSpPr>
            <p:cNvPr id="44" name="Ορθογώνιο 43">
              <a:extLst>
                <a:ext uri="{FF2B5EF4-FFF2-40B4-BE49-F238E27FC236}">
                  <a16:creationId xmlns:a16="http://schemas.microsoft.com/office/drawing/2014/main" id="{FF9388C3-4E7B-4D7C-B2DE-9743AF9BC44B}"/>
                </a:ext>
              </a:extLst>
            </p:cNvPr>
            <p:cNvSpPr/>
            <p:nvPr/>
          </p:nvSpPr>
          <p:spPr>
            <a:xfrm>
              <a:off x="10469238" y="0"/>
              <a:ext cx="1741714"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2000" b="1" kern="1800" dirty="0">
                  <a:solidFill>
                    <a:schemeClr val="tx1"/>
                  </a:solidFill>
                  <a:effectLst/>
                  <a:latin typeface="Comic Sans MS" panose="030F0702030302020204" pitchFamily="66" charset="0"/>
                  <a:ea typeface="Times New Roman" panose="02020603050405020304" pitchFamily="18" charset="0"/>
                  <a:cs typeface="Times New Roman" panose="02020603050405020304" pitchFamily="18" charset="0"/>
                </a:rPr>
                <a:t>The Influence of Pythagoras</a:t>
              </a:r>
              <a:endParaRPr lang="el-GR"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8" name="Ισοσκελές τρίγωνο 57">
              <a:extLst>
                <a:ext uri="{FF2B5EF4-FFF2-40B4-BE49-F238E27FC236}">
                  <a16:creationId xmlns:a16="http://schemas.microsoft.com/office/drawing/2014/main" id="{A1602316-D2F4-4D4F-A75B-5E3E09C14127}"/>
                </a:ext>
              </a:extLst>
            </p:cNvPr>
            <p:cNvSpPr/>
            <p:nvPr/>
          </p:nvSpPr>
          <p:spPr>
            <a:xfrm rot="5400000">
              <a:off x="12202806" y="639174"/>
              <a:ext cx="485775" cy="447675"/>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2000">
                <a:solidFill>
                  <a:schemeClr val="tx1"/>
                </a:solidFill>
                <a:latin typeface="Comic Sans MS" panose="030F0702030302020204" pitchFamily="66" charset="0"/>
              </a:endParaRPr>
            </a:p>
          </p:txBody>
        </p:sp>
        <p:pic>
          <p:nvPicPr>
            <p:cNvPr id="69" name="Γραφικό 68" descr="Εγκέφαλος με συμπαγές γέμισμα">
              <a:extLst>
                <a:ext uri="{FF2B5EF4-FFF2-40B4-BE49-F238E27FC236}">
                  <a16:creationId xmlns:a16="http://schemas.microsoft.com/office/drawing/2014/main" id="{12B12909-3BC7-4DE3-98C6-24FF90C329B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31632" y="4464537"/>
              <a:ext cx="914400" cy="914400"/>
            </a:xfrm>
            <a:prstGeom prst="rect">
              <a:avLst/>
            </a:prstGeom>
          </p:spPr>
        </p:pic>
      </p:grpSp>
      <p:grpSp>
        <p:nvGrpSpPr>
          <p:cNvPr id="93" name="Ομάδα 92">
            <a:extLst>
              <a:ext uri="{FF2B5EF4-FFF2-40B4-BE49-F238E27FC236}">
                <a16:creationId xmlns:a16="http://schemas.microsoft.com/office/drawing/2014/main" id="{19F0E54D-A567-404E-8A6A-3188DA205ECD}"/>
              </a:ext>
            </a:extLst>
          </p:cNvPr>
          <p:cNvGrpSpPr/>
          <p:nvPr/>
        </p:nvGrpSpPr>
        <p:grpSpPr>
          <a:xfrm>
            <a:off x="8715960" y="0"/>
            <a:ext cx="2204835" cy="6858000"/>
            <a:chOff x="8662850" y="0"/>
            <a:chExt cx="2204835" cy="6858000"/>
          </a:xfrm>
          <a:solidFill>
            <a:schemeClr val="bg1">
              <a:lumMod val="95000"/>
            </a:schemeClr>
          </a:solidFill>
        </p:grpSpPr>
        <p:sp>
          <p:nvSpPr>
            <p:cNvPr id="43" name="Ορθογώνιο 42">
              <a:extLst>
                <a:ext uri="{FF2B5EF4-FFF2-40B4-BE49-F238E27FC236}">
                  <a16:creationId xmlns:a16="http://schemas.microsoft.com/office/drawing/2014/main" id="{587CB982-7CF0-4F60-B1D6-CFB5D84F0C35}"/>
                </a:ext>
              </a:extLst>
            </p:cNvPr>
            <p:cNvSpPr/>
            <p:nvPr/>
          </p:nvSpPr>
          <p:spPr>
            <a:xfrm>
              <a:off x="8662850" y="0"/>
              <a:ext cx="1741714" cy="6858000"/>
            </a:xfrm>
            <a:prstGeom prst="rect">
              <a:avLst/>
            </a:prstGeom>
            <a:grp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2000" b="1" kern="1800" dirty="0">
                  <a:solidFill>
                    <a:schemeClr val="tx1"/>
                  </a:solidFill>
                  <a:effectLst/>
                  <a:latin typeface="Comic Sans MS" panose="030F0702030302020204" pitchFamily="66" charset="0"/>
                  <a:ea typeface="Times New Roman" panose="02020603050405020304" pitchFamily="18" charset="0"/>
                  <a:cs typeface="Times New Roman" panose="02020603050405020304" pitchFamily="18" charset="0"/>
                </a:rPr>
                <a:t>The End of Pythagoras</a:t>
              </a:r>
              <a:endParaRPr lang="el-GR"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1" name="Ισοσκελές τρίγωνο 50">
              <a:extLst>
                <a:ext uri="{FF2B5EF4-FFF2-40B4-BE49-F238E27FC236}">
                  <a16:creationId xmlns:a16="http://schemas.microsoft.com/office/drawing/2014/main" id="{094EA627-B29A-463F-B279-17C27D057B4F}"/>
                </a:ext>
              </a:extLst>
            </p:cNvPr>
            <p:cNvSpPr/>
            <p:nvPr/>
          </p:nvSpPr>
          <p:spPr>
            <a:xfrm rot="5400000">
              <a:off x="10400960" y="647698"/>
              <a:ext cx="485775" cy="447675"/>
            </a:xfrm>
            <a:prstGeom prst="triangle">
              <a:avLst/>
            </a:prstGeom>
            <a:grp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2000">
                <a:solidFill>
                  <a:schemeClr val="tx1"/>
                </a:solidFill>
                <a:latin typeface="Comic Sans MS" panose="030F0702030302020204" pitchFamily="66" charset="0"/>
              </a:endParaRPr>
            </a:p>
          </p:txBody>
        </p:sp>
        <p:sp>
          <p:nvSpPr>
            <p:cNvPr id="57" name="TextBox 56">
              <a:extLst>
                <a:ext uri="{FF2B5EF4-FFF2-40B4-BE49-F238E27FC236}">
                  <a16:creationId xmlns:a16="http://schemas.microsoft.com/office/drawing/2014/main" id="{CC5861C9-F341-4A86-B8BB-1AF94F07DDA8}"/>
                </a:ext>
              </a:extLst>
            </p:cNvPr>
            <p:cNvSpPr txBox="1"/>
            <p:nvPr/>
          </p:nvSpPr>
          <p:spPr>
            <a:xfrm>
              <a:off x="9179374" y="363702"/>
              <a:ext cx="1079559" cy="923330"/>
            </a:xfrm>
            <a:prstGeom prst="rect">
              <a:avLst/>
            </a:prstGeom>
            <a:grpFill/>
            <a:ln>
              <a:solidFill>
                <a:srgbClr val="F3F6FB"/>
              </a:solidFill>
            </a:ln>
          </p:spPr>
          <p:txBody>
            <a:bodyPr wrap="square" rtlCol="0">
              <a:spAutoFit/>
            </a:bodyPr>
            <a:lstStyle/>
            <a:p>
              <a:pPr algn="ctr"/>
              <a:r>
                <a:rPr lang="en-US" sz="5400" dirty="0">
                  <a:latin typeface="Comic Sans MS" panose="030F0702030302020204" pitchFamily="66" charset="0"/>
                </a:rPr>
                <a:t>6</a:t>
              </a:r>
              <a:endParaRPr lang="el-GR" sz="5400" dirty="0">
                <a:latin typeface="Comic Sans MS" panose="030F0702030302020204" pitchFamily="66" charset="0"/>
              </a:endParaRPr>
            </a:p>
          </p:txBody>
        </p:sp>
        <p:pic>
          <p:nvPicPr>
            <p:cNvPr id="65" name="Γραφικό 64" descr="Νεκροκεφαλή με συμπαγές γέμισμα">
              <a:extLst>
                <a:ext uri="{FF2B5EF4-FFF2-40B4-BE49-F238E27FC236}">
                  <a16:creationId xmlns:a16="http://schemas.microsoft.com/office/drawing/2014/main" id="{F4B9E6AE-F689-41B1-A548-F75B7C237AC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27849" y="4464537"/>
              <a:ext cx="914400" cy="914400"/>
            </a:xfrm>
            <a:prstGeom prst="rect">
              <a:avLst/>
            </a:prstGeom>
          </p:spPr>
        </p:pic>
      </p:grpSp>
      <p:grpSp>
        <p:nvGrpSpPr>
          <p:cNvPr id="96" name="Ομάδα 95">
            <a:extLst>
              <a:ext uri="{FF2B5EF4-FFF2-40B4-BE49-F238E27FC236}">
                <a16:creationId xmlns:a16="http://schemas.microsoft.com/office/drawing/2014/main" id="{F93632D9-142C-4C18-AD0D-9AC948E3719E}"/>
              </a:ext>
            </a:extLst>
          </p:cNvPr>
          <p:cNvGrpSpPr/>
          <p:nvPr/>
        </p:nvGrpSpPr>
        <p:grpSpPr>
          <a:xfrm>
            <a:off x="6980006" y="-3175"/>
            <a:ext cx="2200953" cy="6858000"/>
            <a:chOff x="6966857" y="0"/>
            <a:chExt cx="2200953" cy="6858000"/>
          </a:xfrm>
          <a:solidFill>
            <a:schemeClr val="bg1">
              <a:lumMod val="85000"/>
            </a:schemeClr>
          </a:solidFill>
        </p:grpSpPr>
        <p:sp>
          <p:nvSpPr>
            <p:cNvPr id="42" name="Ορθογώνιο 41">
              <a:extLst>
                <a:ext uri="{FF2B5EF4-FFF2-40B4-BE49-F238E27FC236}">
                  <a16:creationId xmlns:a16="http://schemas.microsoft.com/office/drawing/2014/main" id="{514E13B6-5868-45EE-98FB-16F014A09B3D}"/>
                </a:ext>
              </a:extLst>
            </p:cNvPr>
            <p:cNvSpPr/>
            <p:nvPr/>
          </p:nvSpPr>
          <p:spPr>
            <a:xfrm>
              <a:off x="6966857" y="0"/>
              <a:ext cx="1741714" cy="6858000"/>
            </a:xfrm>
            <a:prstGeom prst="rect">
              <a:avLst/>
            </a:prstGeom>
            <a:grp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2000" b="1" kern="1800" dirty="0">
                  <a:solidFill>
                    <a:schemeClr val="tx1"/>
                  </a:solidFill>
                  <a:effectLst/>
                  <a:latin typeface="Comic Sans MS" panose="030F0702030302020204" pitchFamily="66" charset="0"/>
                  <a:ea typeface="Times New Roman" panose="02020603050405020304" pitchFamily="18" charset="0"/>
                  <a:cs typeface="Times New Roman" panose="02020603050405020304" pitchFamily="18" charset="0"/>
                </a:rPr>
                <a:t>Music and Mathematics</a:t>
              </a:r>
              <a:endParaRPr lang="el-GR"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0" name="Ισοσκελές τρίγωνο 49">
              <a:extLst>
                <a:ext uri="{FF2B5EF4-FFF2-40B4-BE49-F238E27FC236}">
                  <a16:creationId xmlns:a16="http://schemas.microsoft.com/office/drawing/2014/main" id="{E58FF692-877C-4AF4-A8C3-05364522ECFB}"/>
                </a:ext>
              </a:extLst>
            </p:cNvPr>
            <p:cNvSpPr/>
            <p:nvPr/>
          </p:nvSpPr>
          <p:spPr>
            <a:xfrm rot="5400000">
              <a:off x="8701085" y="647698"/>
              <a:ext cx="485775" cy="447675"/>
            </a:xfrm>
            <a:prstGeom prst="triangle">
              <a:avLst/>
            </a:prstGeom>
            <a:grp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2000">
                <a:solidFill>
                  <a:schemeClr val="tx1"/>
                </a:solidFill>
                <a:latin typeface="Comic Sans MS" panose="030F0702030302020204" pitchFamily="66" charset="0"/>
              </a:endParaRPr>
            </a:p>
          </p:txBody>
        </p:sp>
        <p:sp>
          <p:nvSpPr>
            <p:cNvPr id="56" name="TextBox 55">
              <a:extLst>
                <a:ext uri="{FF2B5EF4-FFF2-40B4-BE49-F238E27FC236}">
                  <a16:creationId xmlns:a16="http://schemas.microsoft.com/office/drawing/2014/main" id="{EFDFBEB2-F41A-487C-A89D-AFE4DC2E7D39}"/>
                </a:ext>
              </a:extLst>
            </p:cNvPr>
            <p:cNvSpPr txBox="1"/>
            <p:nvPr/>
          </p:nvSpPr>
          <p:spPr>
            <a:xfrm>
              <a:off x="7384256" y="363703"/>
              <a:ext cx="1079559" cy="923330"/>
            </a:xfrm>
            <a:prstGeom prst="rect">
              <a:avLst/>
            </a:prstGeom>
            <a:grpFill/>
            <a:ln>
              <a:solidFill>
                <a:schemeClr val="bg1">
                  <a:lumMod val="85000"/>
                </a:schemeClr>
              </a:solidFill>
            </a:ln>
          </p:spPr>
          <p:txBody>
            <a:bodyPr wrap="square" rtlCol="0">
              <a:spAutoFit/>
            </a:bodyPr>
            <a:lstStyle/>
            <a:p>
              <a:pPr algn="ctr"/>
              <a:r>
                <a:rPr lang="en-US" sz="5400" dirty="0">
                  <a:latin typeface="Comic Sans MS" panose="030F0702030302020204" pitchFamily="66" charset="0"/>
                </a:rPr>
                <a:t>5</a:t>
              </a:r>
              <a:endParaRPr lang="el-GR" sz="5400" dirty="0">
                <a:latin typeface="Comic Sans MS" panose="030F0702030302020204" pitchFamily="66" charset="0"/>
              </a:endParaRPr>
            </a:p>
          </p:txBody>
        </p:sp>
        <p:pic>
          <p:nvPicPr>
            <p:cNvPr id="63" name="Γραφικό 62" descr="Μουσική με συμπαγές γέμισμα">
              <a:extLst>
                <a:ext uri="{FF2B5EF4-FFF2-40B4-BE49-F238E27FC236}">
                  <a16:creationId xmlns:a16="http://schemas.microsoft.com/office/drawing/2014/main" id="{89D6D8AB-6C8E-4387-9828-1570F3F3870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85536" y="4467712"/>
              <a:ext cx="914400" cy="914400"/>
            </a:xfrm>
            <a:prstGeom prst="rect">
              <a:avLst/>
            </a:prstGeom>
          </p:spPr>
        </p:pic>
      </p:grpSp>
      <p:grpSp>
        <p:nvGrpSpPr>
          <p:cNvPr id="97" name="Ομάδα 96">
            <a:extLst>
              <a:ext uri="{FF2B5EF4-FFF2-40B4-BE49-F238E27FC236}">
                <a16:creationId xmlns:a16="http://schemas.microsoft.com/office/drawing/2014/main" id="{DEE69218-BCAE-437A-A3F2-0592A78CD053}"/>
              </a:ext>
            </a:extLst>
          </p:cNvPr>
          <p:cNvGrpSpPr/>
          <p:nvPr/>
        </p:nvGrpSpPr>
        <p:grpSpPr>
          <a:xfrm>
            <a:off x="5144810" y="0"/>
            <a:ext cx="2265928" cy="6858000"/>
            <a:chOff x="5137040" y="0"/>
            <a:chExt cx="2265928" cy="6858000"/>
          </a:xfrm>
          <a:solidFill>
            <a:schemeClr val="bg1">
              <a:lumMod val="75000"/>
            </a:schemeClr>
          </a:solidFill>
        </p:grpSpPr>
        <p:sp>
          <p:nvSpPr>
            <p:cNvPr id="41" name="Ορθογώνιο 40">
              <a:extLst>
                <a:ext uri="{FF2B5EF4-FFF2-40B4-BE49-F238E27FC236}">
                  <a16:creationId xmlns:a16="http://schemas.microsoft.com/office/drawing/2014/main" id="{CB3D5F83-96C3-4397-BD5C-66E8476189E5}"/>
                </a:ext>
              </a:extLst>
            </p:cNvPr>
            <p:cNvSpPr/>
            <p:nvPr/>
          </p:nvSpPr>
          <p:spPr>
            <a:xfrm>
              <a:off x="5225143" y="0"/>
              <a:ext cx="1741714" cy="6858000"/>
            </a:xfrm>
            <a:prstGeom prst="rect">
              <a:avLst/>
            </a:prstGeom>
            <a:grp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2000" b="1" kern="1800" dirty="0">
                  <a:solidFill>
                    <a:schemeClr val="tx1"/>
                  </a:solidFill>
                  <a:effectLst/>
                  <a:latin typeface="Comic Sans MS" panose="030F0702030302020204" pitchFamily="66" charset="0"/>
                  <a:ea typeface="Times New Roman" panose="02020603050405020304" pitchFamily="18" charset="0"/>
                  <a:cs typeface="Times New Roman" panose="02020603050405020304" pitchFamily="18" charset="0"/>
                </a:rPr>
                <a:t>The Pythagorean Theorem</a:t>
              </a:r>
              <a:endParaRPr lang="el-GR"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9" name="Ισοσκελές τρίγωνο 48">
              <a:extLst>
                <a:ext uri="{FF2B5EF4-FFF2-40B4-BE49-F238E27FC236}">
                  <a16:creationId xmlns:a16="http://schemas.microsoft.com/office/drawing/2014/main" id="{0BD9458D-3632-4250-82B3-DF79120C63DB}"/>
                </a:ext>
              </a:extLst>
            </p:cNvPr>
            <p:cNvSpPr/>
            <p:nvPr/>
          </p:nvSpPr>
          <p:spPr>
            <a:xfrm rot="5400000">
              <a:off x="6936243" y="647699"/>
              <a:ext cx="485775" cy="447675"/>
            </a:xfrm>
            <a:prstGeom prst="triangle">
              <a:avLst/>
            </a:prstGeom>
            <a:grp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2000">
                <a:solidFill>
                  <a:schemeClr val="tx1"/>
                </a:solidFill>
                <a:latin typeface="Comic Sans MS" panose="030F0702030302020204" pitchFamily="66" charset="0"/>
              </a:endParaRPr>
            </a:p>
          </p:txBody>
        </p:sp>
        <p:sp>
          <p:nvSpPr>
            <p:cNvPr id="55" name="TextBox 54">
              <a:extLst>
                <a:ext uri="{FF2B5EF4-FFF2-40B4-BE49-F238E27FC236}">
                  <a16:creationId xmlns:a16="http://schemas.microsoft.com/office/drawing/2014/main" id="{39E6C7C8-B9D8-4246-A0A0-417A442D7A2E}"/>
                </a:ext>
              </a:extLst>
            </p:cNvPr>
            <p:cNvSpPr txBox="1"/>
            <p:nvPr/>
          </p:nvSpPr>
          <p:spPr>
            <a:xfrm>
              <a:off x="5615620" y="363703"/>
              <a:ext cx="1079559" cy="923330"/>
            </a:xfrm>
            <a:prstGeom prst="rect">
              <a:avLst/>
            </a:prstGeom>
            <a:grpFill/>
            <a:ln>
              <a:solidFill>
                <a:schemeClr val="bg1">
                  <a:lumMod val="75000"/>
                </a:schemeClr>
              </a:solidFill>
            </a:ln>
          </p:spPr>
          <p:txBody>
            <a:bodyPr wrap="square" rtlCol="0">
              <a:spAutoFit/>
            </a:bodyPr>
            <a:lstStyle/>
            <a:p>
              <a:pPr algn="ctr"/>
              <a:r>
                <a:rPr lang="en-US" sz="5400" dirty="0">
                  <a:latin typeface="Comic Sans MS" panose="030F0702030302020204" pitchFamily="66" charset="0"/>
                </a:rPr>
                <a:t>4</a:t>
              </a:r>
              <a:endParaRPr lang="el-GR" sz="5400" dirty="0">
                <a:latin typeface="Comic Sans MS" panose="030F0702030302020204" pitchFamily="66" charset="0"/>
              </a:endParaRPr>
            </a:p>
          </p:txBody>
        </p:sp>
        <p:sp>
          <p:nvSpPr>
            <p:cNvPr id="73" name="TextBox 72">
              <a:extLst>
                <a:ext uri="{FF2B5EF4-FFF2-40B4-BE49-F238E27FC236}">
                  <a16:creationId xmlns:a16="http://schemas.microsoft.com/office/drawing/2014/main" id="{CC8D71DF-196A-4CB1-9142-4A7C8F9E13BB}"/>
                </a:ext>
              </a:extLst>
            </p:cNvPr>
            <p:cNvSpPr txBox="1"/>
            <p:nvPr/>
          </p:nvSpPr>
          <p:spPr>
            <a:xfrm>
              <a:off x="5137040" y="4923237"/>
              <a:ext cx="1810179" cy="400110"/>
            </a:xfrm>
            <a:prstGeom prst="rect">
              <a:avLst/>
            </a:prstGeom>
            <a:grpFill/>
            <a:ln>
              <a:solidFill>
                <a:schemeClr val="bg1">
                  <a:lumMod val="75000"/>
                </a:schemeClr>
              </a:solidFill>
            </a:ln>
          </p:spPr>
          <p:txBody>
            <a:bodyPr wrap="square">
              <a:spAutoFit/>
            </a:bodyPr>
            <a:lstStyle/>
            <a:p>
              <a:pPr algn="ctr"/>
              <a:r>
                <a:rPr lang="el-GR" sz="2000" b="1" dirty="0">
                  <a:latin typeface="Comic Sans MS" panose="030F0702030302020204" pitchFamily="66" charset="0"/>
                </a:rPr>
                <a:t>α</a:t>
              </a:r>
              <a:r>
                <a:rPr lang="el-GR" sz="2000" b="1" baseline="30000" dirty="0">
                  <a:latin typeface="Comic Sans MS" panose="030F0702030302020204" pitchFamily="66" charset="0"/>
                </a:rPr>
                <a:t>2</a:t>
              </a:r>
              <a:r>
                <a:rPr lang="el-GR" sz="2000" b="1" dirty="0">
                  <a:latin typeface="Comic Sans MS" panose="030F0702030302020204" pitchFamily="66" charset="0"/>
                </a:rPr>
                <a:t>+</a:t>
              </a:r>
              <a:r>
                <a:rPr lang="en-US" sz="2000" b="1" dirty="0">
                  <a:latin typeface="Comic Sans MS" panose="030F0702030302020204" pitchFamily="66" charset="0"/>
                </a:rPr>
                <a:t>b</a:t>
              </a:r>
              <a:r>
                <a:rPr lang="el-GR" sz="2000" b="1" baseline="30000" dirty="0">
                  <a:latin typeface="Comic Sans MS" panose="030F0702030302020204" pitchFamily="66" charset="0"/>
                </a:rPr>
                <a:t>2</a:t>
              </a:r>
              <a:r>
                <a:rPr lang="el-GR" sz="2000" b="1" dirty="0">
                  <a:latin typeface="Comic Sans MS" panose="030F0702030302020204" pitchFamily="66" charset="0"/>
                </a:rPr>
                <a:t>=</a:t>
              </a:r>
              <a:r>
                <a:rPr lang="en-US" sz="2000" b="1" dirty="0">
                  <a:latin typeface="Comic Sans MS" panose="030F0702030302020204" pitchFamily="66" charset="0"/>
                </a:rPr>
                <a:t>c</a:t>
              </a:r>
              <a:r>
                <a:rPr lang="el-GR" sz="2000" b="1" baseline="30000" dirty="0">
                  <a:latin typeface="Comic Sans MS" panose="030F0702030302020204" pitchFamily="66" charset="0"/>
                </a:rPr>
                <a:t>2</a:t>
              </a:r>
              <a:endParaRPr lang="en-US" sz="2000" b="1" dirty="0">
                <a:effectLst/>
                <a:latin typeface="Comic Sans MS" panose="030F0702030302020204" pitchFamily="66" charset="0"/>
              </a:endParaRPr>
            </a:p>
          </p:txBody>
        </p:sp>
      </p:grpSp>
      <p:grpSp>
        <p:nvGrpSpPr>
          <p:cNvPr id="98" name="Ομάδα 97">
            <a:extLst>
              <a:ext uri="{FF2B5EF4-FFF2-40B4-BE49-F238E27FC236}">
                <a16:creationId xmlns:a16="http://schemas.microsoft.com/office/drawing/2014/main" id="{8DCCFCEC-E6DD-4C07-8D5D-4E57044F050D}"/>
              </a:ext>
            </a:extLst>
          </p:cNvPr>
          <p:cNvGrpSpPr/>
          <p:nvPr/>
        </p:nvGrpSpPr>
        <p:grpSpPr>
          <a:xfrm>
            <a:off x="3477581" y="0"/>
            <a:ext cx="2171182" cy="6858000"/>
            <a:chOff x="3430980" y="0"/>
            <a:chExt cx="2171182" cy="6858000"/>
          </a:xfrm>
          <a:solidFill>
            <a:srgbClr val="84A2D8"/>
          </a:solidFill>
        </p:grpSpPr>
        <p:sp>
          <p:nvSpPr>
            <p:cNvPr id="40" name="Ορθογώνιο 39">
              <a:extLst>
                <a:ext uri="{FF2B5EF4-FFF2-40B4-BE49-F238E27FC236}">
                  <a16:creationId xmlns:a16="http://schemas.microsoft.com/office/drawing/2014/main" id="{E69206B9-F7A1-4B09-9FFA-F803EA07174F}"/>
                </a:ext>
              </a:extLst>
            </p:cNvPr>
            <p:cNvSpPr/>
            <p:nvPr/>
          </p:nvSpPr>
          <p:spPr>
            <a:xfrm>
              <a:off x="3430980" y="0"/>
              <a:ext cx="1741714" cy="6858000"/>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2000" b="1" kern="1800"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a:t>
              </a:r>
              <a:r>
                <a:rPr lang="en-US" sz="2000" b="1" kern="1800" dirty="0">
                  <a:solidFill>
                    <a:schemeClr val="tx1"/>
                  </a:solidFill>
                  <a:effectLst/>
                  <a:latin typeface="Comic Sans MS" panose="030F0702030302020204" pitchFamily="66" charset="0"/>
                  <a:ea typeface="Times New Roman" panose="02020603050405020304" pitchFamily="18" charset="0"/>
                  <a:cs typeface="Times New Roman" panose="02020603050405020304" pitchFamily="18" charset="0"/>
                </a:rPr>
                <a:t>Everything is Number</a:t>
              </a:r>
              <a:r>
                <a:rPr lang="en-US" sz="2000" b="1" kern="1800"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a:t>
              </a:r>
              <a:endParaRPr lang="el-GR" sz="2000" b="1" dirty="0">
                <a:solidFill>
                  <a:schemeClr val="tx1"/>
                </a:solidFill>
                <a:effectLst/>
                <a:latin typeface="Comic Sans MS" panose="030F0702030302020204" pitchFamily="66" charset="0"/>
                <a:ea typeface="Calibri" panose="020F0502020204030204" pitchFamily="34" charset="0"/>
                <a:cs typeface="Times New Roman" panose="02020603050405020304" pitchFamily="18" charset="0"/>
              </a:endParaRPr>
            </a:p>
          </p:txBody>
        </p:sp>
        <p:sp>
          <p:nvSpPr>
            <p:cNvPr id="48" name="Ισοσκελές τρίγωνο 47">
              <a:extLst>
                <a:ext uri="{FF2B5EF4-FFF2-40B4-BE49-F238E27FC236}">
                  <a16:creationId xmlns:a16="http://schemas.microsoft.com/office/drawing/2014/main" id="{E976BCA1-2EE7-4523-B417-0D8479A72C5D}"/>
                </a:ext>
              </a:extLst>
            </p:cNvPr>
            <p:cNvSpPr/>
            <p:nvPr/>
          </p:nvSpPr>
          <p:spPr>
            <a:xfrm rot="5400000">
              <a:off x="5135437" y="635910"/>
              <a:ext cx="485775" cy="447675"/>
            </a:xfrm>
            <a:prstGeom prst="triangl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2000" dirty="0">
                <a:solidFill>
                  <a:schemeClr val="tx1"/>
                </a:solidFill>
                <a:latin typeface="Comic Sans MS" panose="030F0702030302020204" pitchFamily="66" charset="0"/>
              </a:endParaRPr>
            </a:p>
          </p:txBody>
        </p:sp>
        <p:sp>
          <p:nvSpPr>
            <p:cNvPr id="54" name="TextBox 53">
              <a:extLst>
                <a:ext uri="{FF2B5EF4-FFF2-40B4-BE49-F238E27FC236}">
                  <a16:creationId xmlns:a16="http://schemas.microsoft.com/office/drawing/2014/main" id="{167C7582-773B-45A8-ACCA-61CBB65CC5F9}"/>
                </a:ext>
              </a:extLst>
            </p:cNvPr>
            <p:cNvSpPr txBox="1"/>
            <p:nvPr/>
          </p:nvSpPr>
          <p:spPr>
            <a:xfrm>
              <a:off x="3891303" y="363703"/>
              <a:ext cx="1079559" cy="923330"/>
            </a:xfrm>
            <a:prstGeom prst="rect">
              <a:avLst/>
            </a:prstGeom>
            <a:solidFill>
              <a:schemeClr val="bg1">
                <a:lumMod val="65000"/>
              </a:schemeClr>
            </a:solidFill>
            <a:ln>
              <a:solidFill>
                <a:schemeClr val="bg1">
                  <a:lumMod val="65000"/>
                </a:schemeClr>
              </a:solidFill>
            </a:ln>
          </p:spPr>
          <p:txBody>
            <a:bodyPr wrap="square" rtlCol="0">
              <a:spAutoFit/>
            </a:bodyPr>
            <a:lstStyle/>
            <a:p>
              <a:pPr algn="ctr"/>
              <a:r>
                <a:rPr lang="en-US" sz="5400" dirty="0">
                  <a:latin typeface="Comic Sans MS" panose="030F0702030302020204" pitchFamily="66" charset="0"/>
                </a:rPr>
                <a:t>3</a:t>
              </a:r>
              <a:endParaRPr lang="el-GR" sz="5400" dirty="0">
                <a:latin typeface="Comic Sans MS" panose="030F0702030302020204" pitchFamily="66" charset="0"/>
              </a:endParaRPr>
            </a:p>
          </p:txBody>
        </p:sp>
      </p:grpSp>
      <p:grpSp>
        <p:nvGrpSpPr>
          <p:cNvPr id="99" name="Ομάδα 98">
            <a:extLst>
              <a:ext uri="{FF2B5EF4-FFF2-40B4-BE49-F238E27FC236}">
                <a16:creationId xmlns:a16="http://schemas.microsoft.com/office/drawing/2014/main" id="{824B590E-3167-45B1-8745-F11BFFF9DB70}"/>
              </a:ext>
            </a:extLst>
          </p:cNvPr>
          <p:cNvGrpSpPr/>
          <p:nvPr/>
        </p:nvGrpSpPr>
        <p:grpSpPr>
          <a:xfrm>
            <a:off x="1766797" y="-8792"/>
            <a:ext cx="2159501" cy="6858000"/>
            <a:chOff x="1773642" y="0"/>
            <a:chExt cx="2159501" cy="6858000"/>
          </a:xfrm>
          <a:solidFill>
            <a:schemeClr val="tx1">
              <a:lumMod val="50000"/>
              <a:lumOff val="50000"/>
            </a:schemeClr>
          </a:solidFill>
        </p:grpSpPr>
        <p:sp>
          <p:nvSpPr>
            <p:cNvPr id="39" name="Ορθογώνιο 38">
              <a:extLst>
                <a:ext uri="{FF2B5EF4-FFF2-40B4-BE49-F238E27FC236}">
                  <a16:creationId xmlns:a16="http://schemas.microsoft.com/office/drawing/2014/main" id="{FF929714-879D-4B81-9F46-0C7217F79088}"/>
                </a:ext>
              </a:extLst>
            </p:cNvPr>
            <p:cNvSpPr/>
            <p:nvPr/>
          </p:nvSpPr>
          <p:spPr>
            <a:xfrm>
              <a:off x="1773642" y="0"/>
              <a:ext cx="1741714" cy="6858000"/>
            </a:xfrm>
            <a:prstGeom prst="rect">
              <a:avLst/>
            </a:prstGeom>
            <a:grp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2000" b="1" kern="1800" dirty="0">
                  <a:solidFill>
                    <a:schemeClr val="tx1"/>
                  </a:solidFill>
                  <a:effectLst/>
                  <a:latin typeface="Comic Sans MS" panose="030F0702030302020204" pitchFamily="66" charset="0"/>
                  <a:ea typeface="Times New Roman" panose="02020603050405020304" pitchFamily="18" charset="0"/>
                  <a:cs typeface="Times New Roman" panose="02020603050405020304" pitchFamily="18" charset="0"/>
                </a:rPr>
                <a:t>The Pythagorean School</a:t>
              </a:r>
              <a:endParaRPr lang="el-GR"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7" name="Ισοσκελές τρίγωνο 46">
              <a:extLst>
                <a:ext uri="{FF2B5EF4-FFF2-40B4-BE49-F238E27FC236}">
                  <a16:creationId xmlns:a16="http://schemas.microsoft.com/office/drawing/2014/main" id="{C3494BA4-A055-4751-A886-D72D41E78322}"/>
                </a:ext>
              </a:extLst>
            </p:cNvPr>
            <p:cNvSpPr/>
            <p:nvPr/>
          </p:nvSpPr>
          <p:spPr>
            <a:xfrm rot="5400000">
              <a:off x="3466418" y="652462"/>
              <a:ext cx="485775" cy="447675"/>
            </a:xfrm>
            <a:prstGeom prst="triangle">
              <a:avLst/>
            </a:prstGeom>
            <a:grp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2000">
                <a:solidFill>
                  <a:schemeClr val="tx1"/>
                </a:solidFill>
                <a:latin typeface="Comic Sans MS" panose="030F0702030302020204" pitchFamily="66" charset="0"/>
              </a:endParaRPr>
            </a:p>
          </p:txBody>
        </p:sp>
        <p:sp>
          <p:nvSpPr>
            <p:cNvPr id="53" name="TextBox 52">
              <a:extLst>
                <a:ext uri="{FF2B5EF4-FFF2-40B4-BE49-F238E27FC236}">
                  <a16:creationId xmlns:a16="http://schemas.microsoft.com/office/drawing/2014/main" id="{6D408103-3535-464B-A232-79F8F19A51BB}"/>
                </a:ext>
              </a:extLst>
            </p:cNvPr>
            <p:cNvSpPr txBox="1"/>
            <p:nvPr/>
          </p:nvSpPr>
          <p:spPr>
            <a:xfrm>
              <a:off x="2149589" y="363703"/>
              <a:ext cx="1079559" cy="923330"/>
            </a:xfrm>
            <a:prstGeom prst="rect">
              <a:avLst/>
            </a:prstGeom>
            <a:grpFill/>
            <a:ln>
              <a:solidFill>
                <a:schemeClr val="tx1">
                  <a:lumMod val="50000"/>
                  <a:lumOff val="50000"/>
                </a:schemeClr>
              </a:solidFill>
            </a:ln>
          </p:spPr>
          <p:txBody>
            <a:bodyPr wrap="square" rtlCol="0">
              <a:spAutoFit/>
            </a:bodyPr>
            <a:lstStyle/>
            <a:p>
              <a:pPr algn="ctr"/>
              <a:r>
                <a:rPr lang="en-US" sz="5400" dirty="0">
                  <a:latin typeface="Comic Sans MS" panose="030F0702030302020204" pitchFamily="66" charset="0"/>
                </a:rPr>
                <a:t>2</a:t>
              </a:r>
              <a:endParaRPr lang="el-GR" sz="5400" dirty="0">
                <a:latin typeface="Comic Sans MS" panose="030F0702030302020204" pitchFamily="66" charset="0"/>
              </a:endParaRPr>
            </a:p>
          </p:txBody>
        </p:sp>
        <p:pic>
          <p:nvPicPr>
            <p:cNvPr id="75" name="Γραφικό 74" descr="Φιάλη με συμπαγές γέμισμα">
              <a:extLst>
                <a:ext uri="{FF2B5EF4-FFF2-40B4-BE49-F238E27FC236}">
                  <a16:creationId xmlns:a16="http://schemas.microsoft.com/office/drawing/2014/main" id="{745906EF-39C6-47A1-97B7-036FC7008A7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126346" y="4405971"/>
              <a:ext cx="914400" cy="914400"/>
            </a:xfrm>
            <a:prstGeom prst="rect">
              <a:avLst/>
            </a:prstGeom>
          </p:spPr>
        </p:pic>
      </p:grpSp>
      <p:grpSp>
        <p:nvGrpSpPr>
          <p:cNvPr id="100" name="Ομάδα 99">
            <a:extLst>
              <a:ext uri="{FF2B5EF4-FFF2-40B4-BE49-F238E27FC236}">
                <a16:creationId xmlns:a16="http://schemas.microsoft.com/office/drawing/2014/main" id="{80B78123-CE32-451B-9EB3-73401FFE1444}"/>
              </a:ext>
            </a:extLst>
          </p:cNvPr>
          <p:cNvGrpSpPr/>
          <p:nvPr/>
        </p:nvGrpSpPr>
        <p:grpSpPr>
          <a:xfrm>
            <a:off x="21492" y="0"/>
            <a:ext cx="2167751" cy="6858000"/>
            <a:chOff x="21637" y="0"/>
            <a:chExt cx="2167751" cy="6858000"/>
          </a:xfrm>
          <a:solidFill>
            <a:schemeClr val="tx1">
              <a:lumMod val="65000"/>
              <a:lumOff val="35000"/>
            </a:schemeClr>
          </a:solidFill>
        </p:grpSpPr>
        <p:sp>
          <p:nvSpPr>
            <p:cNvPr id="4" name="Ορθογώνιο 3">
              <a:extLst>
                <a:ext uri="{FF2B5EF4-FFF2-40B4-BE49-F238E27FC236}">
                  <a16:creationId xmlns:a16="http://schemas.microsoft.com/office/drawing/2014/main" id="{EF727DB9-8C97-4DD1-9E9C-BFB2FFC22B2C}"/>
                </a:ext>
              </a:extLst>
            </p:cNvPr>
            <p:cNvSpPr/>
            <p:nvPr/>
          </p:nvSpPr>
          <p:spPr>
            <a:xfrm>
              <a:off x="21637" y="0"/>
              <a:ext cx="1741714" cy="6858000"/>
            </a:xfrm>
            <a:prstGeom prst="rect">
              <a:avLst/>
            </a:prstGeom>
            <a:grp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2000" b="1" dirty="0">
                  <a:solidFill>
                    <a:schemeClr val="tx1"/>
                  </a:solidFill>
                  <a:latin typeface="Comic Sans MS" panose="030F0702030302020204" pitchFamily="66" charset="0"/>
                </a:rPr>
                <a:t>The Life of Pythagoras</a:t>
              </a:r>
              <a:endParaRPr lang="el-GR" sz="2000" b="1" dirty="0">
                <a:solidFill>
                  <a:schemeClr val="tx1"/>
                </a:solidFill>
                <a:effectLst/>
                <a:latin typeface="Comic Sans MS" panose="030F0702030302020204" pitchFamily="66" charset="0"/>
                <a:ea typeface="Calibri" panose="020F0502020204030204" pitchFamily="34" charset="0"/>
                <a:cs typeface="Times New Roman" panose="02020603050405020304" pitchFamily="18" charset="0"/>
              </a:endParaRPr>
            </a:p>
          </p:txBody>
        </p:sp>
        <p:sp>
          <p:nvSpPr>
            <p:cNvPr id="46" name="Ισοσκελές τρίγωνο 45">
              <a:extLst>
                <a:ext uri="{FF2B5EF4-FFF2-40B4-BE49-F238E27FC236}">
                  <a16:creationId xmlns:a16="http://schemas.microsoft.com/office/drawing/2014/main" id="{F19EEAFC-EE55-4D3C-A775-905AED0A763D}"/>
                </a:ext>
              </a:extLst>
            </p:cNvPr>
            <p:cNvSpPr/>
            <p:nvPr/>
          </p:nvSpPr>
          <p:spPr>
            <a:xfrm rot="5400000">
              <a:off x="1722663" y="647700"/>
              <a:ext cx="485775" cy="447675"/>
            </a:xfrm>
            <a:prstGeom prst="triangle">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2000">
                <a:solidFill>
                  <a:schemeClr val="tx1"/>
                </a:solidFill>
                <a:latin typeface="Comic Sans MS" panose="030F0702030302020204" pitchFamily="66" charset="0"/>
              </a:endParaRPr>
            </a:p>
          </p:txBody>
        </p:sp>
        <p:sp>
          <p:nvSpPr>
            <p:cNvPr id="52" name="TextBox 51">
              <a:extLst>
                <a:ext uri="{FF2B5EF4-FFF2-40B4-BE49-F238E27FC236}">
                  <a16:creationId xmlns:a16="http://schemas.microsoft.com/office/drawing/2014/main" id="{D8DD6961-CB56-4DB3-8BB9-7826A1CCF446}"/>
                </a:ext>
              </a:extLst>
            </p:cNvPr>
            <p:cNvSpPr txBox="1"/>
            <p:nvPr/>
          </p:nvSpPr>
          <p:spPr>
            <a:xfrm>
              <a:off x="419439" y="363703"/>
              <a:ext cx="1079559" cy="923330"/>
            </a:xfrm>
            <a:prstGeom prst="rect">
              <a:avLst/>
            </a:prstGeom>
            <a:grpFill/>
            <a:ln>
              <a:solidFill>
                <a:schemeClr val="tx1">
                  <a:lumMod val="65000"/>
                  <a:lumOff val="35000"/>
                </a:schemeClr>
              </a:solidFill>
            </a:ln>
          </p:spPr>
          <p:txBody>
            <a:bodyPr wrap="square" rtlCol="0">
              <a:spAutoFit/>
            </a:bodyPr>
            <a:lstStyle/>
            <a:p>
              <a:pPr algn="ctr"/>
              <a:r>
                <a:rPr lang="en-US" sz="5400" dirty="0">
                  <a:latin typeface="Comic Sans MS" panose="030F0702030302020204" pitchFamily="66" charset="0"/>
                </a:rPr>
                <a:t>1</a:t>
              </a:r>
              <a:endParaRPr lang="el-GR" sz="5400" dirty="0">
                <a:latin typeface="Comic Sans MS" panose="030F0702030302020204" pitchFamily="66" charset="0"/>
              </a:endParaRPr>
            </a:p>
          </p:txBody>
        </p:sp>
        <p:pic>
          <p:nvPicPr>
            <p:cNvPr id="67" name="Γραφικό 66" descr="Atom με συμπαγές γέμισμα">
              <a:extLst>
                <a:ext uri="{FF2B5EF4-FFF2-40B4-BE49-F238E27FC236}">
                  <a16:creationId xmlns:a16="http://schemas.microsoft.com/office/drawing/2014/main" id="{170FE952-E02F-46CD-997E-600CD466AC5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51301" y="4455745"/>
              <a:ext cx="914400" cy="914400"/>
            </a:xfrm>
            <a:prstGeom prst="rect">
              <a:avLst/>
            </a:prstGeom>
          </p:spPr>
        </p:pic>
      </p:grpSp>
      <p:sp>
        <p:nvSpPr>
          <p:cNvPr id="3" name="TextBox 2">
            <a:extLst>
              <a:ext uri="{FF2B5EF4-FFF2-40B4-BE49-F238E27FC236}">
                <a16:creationId xmlns:a16="http://schemas.microsoft.com/office/drawing/2014/main" id="{3A225526-51E6-408C-82FC-383D42A279E8}"/>
              </a:ext>
            </a:extLst>
          </p:cNvPr>
          <p:cNvSpPr txBox="1"/>
          <p:nvPr/>
        </p:nvSpPr>
        <p:spPr>
          <a:xfrm>
            <a:off x="3924501" y="4786815"/>
            <a:ext cx="952038" cy="584775"/>
          </a:xfrm>
          <a:prstGeom prst="rect">
            <a:avLst/>
          </a:prstGeom>
          <a:solidFill>
            <a:schemeClr val="bg1">
              <a:lumMod val="65000"/>
            </a:schemeClr>
          </a:solidFill>
        </p:spPr>
        <p:txBody>
          <a:bodyPr wrap="square" rtlCol="0">
            <a:spAutoFit/>
          </a:bodyPr>
          <a:lstStyle/>
          <a:p>
            <a:pPr algn="ctr"/>
            <a:r>
              <a:rPr lang="en-US" sz="3200" b="1" dirty="0">
                <a:ea typeface="Segoe UI Symbol" panose="020B0502040204020203" pitchFamily="34" charset="0"/>
              </a:rPr>
              <a:t>ℝ</a:t>
            </a:r>
            <a:endParaRPr lang="el-GR" sz="2500" b="1" dirty="0"/>
          </a:p>
        </p:txBody>
      </p:sp>
      <p:graphicFrame>
        <p:nvGraphicFramePr>
          <p:cNvPr id="5" name="Αντικείμενο 4">
            <a:extLst>
              <a:ext uri="{FF2B5EF4-FFF2-40B4-BE49-F238E27FC236}">
                <a16:creationId xmlns:a16="http://schemas.microsoft.com/office/drawing/2014/main" id="{0EB913F2-A4C8-4FA9-916A-D6E63FC94245}"/>
              </a:ext>
            </a:extLst>
          </p:cNvPr>
          <p:cNvGraphicFramePr>
            <a:graphicFrameLocks noChangeAspect="1"/>
          </p:cNvGraphicFramePr>
          <p:nvPr>
            <p:extLst>
              <p:ext uri="{D42A27DB-BD31-4B8C-83A1-F6EECF244321}">
                <p14:modId xmlns:p14="http://schemas.microsoft.com/office/powerpoint/2010/main" val="2716743002"/>
              </p:ext>
            </p:extLst>
          </p:nvPr>
        </p:nvGraphicFramePr>
        <p:xfrm>
          <a:off x="6521450" y="3343275"/>
          <a:ext cx="165100" cy="165100"/>
        </p:xfrm>
        <a:graphic>
          <a:graphicData uri="http://schemas.openxmlformats.org/presentationml/2006/ole">
            <mc:AlternateContent xmlns:mc="http://schemas.openxmlformats.org/markup-compatibility/2006">
              <mc:Choice xmlns:v="urn:schemas-microsoft-com:vml" Requires="v">
                <p:oleObj spid="_x0000_s1078" name="Equation" r:id="rId13" imgW="164880" imgH="164880" progId="Equation.DSMT4">
                  <p:embed/>
                </p:oleObj>
              </mc:Choice>
              <mc:Fallback>
                <p:oleObj name="Equation" r:id="rId13" imgW="164880" imgH="164880" progId="Equation.DSMT4">
                  <p:embed/>
                  <p:pic>
                    <p:nvPicPr>
                      <p:cNvPr id="0" name=""/>
                      <p:cNvPicPr/>
                      <p:nvPr/>
                    </p:nvPicPr>
                    <p:blipFill>
                      <a:blip r:embed="rId14"/>
                      <a:stretch>
                        <a:fillRect/>
                      </a:stretch>
                    </p:blipFill>
                    <p:spPr>
                      <a:xfrm>
                        <a:off x="6521450" y="3343275"/>
                        <a:ext cx="165100" cy="165100"/>
                      </a:xfrm>
                      <a:prstGeom prst="rect">
                        <a:avLst/>
                      </a:prstGeom>
                    </p:spPr>
                  </p:pic>
                </p:oleObj>
              </mc:Fallback>
            </mc:AlternateContent>
          </a:graphicData>
        </a:graphic>
      </p:graphicFrame>
      <p:sp>
        <p:nvSpPr>
          <p:cNvPr id="45" name="TextBox 44">
            <a:extLst>
              <a:ext uri="{FF2B5EF4-FFF2-40B4-BE49-F238E27FC236}">
                <a16:creationId xmlns:a16="http://schemas.microsoft.com/office/drawing/2014/main" id="{D62157A4-A660-4247-B94B-885051BD3F5B}"/>
              </a:ext>
            </a:extLst>
          </p:cNvPr>
          <p:cNvSpPr txBox="1"/>
          <p:nvPr/>
        </p:nvSpPr>
        <p:spPr>
          <a:xfrm>
            <a:off x="10749052" y="398082"/>
            <a:ext cx="1079559" cy="923330"/>
          </a:xfrm>
          <a:prstGeom prst="rect">
            <a:avLst/>
          </a:prstGeom>
          <a:noFill/>
          <a:ln>
            <a:noFill/>
          </a:ln>
        </p:spPr>
        <p:txBody>
          <a:bodyPr wrap="square" rtlCol="0">
            <a:spAutoFit/>
          </a:bodyPr>
          <a:lstStyle/>
          <a:p>
            <a:pPr algn="ctr"/>
            <a:r>
              <a:rPr lang="en-US" sz="5400" dirty="0">
                <a:latin typeface="Comic Sans MS" panose="030F0702030302020204" pitchFamily="66" charset="0"/>
              </a:rPr>
              <a:t>7</a:t>
            </a:r>
            <a:endParaRPr lang="el-GR" sz="5400" dirty="0">
              <a:latin typeface="Comic Sans MS" panose="030F0702030302020204" pitchFamily="66" charset="0"/>
            </a:endParaRPr>
          </a:p>
        </p:txBody>
      </p:sp>
    </p:spTree>
    <p:extLst>
      <p:ext uri="{BB962C8B-B14F-4D97-AF65-F5344CB8AC3E}">
        <p14:creationId xmlns:p14="http://schemas.microsoft.com/office/powerpoint/2010/main" val="3392456951"/>
      </p:ext>
    </p:extLst>
  </p:cSld>
  <p:clrMapOvr>
    <a:masterClrMapping/>
  </p:clrMapOvr>
  <mc:AlternateContent xmlns:mc="http://schemas.openxmlformats.org/markup-compatibility/2006" xmlns:p14="http://schemas.microsoft.com/office/powerpoint/2010/main">
    <mc:Choice Requires="p14">
      <p:transition spd="slow" p14:dur="1250" advClick="0" advTm="8000">
        <p14:switch dir="r"/>
      </p:transition>
    </mc:Choice>
    <mc:Fallback xmlns="">
      <p:transition spd="slow" advClick="0" advTm="8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65000">
              <a:srgbClr val="939393"/>
            </a:gs>
            <a:gs pos="0">
              <a:schemeClr val="bg1"/>
            </a:gs>
            <a:gs pos="100000">
              <a:schemeClr val="accent1">
                <a:lumMod val="60000"/>
                <a:lumOff val="40000"/>
              </a:schemeClr>
            </a:gs>
          </a:gsLst>
          <a:lin ang="2700000" scaled="1"/>
          <a:tileRect/>
        </a:gradFill>
        <a:effectLst/>
      </p:bgPr>
    </p:bg>
    <p:spTree>
      <p:nvGrpSpPr>
        <p:cNvPr id="1" name=""/>
        <p:cNvGrpSpPr/>
        <p:nvPr/>
      </p:nvGrpSpPr>
      <p:grpSpPr>
        <a:xfrm>
          <a:off x="0" y="0"/>
          <a:ext cx="0" cy="0"/>
          <a:chOff x="0" y="0"/>
          <a:chExt cx="0" cy="0"/>
        </a:xfrm>
      </p:grpSpPr>
      <p:sp useBgFill="1">
        <p:nvSpPr>
          <p:cNvPr id="59" name="TextBox 58">
            <a:extLst>
              <a:ext uri="{FF2B5EF4-FFF2-40B4-BE49-F238E27FC236}">
                <a16:creationId xmlns:a16="http://schemas.microsoft.com/office/drawing/2014/main" id="{F29574DF-FEB4-40D7-B94A-474D8EBA5D66}"/>
              </a:ext>
            </a:extLst>
          </p:cNvPr>
          <p:cNvSpPr txBox="1"/>
          <p:nvPr/>
        </p:nvSpPr>
        <p:spPr>
          <a:xfrm>
            <a:off x="3429000" y="3183446"/>
            <a:ext cx="8763000" cy="1107996"/>
          </a:xfrm>
          <a:prstGeom prst="rect">
            <a:avLst/>
          </a:prstGeom>
        </p:spPr>
        <p:txBody>
          <a:bodyPr wrap="square" rtlCol="0">
            <a:spAutoFit/>
          </a:bodyPr>
          <a:lstStyle/>
          <a:p>
            <a:pPr algn="ctr"/>
            <a:r>
              <a:rPr lang="en-US" sz="4400" dirty="0">
                <a:latin typeface="Comic Sans MS" panose="030F0702030302020204" pitchFamily="66" charset="0"/>
              </a:rPr>
              <a:t>by</a:t>
            </a:r>
            <a:r>
              <a:rPr lang="el-GR" sz="4800" dirty="0">
                <a:latin typeface="Comic Sans MS" panose="030F0702030302020204" pitchFamily="66" charset="0"/>
              </a:rPr>
              <a:t> </a:t>
            </a:r>
            <a:r>
              <a:rPr lang="en-US" sz="6600" dirty="0">
                <a:latin typeface="Comic Sans MS" panose="030F0702030302020204" pitchFamily="66" charset="0"/>
              </a:rPr>
              <a:t>Akis</a:t>
            </a:r>
            <a:r>
              <a:rPr lang="el-GR" sz="6600" dirty="0">
                <a:latin typeface="Comic Sans MS" panose="030F0702030302020204" pitchFamily="66" charset="0"/>
              </a:rPr>
              <a:t> </a:t>
            </a:r>
            <a:r>
              <a:rPr lang="en-US" sz="6600" dirty="0" err="1">
                <a:latin typeface="Comic Sans MS" panose="030F0702030302020204" pitchFamily="66" charset="0"/>
              </a:rPr>
              <a:t>Mouchtaroglou</a:t>
            </a:r>
            <a:endParaRPr lang="el-GR" sz="6600" dirty="0">
              <a:latin typeface="Comic Sans MS" panose="030F0702030302020204" pitchFamily="66" charset="0"/>
            </a:endParaRPr>
          </a:p>
        </p:txBody>
      </p:sp>
      <p:sp>
        <p:nvSpPr>
          <p:cNvPr id="109" name="TextBox 108">
            <a:extLst>
              <a:ext uri="{FF2B5EF4-FFF2-40B4-BE49-F238E27FC236}">
                <a16:creationId xmlns:a16="http://schemas.microsoft.com/office/drawing/2014/main" id="{0E508485-15FB-4D70-9F71-719CA8E5E058}"/>
              </a:ext>
            </a:extLst>
          </p:cNvPr>
          <p:cNvSpPr txBox="1"/>
          <p:nvPr/>
        </p:nvSpPr>
        <p:spPr>
          <a:xfrm>
            <a:off x="-697391" y="355006"/>
            <a:ext cx="1079559" cy="400110"/>
          </a:xfrm>
          <a:prstGeom prst="rect">
            <a:avLst/>
          </a:prstGeom>
          <a:noFill/>
        </p:spPr>
        <p:txBody>
          <a:bodyPr wrap="square" rtlCol="0">
            <a:spAutoFit/>
          </a:bodyPr>
          <a:lstStyle/>
          <a:p>
            <a:pPr algn="ctr"/>
            <a:r>
              <a:rPr lang="en-US" sz="2000" dirty="0">
                <a:latin typeface="Comic Sans MS" panose="030F0702030302020204" pitchFamily="66" charset="0"/>
              </a:rPr>
              <a:t> 7</a:t>
            </a:r>
            <a:endParaRPr lang="el-GR" sz="2000" dirty="0">
              <a:latin typeface="Comic Sans MS" panose="030F0702030302020204" pitchFamily="66" charset="0"/>
            </a:endParaRPr>
          </a:p>
        </p:txBody>
      </p:sp>
      <p:grpSp>
        <p:nvGrpSpPr>
          <p:cNvPr id="110" name="Ομάδα 109">
            <a:extLst>
              <a:ext uri="{FF2B5EF4-FFF2-40B4-BE49-F238E27FC236}">
                <a16:creationId xmlns:a16="http://schemas.microsoft.com/office/drawing/2014/main" id="{1F516EAF-3F68-4AF6-956A-4FDFCEA05708}"/>
              </a:ext>
            </a:extLst>
          </p:cNvPr>
          <p:cNvGrpSpPr/>
          <p:nvPr/>
        </p:nvGrpSpPr>
        <p:grpSpPr>
          <a:xfrm>
            <a:off x="-1180223" y="7364"/>
            <a:ext cx="2200293" cy="6858000"/>
            <a:chOff x="10469238" y="0"/>
            <a:chExt cx="2200293" cy="6858000"/>
          </a:xfrm>
        </p:grpSpPr>
        <p:sp>
          <p:nvSpPr>
            <p:cNvPr id="111" name="Ορθογώνιο 110">
              <a:extLst>
                <a:ext uri="{FF2B5EF4-FFF2-40B4-BE49-F238E27FC236}">
                  <a16:creationId xmlns:a16="http://schemas.microsoft.com/office/drawing/2014/main" id="{362E55F7-7531-4813-9699-5F3C3C4C1A98}"/>
                </a:ext>
              </a:extLst>
            </p:cNvPr>
            <p:cNvSpPr/>
            <p:nvPr/>
          </p:nvSpPr>
          <p:spPr>
            <a:xfrm>
              <a:off x="10469238" y="0"/>
              <a:ext cx="1741714"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2000" b="1" kern="1800" dirty="0">
                  <a:solidFill>
                    <a:schemeClr val="tx1"/>
                  </a:solidFill>
                  <a:effectLst/>
                  <a:latin typeface="Comic Sans MS" panose="030F0702030302020204" pitchFamily="66" charset="0"/>
                  <a:ea typeface="Times New Roman" panose="02020603050405020304" pitchFamily="18" charset="0"/>
                  <a:cs typeface="Times New Roman" panose="02020603050405020304" pitchFamily="18" charset="0"/>
                </a:rPr>
                <a:t>The Influence of Pythagoras</a:t>
              </a:r>
              <a:endParaRPr lang="el-GR"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2" name="Ισοσκελές τρίγωνο 111">
              <a:extLst>
                <a:ext uri="{FF2B5EF4-FFF2-40B4-BE49-F238E27FC236}">
                  <a16:creationId xmlns:a16="http://schemas.microsoft.com/office/drawing/2014/main" id="{FE0C2AF8-B23E-4CC0-A77C-107479F563B8}"/>
                </a:ext>
              </a:extLst>
            </p:cNvPr>
            <p:cNvSpPr/>
            <p:nvPr/>
          </p:nvSpPr>
          <p:spPr>
            <a:xfrm rot="5400000">
              <a:off x="12202806" y="639174"/>
              <a:ext cx="485775" cy="447675"/>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2000">
                <a:solidFill>
                  <a:schemeClr val="tx1"/>
                </a:solidFill>
                <a:latin typeface="Comic Sans MS" panose="030F0702030302020204" pitchFamily="66" charset="0"/>
              </a:endParaRPr>
            </a:p>
          </p:txBody>
        </p:sp>
        <p:pic>
          <p:nvPicPr>
            <p:cNvPr id="113" name="Γραφικό 112" descr="Εγκέφαλος με συμπαγές γέμισμα">
              <a:extLst>
                <a:ext uri="{FF2B5EF4-FFF2-40B4-BE49-F238E27FC236}">
                  <a16:creationId xmlns:a16="http://schemas.microsoft.com/office/drawing/2014/main" id="{2941B5EB-EF91-44FD-9F6A-37E13292FDC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31632" y="4464537"/>
              <a:ext cx="914400" cy="914400"/>
            </a:xfrm>
            <a:prstGeom prst="rect">
              <a:avLst/>
            </a:prstGeom>
          </p:spPr>
        </p:pic>
      </p:grpSp>
      <p:grpSp>
        <p:nvGrpSpPr>
          <p:cNvPr id="114" name="Ομάδα 113">
            <a:extLst>
              <a:ext uri="{FF2B5EF4-FFF2-40B4-BE49-F238E27FC236}">
                <a16:creationId xmlns:a16="http://schemas.microsoft.com/office/drawing/2014/main" id="{E4C2FDD3-62B4-4C75-8FB1-9C753D3DDC4A}"/>
              </a:ext>
            </a:extLst>
          </p:cNvPr>
          <p:cNvGrpSpPr/>
          <p:nvPr/>
        </p:nvGrpSpPr>
        <p:grpSpPr>
          <a:xfrm>
            <a:off x="-1287299" y="-8965"/>
            <a:ext cx="2204835" cy="6858000"/>
            <a:chOff x="8662850" y="0"/>
            <a:chExt cx="2204835" cy="6858000"/>
          </a:xfrm>
          <a:solidFill>
            <a:schemeClr val="bg1">
              <a:lumMod val="95000"/>
            </a:schemeClr>
          </a:solidFill>
        </p:grpSpPr>
        <p:sp>
          <p:nvSpPr>
            <p:cNvPr id="115" name="Ορθογώνιο 114">
              <a:extLst>
                <a:ext uri="{FF2B5EF4-FFF2-40B4-BE49-F238E27FC236}">
                  <a16:creationId xmlns:a16="http://schemas.microsoft.com/office/drawing/2014/main" id="{5DC7E2C2-9C76-484C-8A64-0BE2334E1958}"/>
                </a:ext>
              </a:extLst>
            </p:cNvPr>
            <p:cNvSpPr/>
            <p:nvPr/>
          </p:nvSpPr>
          <p:spPr>
            <a:xfrm>
              <a:off x="8662850" y="0"/>
              <a:ext cx="1741714" cy="6858000"/>
            </a:xfrm>
            <a:prstGeom prst="rect">
              <a:avLst/>
            </a:prstGeom>
            <a:grp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2000" b="1" kern="1800" dirty="0">
                  <a:solidFill>
                    <a:schemeClr val="tx1"/>
                  </a:solidFill>
                  <a:effectLst/>
                  <a:latin typeface="Comic Sans MS" panose="030F0702030302020204" pitchFamily="66" charset="0"/>
                  <a:ea typeface="Times New Roman" panose="02020603050405020304" pitchFamily="18" charset="0"/>
                  <a:cs typeface="Times New Roman" panose="02020603050405020304" pitchFamily="18" charset="0"/>
                </a:rPr>
                <a:t>The End of Pythagoras</a:t>
              </a:r>
              <a:endParaRPr lang="el-GR"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6" name="Ισοσκελές τρίγωνο 115">
              <a:extLst>
                <a:ext uri="{FF2B5EF4-FFF2-40B4-BE49-F238E27FC236}">
                  <a16:creationId xmlns:a16="http://schemas.microsoft.com/office/drawing/2014/main" id="{D2982B21-D770-4772-A951-25101E103267}"/>
                </a:ext>
              </a:extLst>
            </p:cNvPr>
            <p:cNvSpPr/>
            <p:nvPr/>
          </p:nvSpPr>
          <p:spPr>
            <a:xfrm rot="5400000">
              <a:off x="10400960" y="647698"/>
              <a:ext cx="485775" cy="447675"/>
            </a:xfrm>
            <a:prstGeom prst="triangle">
              <a:avLst/>
            </a:prstGeom>
            <a:grp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2000">
                <a:solidFill>
                  <a:schemeClr val="tx1"/>
                </a:solidFill>
                <a:latin typeface="Comic Sans MS" panose="030F0702030302020204" pitchFamily="66" charset="0"/>
              </a:endParaRPr>
            </a:p>
          </p:txBody>
        </p:sp>
        <p:sp>
          <p:nvSpPr>
            <p:cNvPr id="117" name="TextBox 116">
              <a:extLst>
                <a:ext uri="{FF2B5EF4-FFF2-40B4-BE49-F238E27FC236}">
                  <a16:creationId xmlns:a16="http://schemas.microsoft.com/office/drawing/2014/main" id="{AE49DEE4-2887-46D6-97A8-A9CC89480D8D}"/>
                </a:ext>
              </a:extLst>
            </p:cNvPr>
            <p:cNvSpPr txBox="1"/>
            <p:nvPr/>
          </p:nvSpPr>
          <p:spPr>
            <a:xfrm>
              <a:off x="9179374" y="363702"/>
              <a:ext cx="1079559" cy="923330"/>
            </a:xfrm>
            <a:prstGeom prst="rect">
              <a:avLst/>
            </a:prstGeom>
            <a:grpFill/>
            <a:ln>
              <a:solidFill>
                <a:srgbClr val="F3F6FB"/>
              </a:solidFill>
            </a:ln>
          </p:spPr>
          <p:txBody>
            <a:bodyPr wrap="square" rtlCol="0">
              <a:spAutoFit/>
            </a:bodyPr>
            <a:lstStyle/>
            <a:p>
              <a:pPr algn="ctr"/>
              <a:r>
                <a:rPr lang="en-US" sz="5400" dirty="0">
                  <a:latin typeface="Comic Sans MS" panose="030F0702030302020204" pitchFamily="66" charset="0"/>
                </a:rPr>
                <a:t>6</a:t>
              </a:r>
              <a:endParaRPr lang="el-GR" sz="5400" dirty="0">
                <a:latin typeface="Comic Sans MS" panose="030F0702030302020204" pitchFamily="66" charset="0"/>
              </a:endParaRPr>
            </a:p>
          </p:txBody>
        </p:sp>
        <p:pic>
          <p:nvPicPr>
            <p:cNvPr id="118" name="Γραφικό 117" descr="Νεκροκεφαλή με συμπαγές γέμισμα">
              <a:extLst>
                <a:ext uri="{FF2B5EF4-FFF2-40B4-BE49-F238E27FC236}">
                  <a16:creationId xmlns:a16="http://schemas.microsoft.com/office/drawing/2014/main" id="{9F41DB7D-4623-4970-9139-9368759CB0A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27849" y="4464537"/>
              <a:ext cx="914400" cy="914400"/>
            </a:xfrm>
            <a:prstGeom prst="rect">
              <a:avLst/>
            </a:prstGeom>
          </p:spPr>
        </p:pic>
      </p:grpSp>
      <p:grpSp>
        <p:nvGrpSpPr>
          <p:cNvPr id="119" name="Ομάδα 118">
            <a:extLst>
              <a:ext uri="{FF2B5EF4-FFF2-40B4-BE49-F238E27FC236}">
                <a16:creationId xmlns:a16="http://schemas.microsoft.com/office/drawing/2014/main" id="{80711F18-AC71-47D4-AD23-124692D4A784}"/>
              </a:ext>
            </a:extLst>
          </p:cNvPr>
          <p:cNvGrpSpPr/>
          <p:nvPr/>
        </p:nvGrpSpPr>
        <p:grpSpPr>
          <a:xfrm>
            <a:off x="-1402481" y="-3348"/>
            <a:ext cx="2200953" cy="6858000"/>
            <a:chOff x="6966857" y="0"/>
            <a:chExt cx="2200953" cy="6858000"/>
          </a:xfrm>
          <a:solidFill>
            <a:schemeClr val="bg1">
              <a:lumMod val="85000"/>
            </a:schemeClr>
          </a:solidFill>
        </p:grpSpPr>
        <p:sp>
          <p:nvSpPr>
            <p:cNvPr id="120" name="Ορθογώνιο 119">
              <a:extLst>
                <a:ext uri="{FF2B5EF4-FFF2-40B4-BE49-F238E27FC236}">
                  <a16:creationId xmlns:a16="http://schemas.microsoft.com/office/drawing/2014/main" id="{625F3CE3-E95D-45C5-B5B8-273B9928AECD}"/>
                </a:ext>
              </a:extLst>
            </p:cNvPr>
            <p:cNvSpPr/>
            <p:nvPr/>
          </p:nvSpPr>
          <p:spPr>
            <a:xfrm>
              <a:off x="6966857" y="0"/>
              <a:ext cx="1741714" cy="6858000"/>
            </a:xfrm>
            <a:prstGeom prst="rect">
              <a:avLst/>
            </a:prstGeom>
            <a:grp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2000" b="1" kern="1800" dirty="0">
                  <a:solidFill>
                    <a:schemeClr val="tx1"/>
                  </a:solidFill>
                  <a:effectLst/>
                  <a:latin typeface="Comic Sans MS" panose="030F0702030302020204" pitchFamily="66" charset="0"/>
                  <a:ea typeface="Times New Roman" panose="02020603050405020304" pitchFamily="18" charset="0"/>
                  <a:cs typeface="Times New Roman" panose="02020603050405020304" pitchFamily="18" charset="0"/>
                </a:rPr>
                <a:t>Music and Mathematics</a:t>
              </a:r>
              <a:endParaRPr lang="el-GR"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1" name="Ισοσκελές τρίγωνο 120">
              <a:extLst>
                <a:ext uri="{FF2B5EF4-FFF2-40B4-BE49-F238E27FC236}">
                  <a16:creationId xmlns:a16="http://schemas.microsoft.com/office/drawing/2014/main" id="{60C20DE1-7C34-4909-8C3D-B28EC533AF66}"/>
                </a:ext>
              </a:extLst>
            </p:cNvPr>
            <p:cNvSpPr/>
            <p:nvPr/>
          </p:nvSpPr>
          <p:spPr>
            <a:xfrm rot="5400000">
              <a:off x="8701085" y="647698"/>
              <a:ext cx="485775" cy="447675"/>
            </a:xfrm>
            <a:prstGeom prst="triangle">
              <a:avLst/>
            </a:prstGeom>
            <a:grp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2000">
                <a:solidFill>
                  <a:schemeClr val="tx1"/>
                </a:solidFill>
                <a:latin typeface="Comic Sans MS" panose="030F0702030302020204" pitchFamily="66" charset="0"/>
              </a:endParaRPr>
            </a:p>
          </p:txBody>
        </p:sp>
        <p:sp>
          <p:nvSpPr>
            <p:cNvPr id="122" name="TextBox 121">
              <a:extLst>
                <a:ext uri="{FF2B5EF4-FFF2-40B4-BE49-F238E27FC236}">
                  <a16:creationId xmlns:a16="http://schemas.microsoft.com/office/drawing/2014/main" id="{97289CCD-A7F2-410B-AC0F-A97B7906519F}"/>
                </a:ext>
              </a:extLst>
            </p:cNvPr>
            <p:cNvSpPr txBox="1"/>
            <p:nvPr/>
          </p:nvSpPr>
          <p:spPr>
            <a:xfrm>
              <a:off x="7384256" y="363703"/>
              <a:ext cx="1079559" cy="923330"/>
            </a:xfrm>
            <a:prstGeom prst="rect">
              <a:avLst/>
            </a:prstGeom>
            <a:grpFill/>
            <a:ln>
              <a:solidFill>
                <a:schemeClr val="bg1">
                  <a:lumMod val="85000"/>
                </a:schemeClr>
              </a:solidFill>
            </a:ln>
          </p:spPr>
          <p:txBody>
            <a:bodyPr wrap="square" rtlCol="0">
              <a:spAutoFit/>
            </a:bodyPr>
            <a:lstStyle/>
            <a:p>
              <a:pPr algn="ctr"/>
              <a:r>
                <a:rPr lang="en-US" sz="5400" dirty="0">
                  <a:latin typeface="Comic Sans MS" panose="030F0702030302020204" pitchFamily="66" charset="0"/>
                </a:rPr>
                <a:t>5</a:t>
              </a:r>
              <a:endParaRPr lang="el-GR" sz="5400" dirty="0">
                <a:latin typeface="Comic Sans MS" panose="030F0702030302020204" pitchFamily="66" charset="0"/>
              </a:endParaRPr>
            </a:p>
          </p:txBody>
        </p:sp>
        <p:pic>
          <p:nvPicPr>
            <p:cNvPr id="123" name="Γραφικό 122" descr="Μουσική με συμπαγές γέμισμα">
              <a:extLst>
                <a:ext uri="{FF2B5EF4-FFF2-40B4-BE49-F238E27FC236}">
                  <a16:creationId xmlns:a16="http://schemas.microsoft.com/office/drawing/2014/main" id="{C8F4F90C-E778-4091-9DEF-1FFFEC2A7D6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336971" y="4464537"/>
              <a:ext cx="914400" cy="914400"/>
            </a:xfrm>
            <a:prstGeom prst="rect">
              <a:avLst/>
            </a:prstGeom>
          </p:spPr>
        </p:pic>
      </p:grpSp>
      <p:grpSp>
        <p:nvGrpSpPr>
          <p:cNvPr id="124" name="Ομάδα 123">
            <a:extLst>
              <a:ext uri="{FF2B5EF4-FFF2-40B4-BE49-F238E27FC236}">
                <a16:creationId xmlns:a16="http://schemas.microsoft.com/office/drawing/2014/main" id="{71B28095-6118-4D48-8402-1B67DD8A253D}"/>
              </a:ext>
            </a:extLst>
          </p:cNvPr>
          <p:cNvGrpSpPr/>
          <p:nvPr/>
        </p:nvGrpSpPr>
        <p:grpSpPr>
          <a:xfrm>
            <a:off x="-1590325" y="-173"/>
            <a:ext cx="2267765" cy="6858000"/>
            <a:chOff x="5135203" y="0"/>
            <a:chExt cx="2267765" cy="6858000"/>
          </a:xfrm>
          <a:solidFill>
            <a:schemeClr val="bg1">
              <a:lumMod val="75000"/>
            </a:schemeClr>
          </a:solidFill>
        </p:grpSpPr>
        <p:sp>
          <p:nvSpPr>
            <p:cNvPr id="125" name="Ορθογώνιο 124">
              <a:extLst>
                <a:ext uri="{FF2B5EF4-FFF2-40B4-BE49-F238E27FC236}">
                  <a16:creationId xmlns:a16="http://schemas.microsoft.com/office/drawing/2014/main" id="{4C699FAE-E577-4633-BAA8-677B5647AEB4}"/>
                </a:ext>
              </a:extLst>
            </p:cNvPr>
            <p:cNvSpPr/>
            <p:nvPr/>
          </p:nvSpPr>
          <p:spPr>
            <a:xfrm>
              <a:off x="5225143" y="0"/>
              <a:ext cx="1741714" cy="6858000"/>
            </a:xfrm>
            <a:prstGeom prst="rect">
              <a:avLst/>
            </a:prstGeom>
            <a:grp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2000" b="1" kern="1800" dirty="0">
                  <a:solidFill>
                    <a:schemeClr val="tx1"/>
                  </a:solidFill>
                  <a:effectLst/>
                  <a:latin typeface="Comic Sans MS" panose="030F0702030302020204" pitchFamily="66" charset="0"/>
                  <a:ea typeface="Times New Roman" panose="02020603050405020304" pitchFamily="18" charset="0"/>
                  <a:cs typeface="Times New Roman" panose="02020603050405020304" pitchFamily="18" charset="0"/>
                </a:rPr>
                <a:t>The Pythagorean Theorem</a:t>
              </a:r>
              <a:endParaRPr lang="el-GR"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6" name="Ισοσκελές τρίγωνο 125">
              <a:extLst>
                <a:ext uri="{FF2B5EF4-FFF2-40B4-BE49-F238E27FC236}">
                  <a16:creationId xmlns:a16="http://schemas.microsoft.com/office/drawing/2014/main" id="{2D4D372D-67D7-4EAA-A1D7-4273281829B0}"/>
                </a:ext>
              </a:extLst>
            </p:cNvPr>
            <p:cNvSpPr/>
            <p:nvPr/>
          </p:nvSpPr>
          <p:spPr>
            <a:xfrm rot="5400000">
              <a:off x="6936243" y="647699"/>
              <a:ext cx="485775" cy="447675"/>
            </a:xfrm>
            <a:prstGeom prst="triangle">
              <a:avLst/>
            </a:prstGeom>
            <a:grp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2000">
                <a:solidFill>
                  <a:schemeClr val="tx1"/>
                </a:solidFill>
                <a:latin typeface="Comic Sans MS" panose="030F0702030302020204" pitchFamily="66" charset="0"/>
              </a:endParaRPr>
            </a:p>
          </p:txBody>
        </p:sp>
        <p:sp>
          <p:nvSpPr>
            <p:cNvPr id="127" name="TextBox 126">
              <a:extLst>
                <a:ext uri="{FF2B5EF4-FFF2-40B4-BE49-F238E27FC236}">
                  <a16:creationId xmlns:a16="http://schemas.microsoft.com/office/drawing/2014/main" id="{5120D0DA-145B-4A7D-9B69-8447FA6FDB46}"/>
                </a:ext>
              </a:extLst>
            </p:cNvPr>
            <p:cNvSpPr txBox="1"/>
            <p:nvPr/>
          </p:nvSpPr>
          <p:spPr>
            <a:xfrm>
              <a:off x="5615620" y="363703"/>
              <a:ext cx="1079559" cy="923330"/>
            </a:xfrm>
            <a:prstGeom prst="rect">
              <a:avLst/>
            </a:prstGeom>
            <a:grpFill/>
            <a:ln>
              <a:solidFill>
                <a:schemeClr val="bg1">
                  <a:lumMod val="75000"/>
                </a:schemeClr>
              </a:solidFill>
            </a:ln>
          </p:spPr>
          <p:txBody>
            <a:bodyPr wrap="square" rtlCol="0">
              <a:spAutoFit/>
            </a:bodyPr>
            <a:lstStyle/>
            <a:p>
              <a:pPr algn="ctr"/>
              <a:r>
                <a:rPr lang="en-US" sz="5400" dirty="0">
                  <a:latin typeface="Comic Sans MS" panose="030F0702030302020204" pitchFamily="66" charset="0"/>
                </a:rPr>
                <a:t>4</a:t>
              </a:r>
              <a:endParaRPr lang="el-GR" sz="5400" dirty="0">
                <a:latin typeface="Comic Sans MS" panose="030F0702030302020204" pitchFamily="66" charset="0"/>
              </a:endParaRPr>
            </a:p>
          </p:txBody>
        </p:sp>
        <p:sp>
          <p:nvSpPr>
            <p:cNvPr id="128" name="TextBox 127">
              <a:extLst>
                <a:ext uri="{FF2B5EF4-FFF2-40B4-BE49-F238E27FC236}">
                  <a16:creationId xmlns:a16="http://schemas.microsoft.com/office/drawing/2014/main" id="{2A82883B-0521-4FA6-8D53-EB5EA6A08C86}"/>
                </a:ext>
              </a:extLst>
            </p:cNvPr>
            <p:cNvSpPr txBox="1"/>
            <p:nvPr/>
          </p:nvSpPr>
          <p:spPr>
            <a:xfrm>
              <a:off x="5135203" y="4743576"/>
              <a:ext cx="1810179" cy="400110"/>
            </a:xfrm>
            <a:prstGeom prst="rect">
              <a:avLst/>
            </a:prstGeom>
            <a:grpFill/>
            <a:ln>
              <a:solidFill>
                <a:schemeClr val="bg1">
                  <a:lumMod val="75000"/>
                </a:schemeClr>
              </a:solidFill>
            </a:ln>
          </p:spPr>
          <p:txBody>
            <a:bodyPr wrap="square">
              <a:spAutoFit/>
            </a:bodyPr>
            <a:lstStyle/>
            <a:p>
              <a:pPr algn="ctr"/>
              <a:r>
                <a:rPr lang="el-GR" sz="2000" b="1" dirty="0">
                  <a:latin typeface="Comic Sans MS" panose="030F0702030302020204" pitchFamily="66" charset="0"/>
                </a:rPr>
                <a:t>α</a:t>
              </a:r>
              <a:r>
                <a:rPr lang="el-GR" sz="2000" b="1" baseline="30000" dirty="0">
                  <a:latin typeface="Comic Sans MS" panose="030F0702030302020204" pitchFamily="66" charset="0"/>
                </a:rPr>
                <a:t>2</a:t>
              </a:r>
              <a:r>
                <a:rPr lang="el-GR" sz="2000" b="1" dirty="0">
                  <a:latin typeface="Comic Sans MS" panose="030F0702030302020204" pitchFamily="66" charset="0"/>
                </a:rPr>
                <a:t>+</a:t>
              </a:r>
              <a:r>
                <a:rPr lang="en-US" sz="2000" b="1" dirty="0">
                  <a:latin typeface="Comic Sans MS" panose="030F0702030302020204" pitchFamily="66" charset="0"/>
                </a:rPr>
                <a:t>b</a:t>
              </a:r>
              <a:r>
                <a:rPr lang="el-GR" sz="2000" b="1" baseline="30000" dirty="0">
                  <a:latin typeface="Comic Sans MS" panose="030F0702030302020204" pitchFamily="66" charset="0"/>
                </a:rPr>
                <a:t>2</a:t>
              </a:r>
              <a:r>
                <a:rPr lang="el-GR" sz="2000" b="1" dirty="0">
                  <a:latin typeface="Comic Sans MS" panose="030F0702030302020204" pitchFamily="66" charset="0"/>
                </a:rPr>
                <a:t>=</a:t>
              </a:r>
              <a:r>
                <a:rPr lang="en-US" sz="2000" b="1" dirty="0">
                  <a:latin typeface="Comic Sans MS" panose="030F0702030302020204" pitchFamily="66" charset="0"/>
                </a:rPr>
                <a:t>c</a:t>
              </a:r>
              <a:r>
                <a:rPr lang="el-GR" sz="2000" b="1" baseline="30000" dirty="0">
                  <a:latin typeface="Comic Sans MS" panose="030F0702030302020204" pitchFamily="66" charset="0"/>
                </a:rPr>
                <a:t>2</a:t>
              </a:r>
              <a:endParaRPr lang="en-US" sz="2000" b="1" dirty="0">
                <a:effectLst/>
                <a:latin typeface="Comic Sans MS" panose="030F0702030302020204" pitchFamily="66" charset="0"/>
              </a:endParaRPr>
            </a:p>
          </p:txBody>
        </p:sp>
      </p:grpSp>
      <p:grpSp>
        <p:nvGrpSpPr>
          <p:cNvPr id="129" name="Ομάδα 128">
            <a:extLst>
              <a:ext uri="{FF2B5EF4-FFF2-40B4-BE49-F238E27FC236}">
                <a16:creationId xmlns:a16="http://schemas.microsoft.com/office/drawing/2014/main" id="{74615910-1728-4912-9E45-F6FB0390843F}"/>
              </a:ext>
            </a:extLst>
          </p:cNvPr>
          <p:cNvGrpSpPr/>
          <p:nvPr/>
        </p:nvGrpSpPr>
        <p:grpSpPr>
          <a:xfrm>
            <a:off x="-1639188" y="-173"/>
            <a:ext cx="2171182" cy="6858000"/>
            <a:chOff x="3430980" y="0"/>
            <a:chExt cx="2171182" cy="6858000"/>
          </a:xfrm>
          <a:solidFill>
            <a:srgbClr val="84A2D8"/>
          </a:solidFill>
        </p:grpSpPr>
        <p:sp>
          <p:nvSpPr>
            <p:cNvPr id="130" name="Ορθογώνιο 129">
              <a:extLst>
                <a:ext uri="{FF2B5EF4-FFF2-40B4-BE49-F238E27FC236}">
                  <a16:creationId xmlns:a16="http://schemas.microsoft.com/office/drawing/2014/main" id="{4B956699-70DD-46CE-BDCB-F8E63FF27351}"/>
                </a:ext>
              </a:extLst>
            </p:cNvPr>
            <p:cNvSpPr/>
            <p:nvPr/>
          </p:nvSpPr>
          <p:spPr>
            <a:xfrm>
              <a:off x="3430980" y="0"/>
              <a:ext cx="1741714" cy="6858000"/>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l-GR" sz="2000" b="1" dirty="0">
                  <a:solidFill>
                    <a:schemeClr val="tx1"/>
                  </a:solidFill>
                  <a:effectLst/>
                  <a:latin typeface="Comic Sans MS" panose="030F0702030302020204" pitchFamily="66" charset="0"/>
                  <a:ea typeface="Calibri" panose="020F0502020204030204" pitchFamily="34" charset="0"/>
                  <a:cs typeface="Times New Roman" panose="02020603050405020304" pitchFamily="18" charset="0"/>
                </a:rPr>
                <a:t>«</a:t>
              </a:r>
              <a:r>
                <a:rPr lang="en-US" sz="2000" b="1" kern="1800" dirty="0">
                  <a:solidFill>
                    <a:schemeClr val="tx1"/>
                  </a:solidFill>
                  <a:effectLst/>
                  <a:latin typeface="Comic Sans MS" panose="030F0702030302020204" pitchFamily="66" charset="0"/>
                  <a:ea typeface="Times New Roman" panose="02020603050405020304" pitchFamily="18" charset="0"/>
                  <a:cs typeface="Times New Roman" panose="02020603050405020304" pitchFamily="18" charset="0"/>
                </a:rPr>
                <a:t>Everything is Number</a:t>
              </a:r>
              <a:r>
                <a:rPr lang="el-GR" sz="2000" b="1" dirty="0">
                  <a:solidFill>
                    <a:schemeClr val="tx1"/>
                  </a:solidFill>
                  <a:effectLst/>
                  <a:latin typeface="Comic Sans MS" panose="030F0702030302020204" pitchFamily="66" charset="0"/>
                  <a:ea typeface="Calibri" panose="020F0502020204030204" pitchFamily="34" charset="0"/>
                  <a:cs typeface="Times New Roman" panose="02020603050405020304" pitchFamily="18" charset="0"/>
                </a:rPr>
                <a:t>»</a:t>
              </a:r>
            </a:p>
          </p:txBody>
        </p:sp>
        <p:sp>
          <p:nvSpPr>
            <p:cNvPr id="131" name="Ισοσκελές τρίγωνο 130">
              <a:extLst>
                <a:ext uri="{FF2B5EF4-FFF2-40B4-BE49-F238E27FC236}">
                  <a16:creationId xmlns:a16="http://schemas.microsoft.com/office/drawing/2014/main" id="{8FC2587A-A3C1-4C74-BF4F-50F07F98EEC6}"/>
                </a:ext>
              </a:extLst>
            </p:cNvPr>
            <p:cNvSpPr/>
            <p:nvPr/>
          </p:nvSpPr>
          <p:spPr>
            <a:xfrm rot="5400000">
              <a:off x="5135437" y="635910"/>
              <a:ext cx="485775" cy="447675"/>
            </a:xfrm>
            <a:prstGeom prst="triangl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2000" dirty="0">
                <a:solidFill>
                  <a:schemeClr val="tx1"/>
                </a:solidFill>
                <a:latin typeface="Comic Sans MS" panose="030F0702030302020204" pitchFamily="66" charset="0"/>
              </a:endParaRPr>
            </a:p>
          </p:txBody>
        </p:sp>
        <p:sp>
          <p:nvSpPr>
            <p:cNvPr id="132" name="TextBox 131">
              <a:extLst>
                <a:ext uri="{FF2B5EF4-FFF2-40B4-BE49-F238E27FC236}">
                  <a16:creationId xmlns:a16="http://schemas.microsoft.com/office/drawing/2014/main" id="{322C81B5-3377-41BC-9A36-4D04DE214C45}"/>
                </a:ext>
              </a:extLst>
            </p:cNvPr>
            <p:cNvSpPr txBox="1"/>
            <p:nvPr/>
          </p:nvSpPr>
          <p:spPr>
            <a:xfrm>
              <a:off x="3891303" y="363703"/>
              <a:ext cx="1079559" cy="923330"/>
            </a:xfrm>
            <a:prstGeom prst="rect">
              <a:avLst/>
            </a:prstGeom>
            <a:solidFill>
              <a:schemeClr val="bg1">
                <a:lumMod val="65000"/>
              </a:schemeClr>
            </a:solidFill>
            <a:ln>
              <a:solidFill>
                <a:schemeClr val="bg1">
                  <a:lumMod val="65000"/>
                </a:schemeClr>
              </a:solidFill>
            </a:ln>
          </p:spPr>
          <p:txBody>
            <a:bodyPr wrap="square" rtlCol="0">
              <a:spAutoFit/>
            </a:bodyPr>
            <a:lstStyle/>
            <a:p>
              <a:pPr algn="ctr"/>
              <a:r>
                <a:rPr lang="en-US" sz="5400" dirty="0">
                  <a:latin typeface="Comic Sans MS" panose="030F0702030302020204" pitchFamily="66" charset="0"/>
                </a:rPr>
                <a:t>3</a:t>
              </a:r>
              <a:endParaRPr lang="el-GR" sz="5400" dirty="0">
                <a:latin typeface="Comic Sans MS" panose="030F0702030302020204" pitchFamily="66" charset="0"/>
              </a:endParaRPr>
            </a:p>
          </p:txBody>
        </p:sp>
      </p:grpSp>
      <p:grpSp>
        <p:nvGrpSpPr>
          <p:cNvPr id="133" name="Ομάδα 132">
            <a:extLst>
              <a:ext uri="{FF2B5EF4-FFF2-40B4-BE49-F238E27FC236}">
                <a16:creationId xmlns:a16="http://schemas.microsoft.com/office/drawing/2014/main" id="{B6126525-17B7-43F7-939E-51825F89B795}"/>
              </a:ext>
            </a:extLst>
          </p:cNvPr>
          <p:cNvGrpSpPr/>
          <p:nvPr/>
        </p:nvGrpSpPr>
        <p:grpSpPr>
          <a:xfrm>
            <a:off x="-1619215" y="-173"/>
            <a:ext cx="2159501" cy="6858000"/>
            <a:chOff x="1773642" y="0"/>
            <a:chExt cx="2159501" cy="6858000"/>
          </a:xfrm>
          <a:solidFill>
            <a:schemeClr val="tx1">
              <a:lumMod val="50000"/>
              <a:lumOff val="50000"/>
            </a:schemeClr>
          </a:solidFill>
        </p:grpSpPr>
        <p:sp>
          <p:nvSpPr>
            <p:cNvPr id="134" name="Ορθογώνιο 133">
              <a:extLst>
                <a:ext uri="{FF2B5EF4-FFF2-40B4-BE49-F238E27FC236}">
                  <a16:creationId xmlns:a16="http://schemas.microsoft.com/office/drawing/2014/main" id="{89A18572-2421-406B-A855-BCC2E8014500}"/>
                </a:ext>
              </a:extLst>
            </p:cNvPr>
            <p:cNvSpPr/>
            <p:nvPr/>
          </p:nvSpPr>
          <p:spPr>
            <a:xfrm>
              <a:off x="1773642" y="0"/>
              <a:ext cx="1741714" cy="6858000"/>
            </a:xfrm>
            <a:prstGeom prst="rect">
              <a:avLst/>
            </a:prstGeom>
            <a:grp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2000" b="1" kern="1800" dirty="0">
                  <a:solidFill>
                    <a:schemeClr val="tx1"/>
                  </a:solidFill>
                  <a:effectLst/>
                  <a:latin typeface="Comic Sans MS" panose="030F0702030302020204" pitchFamily="66" charset="0"/>
                  <a:ea typeface="Times New Roman" panose="02020603050405020304" pitchFamily="18" charset="0"/>
                  <a:cs typeface="Times New Roman" panose="02020603050405020304" pitchFamily="18" charset="0"/>
                </a:rPr>
                <a:t>The Pythagorean School</a:t>
              </a:r>
              <a:endParaRPr lang="el-GR"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5" name="Ισοσκελές τρίγωνο 134">
              <a:extLst>
                <a:ext uri="{FF2B5EF4-FFF2-40B4-BE49-F238E27FC236}">
                  <a16:creationId xmlns:a16="http://schemas.microsoft.com/office/drawing/2014/main" id="{7D6743CF-612A-4347-8F33-F453F73D6D8D}"/>
                </a:ext>
              </a:extLst>
            </p:cNvPr>
            <p:cNvSpPr/>
            <p:nvPr/>
          </p:nvSpPr>
          <p:spPr>
            <a:xfrm rot="5400000">
              <a:off x="3466418" y="652462"/>
              <a:ext cx="485775" cy="447675"/>
            </a:xfrm>
            <a:prstGeom prst="triangle">
              <a:avLst/>
            </a:prstGeom>
            <a:grp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2000">
                <a:solidFill>
                  <a:schemeClr val="tx1"/>
                </a:solidFill>
                <a:latin typeface="Comic Sans MS" panose="030F0702030302020204" pitchFamily="66" charset="0"/>
              </a:endParaRPr>
            </a:p>
          </p:txBody>
        </p:sp>
        <p:sp>
          <p:nvSpPr>
            <p:cNvPr id="136" name="TextBox 135">
              <a:extLst>
                <a:ext uri="{FF2B5EF4-FFF2-40B4-BE49-F238E27FC236}">
                  <a16:creationId xmlns:a16="http://schemas.microsoft.com/office/drawing/2014/main" id="{905616B2-CCAE-424F-A2CF-8F9C5C27662C}"/>
                </a:ext>
              </a:extLst>
            </p:cNvPr>
            <p:cNvSpPr txBox="1"/>
            <p:nvPr/>
          </p:nvSpPr>
          <p:spPr>
            <a:xfrm>
              <a:off x="2149589" y="363703"/>
              <a:ext cx="1079559" cy="923330"/>
            </a:xfrm>
            <a:prstGeom prst="rect">
              <a:avLst/>
            </a:prstGeom>
            <a:grpFill/>
            <a:ln>
              <a:solidFill>
                <a:schemeClr val="tx1">
                  <a:lumMod val="50000"/>
                  <a:lumOff val="50000"/>
                </a:schemeClr>
              </a:solidFill>
            </a:ln>
          </p:spPr>
          <p:txBody>
            <a:bodyPr wrap="square" rtlCol="0">
              <a:spAutoFit/>
            </a:bodyPr>
            <a:lstStyle/>
            <a:p>
              <a:pPr algn="ctr"/>
              <a:r>
                <a:rPr lang="en-US" sz="5400" dirty="0">
                  <a:latin typeface="Comic Sans MS" panose="030F0702030302020204" pitchFamily="66" charset="0"/>
                </a:rPr>
                <a:t>2</a:t>
              </a:r>
              <a:endParaRPr lang="el-GR" sz="5400" dirty="0">
                <a:latin typeface="Comic Sans MS" panose="030F0702030302020204" pitchFamily="66" charset="0"/>
              </a:endParaRPr>
            </a:p>
          </p:txBody>
        </p:sp>
        <p:pic>
          <p:nvPicPr>
            <p:cNvPr id="137" name="Γραφικό 136" descr="Φιάλη με συμπαγές γέμισμα">
              <a:extLst>
                <a:ext uri="{FF2B5EF4-FFF2-40B4-BE49-F238E27FC236}">
                  <a16:creationId xmlns:a16="http://schemas.microsoft.com/office/drawing/2014/main" id="{3460D474-5CC4-4CBB-9BD6-78A90A2A676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127905" y="4318738"/>
              <a:ext cx="914400" cy="914400"/>
            </a:xfrm>
            <a:prstGeom prst="rect">
              <a:avLst/>
            </a:prstGeom>
          </p:spPr>
        </p:pic>
      </p:grpSp>
      <p:grpSp>
        <p:nvGrpSpPr>
          <p:cNvPr id="138" name="Ομάδα 137">
            <a:extLst>
              <a:ext uri="{FF2B5EF4-FFF2-40B4-BE49-F238E27FC236}">
                <a16:creationId xmlns:a16="http://schemas.microsoft.com/office/drawing/2014/main" id="{BB201C4B-CBE8-40F7-B6E0-33157DB77692}"/>
              </a:ext>
            </a:extLst>
          </p:cNvPr>
          <p:cNvGrpSpPr/>
          <p:nvPr/>
        </p:nvGrpSpPr>
        <p:grpSpPr>
          <a:xfrm>
            <a:off x="-1764241" y="-173"/>
            <a:ext cx="2167751" cy="6858000"/>
            <a:chOff x="21637" y="0"/>
            <a:chExt cx="2167751" cy="6858000"/>
          </a:xfrm>
          <a:solidFill>
            <a:schemeClr val="tx1">
              <a:lumMod val="65000"/>
              <a:lumOff val="35000"/>
            </a:schemeClr>
          </a:solidFill>
        </p:grpSpPr>
        <p:sp>
          <p:nvSpPr>
            <p:cNvPr id="139" name="Ορθογώνιο 138">
              <a:extLst>
                <a:ext uri="{FF2B5EF4-FFF2-40B4-BE49-F238E27FC236}">
                  <a16:creationId xmlns:a16="http://schemas.microsoft.com/office/drawing/2014/main" id="{43252334-82B0-49F6-AFE9-F3F800907A6D}"/>
                </a:ext>
              </a:extLst>
            </p:cNvPr>
            <p:cNvSpPr/>
            <p:nvPr/>
          </p:nvSpPr>
          <p:spPr>
            <a:xfrm>
              <a:off x="21637" y="0"/>
              <a:ext cx="1741714" cy="6858000"/>
            </a:xfrm>
            <a:prstGeom prst="rect">
              <a:avLst/>
            </a:prstGeom>
            <a:grp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2000" b="1" dirty="0">
                  <a:solidFill>
                    <a:schemeClr val="tx1"/>
                  </a:solidFill>
                  <a:latin typeface="Comic Sans MS" panose="030F0702030302020204" pitchFamily="66" charset="0"/>
                </a:rPr>
                <a:t>The Life of Pythagoras</a:t>
              </a:r>
              <a:endParaRPr lang="el-GR" sz="2000" b="1" dirty="0">
                <a:solidFill>
                  <a:schemeClr val="tx1"/>
                </a:solidFill>
                <a:effectLst/>
                <a:latin typeface="Comic Sans MS" panose="030F0702030302020204" pitchFamily="66" charset="0"/>
                <a:ea typeface="Calibri" panose="020F0502020204030204" pitchFamily="34" charset="0"/>
                <a:cs typeface="Times New Roman" panose="02020603050405020304" pitchFamily="18" charset="0"/>
              </a:endParaRPr>
            </a:p>
          </p:txBody>
        </p:sp>
        <p:sp>
          <p:nvSpPr>
            <p:cNvPr id="140" name="Ισοσκελές τρίγωνο 139">
              <a:extLst>
                <a:ext uri="{FF2B5EF4-FFF2-40B4-BE49-F238E27FC236}">
                  <a16:creationId xmlns:a16="http://schemas.microsoft.com/office/drawing/2014/main" id="{42E877DF-FA72-42C5-A5C7-3E3B07832F2F}"/>
                </a:ext>
              </a:extLst>
            </p:cNvPr>
            <p:cNvSpPr/>
            <p:nvPr/>
          </p:nvSpPr>
          <p:spPr>
            <a:xfrm rot="5400000">
              <a:off x="1722663" y="647700"/>
              <a:ext cx="485775" cy="447675"/>
            </a:xfrm>
            <a:prstGeom prst="triangle">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2000">
                <a:solidFill>
                  <a:schemeClr val="tx1"/>
                </a:solidFill>
                <a:latin typeface="Comic Sans MS" panose="030F0702030302020204" pitchFamily="66" charset="0"/>
              </a:endParaRPr>
            </a:p>
          </p:txBody>
        </p:sp>
        <p:sp>
          <p:nvSpPr>
            <p:cNvPr id="141" name="TextBox 140">
              <a:extLst>
                <a:ext uri="{FF2B5EF4-FFF2-40B4-BE49-F238E27FC236}">
                  <a16:creationId xmlns:a16="http://schemas.microsoft.com/office/drawing/2014/main" id="{28971A65-33E5-4363-8C47-375EB375A384}"/>
                </a:ext>
              </a:extLst>
            </p:cNvPr>
            <p:cNvSpPr txBox="1"/>
            <p:nvPr/>
          </p:nvSpPr>
          <p:spPr>
            <a:xfrm>
              <a:off x="419439" y="363703"/>
              <a:ext cx="1079559" cy="923330"/>
            </a:xfrm>
            <a:prstGeom prst="rect">
              <a:avLst/>
            </a:prstGeom>
            <a:grpFill/>
            <a:ln>
              <a:solidFill>
                <a:schemeClr val="tx1">
                  <a:lumMod val="65000"/>
                  <a:lumOff val="35000"/>
                </a:schemeClr>
              </a:solidFill>
            </a:ln>
          </p:spPr>
          <p:txBody>
            <a:bodyPr wrap="square" rtlCol="0">
              <a:spAutoFit/>
            </a:bodyPr>
            <a:lstStyle/>
            <a:p>
              <a:pPr algn="ctr"/>
              <a:r>
                <a:rPr lang="en-US" sz="5400" dirty="0">
                  <a:latin typeface="Comic Sans MS" panose="030F0702030302020204" pitchFamily="66" charset="0"/>
                </a:rPr>
                <a:t>1</a:t>
              </a:r>
              <a:endParaRPr lang="el-GR" sz="5400" dirty="0">
                <a:latin typeface="Comic Sans MS" panose="030F0702030302020204" pitchFamily="66" charset="0"/>
              </a:endParaRPr>
            </a:p>
          </p:txBody>
        </p:sp>
        <p:pic>
          <p:nvPicPr>
            <p:cNvPr id="142" name="Γραφικό 141" descr="Atom με συμπαγές γέμισμα">
              <a:extLst>
                <a:ext uri="{FF2B5EF4-FFF2-40B4-BE49-F238E27FC236}">
                  <a16:creationId xmlns:a16="http://schemas.microsoft.com/office/drawing/2014/main" id="{BDBDDFD5-8C0B-4116-8203-CC8B63497FE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1786" y="4464537"/>
              <a:ext cx="914400" cy="914400"/>
            </a:xfrm>
            <a:prstGeom prst="rect">
              <a:avLst/>
            </a:prstGeom>
          </p:spPr>
        </p:pic>
      </p:grpSp>
      <p:sp>
        <p:nvSpPr>
          <p:cNvPr id="143" name="TextBox 142">
            <a:extLst>
              <a:ext uri="{FF2B5EF4-FFF2-40B4-BE49-F238E27FC236}">
                <a16:creationId xmlns:a16="http://schemas.microsoft.com/office/drawing/2014/main" id="{90E1C806-B0D2-4A34-BE2A-98E39743730B}"/>
              </a:ext>
            </a:extLst>
          </p:cNvPr>
          <p:cNvSpPr txBox="1"/>
          <p:nvPr/>
        </p:nvSpPr>
        <p:spPr>
          <a:xfrm>
            <a:off x="-882825" y="397909"/>
            <a:ext cx="1079559" cy="923330"/>
          </a:xfrm>
          <a:prstGeom prst="rect">
            <a:avLst/>
          </a:prstGeom>
          <a:noFill/>
          <a:ln>
            <a:noFill/>
          </a:ln>
        </p:spPr>
        <p:txBody>
          <a:bodyPr wrap="square" rtlCol="0">
            <a:spAutoFit/>
          </a:bodyPr>
          <a:lstStyle/>
          <a:p>
            <a:pPr algn="ctr"/>
            <a:r>
              <a:rPr lang="en-US" sz="5400" dirty="0">
                <a:latin typeface="Comic Sans MS" panose="030F0702030302020204" pitchFamily="66" charset="0"/>
              </a:rPr>
              <a:t>7</a:t>
            </a:r>
            <a:endParaRPr lang="el-GR" sz="5400" dirty="0">
              <a:latin typeface="Comic Sans MS" panose="030F0702030302020204" pitchFamily="66" charset="0"/>
            </a:endParaRPr>
          </a:p>
        </p:txBody>
      </p:sp>
    </p:spTree>
    <p:extLst>
      <p:ext uri="{BB962C8B-B14F-4D97-AF65-F5344CB8AC3E}">
        <p14:creationId xmlns:p14="http://schemas.microsoft.com/office/powerpoint/2010/main" val="6782837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65000">
              <a:srgbClr val="939393"/>
            </a:gs>
            <a:gs pos="0">
              <a:schemeClr val="bg1"/>
            </a:gs>
            <a:gs pos="100000">
              <a:schemeClr val="accent1">
                <a:lumMod val="60000"/>
                <a:lumOff val="40000"/>
              </a:schemeClr>
            </a:gs>
          </a:gsLst>
          <a:lin ang="2700000" scaled="1"/>
          <a:tileRect/>
        </a:gradFill>
        <a:effectLst/>
      </p:bgPr>
    </p:bg>
    <p:spTree>
      <p:nvGrpSpPr>
        <p:cNvPr id="1" name=""/>
        <p:cNvGrpSpPr/>
        <p:nvPr/>
      </p:nvGrpSpPr>
      <p:grpSpPr>
        <a:xfrm>
          <a:off x="0" y="0"/>
          <a:ext cx="0" cy="0"/>
          <a:chOff x="0" y="0"/>
          <a:chExt cx="0" cy="0"/>
        </a:xfrm>
      </p:grpSpPr>
      <p:sp>
        <p:nvSpPr>
          <p:cNvPr id="36" name="TextBox 35">
            <a:extLst>
              <a:ext uri="{FF2B5EF4-FFF2-40B4-BE49-F238E27FC236}">
                <a16:creationId xmlns:a16="http://schemas.microsoft.com/office/drawing/2014/main" id="{693565BA-C5F3-4398-AB50-6B9D78A64542}"/>
              </a:ext>
            </a:extLst>
          </p:cNvPr>
          <p:cNvSpPr txBox="1"/>
          <p:nvPr/>
        </p:nvSpPr>
        <p:spPr>
          <a:xfrm>
            <a:off x="1048116" y="2615417"/>
            <a:ext cx="7343774" cy="1323439"/>
          </a:xfrm>
          <a:prstGeom prst="rect">
            <a:avLst/>
          </a:prstGeom>
          <a:noFill/>
        </p:spPr>
        <p:txBody>
          <a:bodyPr wrap="square">
            <a:spAutoFit/>
          </a:bodyPr>
          <a:lstStyle/>
          <a:p>
            <a:r>
              <a:rPr lang="en-US" sz="2000" dirty="0">
                <a:latin typeface="Comic Sans MS" panose="030F0702030302020204" pitchFamily="66" charset="0"/>
              </a:rPr>
              <a:t>Pythagoras was born around 570 BC on the island of Samos, a Greek island in the eastern Aegean Sea. Little is known about his early life because he left no written works, and most information comes from later writers.</a:t>
            </a:r>
            <a:endParaRPr lang="el-GR" sz="2000" dirty="0">
              <a:latin typeface="Comic Sans MS" panose="030F0702030302020204" pitchFamily="66" charset="0"/>
            </a:endParaRPr>
          </a:p>
        </p:txBody>
      </p:sp>
      <p:sp>
        <p:nvSpPr>
          <p:cNvPr id="38" name="TextBox 37">
            <a:extLst>
              <a:ext uri="{FF2B5EF4-FFF2-40B4-BE49-F238E27FC236}">
                <a16:creationId xmlns:a16="http://schemas.microsoft.com/office/drawing/2014/main" id="{377100F7-F10B-4CE9-84E8-614012D98C25}"/>
              </a:ext>
            </a:extLst>
          </p:cNvPr>
          <p:cNvSpPr txBox="1"/>
          <p:nvPr/>
        </p:nvSpPr>
        <p:spPr>
          <a:xfrm>
            <a:off x="657225" y="1176428"/>
            <a:ext cx="7343774" cy="559384"/>
          </a:xfrm>
          <a:prstGeom prst="rect">
            <a:avLst/>
          </a:prstGeom>
          <a:noFill/>
        </p:spPr>
        <p:txBody>
          <a:bodyPr wrap="square">
            <a:spAutoFit/>
          </a:bodyPr>
          <a:lstStyle/>
          <a:p>
            <a:pPr algn="ctr">
              <a:lnSpc>
                <a:spcPct val="107000"/>
              </a:lnSpc>
              <a:spcAft>
                <a:spcPts val="800"/>
              </a:spcAft>
            </a:pPr>
            <a:r>
              <a:rPr lang="en-US" sz="3000" b="1" dirty="0">
                <a:latin typeface="Comic Sans MS" panose="030F0702030302020204" pitchFamily="66" charset="0"/>
              </a:rPr>
              <a:t>The Life of Pythagoras</a:t>
            </a:r>
            <a:endParaRPr lang="el-GR" sz="3000" dirty="0">
              <a:latin typeface="Comic Sans MS" panose="030F0702030302020204" pitchFamily="66" charset="0"/>
            </a:endParaRPr>
          </a:p>
        </p:txBody>
      </p:sp>
      <p:sp>
        <p:nvSpPr>
          <p:cNvPr id="39" name="AutoShape 2" descr="Πυθαγόρας Φωτογραφίες Αρχείου, Royalty Free Πυθαγόρας Εικόνες |  DepositPhotos">
            <a:extLst>
              <a:ext uri="{FF2B5EF4-FFF2-40B4-BE49-F238E27FC236}">
                <a16:creationId xmlns:a16="http://schemas.microsoft.com/office/drawing/2014/main" id="{28C5692E-31DB-41CC-816C-2A47F395C4B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l-GR">
              <a:latin typeface="Comic Sans MS" panose="030F0702030302020204" pitchFamily="66" charset="0"/>
            </a:endParaRPr>
          </a:p>
        </p:txBody>
      </p:sp>
      <p:pic>
        <p:nvPicPr>
          <p:cNvPr id="41" name="Εικόνα 40">
            <a:extLst>
              <a:ext uri="{FF2B5EF4-FFF2-40B4-BE49-F238E27FC236}">
                <a16:creationId xmlns:a16="http://schemas.microsoft.com/office/drawing/2014/main" id="{208BBF15-5450-4A70-8D75-BF664CE8C66F}"/>
              </a:ext>
            </a:extLst>
          </p:cNvPr>
          <p:cNvPicPr>
            <a:picLocks noChangeAspect="1"/>
          </p:cNvPicPr>
          <p:nvPr/>
        </p:nvPicPr>
        <p:blipFill>
          <a:blip r:embed="rId2"/>
          <a:stretch>
            <a:fillRect/>
          </a:stretch>
        </p:blipFill>
        <p:spPr>
          <a:xfrm>
            <a:off x="8786446" y="1586031"/>
            <a:ext cx="2357438" cy="3536157"/>
          </a:xfrm>
          <a:prstGeom prst="rect">
            <a:avLst/>
          </a:prstGeom>
        </p:spPr>
      </p:pic>
      <p:sp>
        <p:nvSpPr>
          <p:cNvPr id="56" name="Ορθογώνιο 55">
            <a:extLst>
              <a:ext uri="{FF2B5EF4-FFF2-40B4-BE49-F238E27FC236}">
                <a16:creationId xmlns:a16="http://schemas.microsoft.com/office/drawing/2014/main" id="{0E6F6B0C-BA20-4E88-9BB8-F8868BA1D941}"/>
              </a:ext>
            </a:extLst>
          </p:cNvPr>
          <p:cNvSpPr/>
          <p:nvPr/>
        </p:nvSpPr>
        <p:spPr>
          <a:xfrm>
            <a:off x="0" y="5619750"/>
            <a:ext cx="12192000" cy="1238250"/>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shape">
              <a:fillToRect l="50000" t="50000" r="50000" b="50000"/>
            </a:path>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l-GR" sz="2000" dirty="0">
              <a:latin typeface="Comic Sans MS" panose="030F0702030302020204" pitchFamily="66" charset="0"/>
            </a:endParaRPr>
          </a:p>
        </p:txBody>
      </p:sp>
      <p:pic>
        <p:nvPicPr>
          <p:cNvPr id="58" name="Γραφικό 57" descr="Φιάλη με συμπαγές γέμισμα">
            <a:extLst>
              <a:ext uri="{FF2B5EF4-FFF2-40B4-BE49-F238E27FC236}">
                <a16:creationId xmlns:a16="http://schemas.microsoft.com/office/drawing/2014/main" id="{5F6ACE36-3038-4625-BB01-11A0F1DCAA6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762" y="5730167"/>
            <a:ext cx="914400" cy="914400"/>
          </a:xfrm>
          <a:prstGeom prst="rect">
            <a:avLst/>
          </a:prstGeom>
        </p:spPr>
      </p:pic>
      <p:grpSp>
        <p:nvGrpSpPr>
          <p:cNvPr id="59" name="Ομάδα 58">
            <a:extLst>
              <a:ext uri="{FF2B5EF4-FFF2-40B4-BE49-F238E27FC236}">
                <a16:creationId xmlns:a16="http://schemas.microsoft.com/office/drawing/2014/main" id="{2F272CAF-8552-47BC-89CC-8DCC5118CE31}"/>
              </a:ext>
            </a:extLst>
          </p:cNvPr>
          <p:cNvGrpSpPr/>
          <p:nvPr/>
        </p:nvGrpSpPr>
        <p:grpSpPr>
          <a:xfrm>
            <a:off x="3638549" y="5863518"/>
            <a:ext cx="914400" cy="914400"/>
            <a:chOff x="3589733" y="4435696"/>
            <a:chExt cx="914400" cy="914400"/>
          </a:xfrm>
        </p:grpSpPr>
        <p:sp>
          <p:nvSpPr>
            <p:cNvPr id="60" name="Ορθογώνιο 59">
              <a:extLst>
                <a:ext uri="{FF2B5EF4-FFF2-40B4-BE49-F238E27FC236}">
                  <a16:creationId xmlns:a16="http://schemas.microsoft.com/office/drawing/2014/main" id="{0A3A6171-51C2-4C98-BF57-F29ED788E1A6}"/>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Comic Sans MS" panose="030F0702030302020204" pitchFamily="66" charset="0"/>
              </a:endParaRPr>
            </a:p>
          </p:txBody>
        </p:sp>
        <p:sp>
          <p:nvSpPr>
            <p:cNvPr id="61" name="TextBox 60">
              <a:extLst>
                <a:ext uri="{FF2B5EF4-FFF2-40B4-BE49-F238E27FC236}">
                  <a16:creationId xmlns:a16="http://schemas.microsoft.com/office/drawing/2014/main" id="{F7BA963B-423C-4842-A3CB-A960EE3D6BE4}"/>
                </a:ext>
              </a:extLst>
            </p:cNvPr>
            <p:cNvSpPr txBox="1"/>
            <p:nvPr/>
          </p:nvSpPr>
          <p:spPr>
            <a:xfrm>
              <a:off x="3813570" y="4459824"/>
              <a:ext cx="466726" cy="707886"/>
            </a:xfrm>
            <a:prstGeom prst="rect">
              <a:avLst/>
            </a:prstGeom>
            <a:noFill/>
          </p:spPr>
          <p:txBody>
            <a:bodyPr wrap="square" rtlCol="0">
              <a:spAutoFit/>
            </a:bodyPr>
            <a:lstStyle/>
            <a:p>
              <a:r>
                <a:rPr lang="en-US" sz="4000" b="1" dirty="0">
                  <a:ea typeface="Segoe UI Symbol" panose="020B0502040204020203" pitchFamily="34" charset="0"/>
                </a:rPr>
                <a:t>ℝ</a:t>
              </a:r>
              <a:endParaRPr lang="el-GR" sz="4000" dirty="0"/>
            </a:p>
          </p:txBody>
        </p:sp>
      </p:grpSp>
      <p:grpSp>
        <p:nvGrpSpPr>
          <p:cNvPr id="62" name="Ομάδα 61">
            <a:extLst>
              <a:ext uri="{FF2B5EF4-FFF2-40B4-BE49-F238E27FC236}">
                <a16:creationId xmlns:a16="http://schemas.microsoft.com/office/drawing/2014/main" id="{550258DE-FD9C-48D6-B972-7BC301BD0981}"/>
              </a:ext>
            </a:extLst>
          </p:cNvPr>
          <p:cNvGrpSpPr/>
          <p:nvPr/>
        </p:nvGrpSpPr>
        <p:grpSpPr>
          <a:xfrm>
            <a:off x="5307806" y="5978321"/>
            <a:ext cx="914400" cy="914400"/>
            <a:chOff x="3589733" y="4435696"/>
            <a:chExt cx="914400" cy="914400"/>
          </a:xfrm>
        </p:grpSpPr>
        <p:sp>
          <p:nvSpPr>
            <p:cNvPr id="63" name="Ορθογώνιο 62">
              <a:extLst>
                <a:ext uri="{FF2B5EF4-FFF2-40B4-BE49-F238E27FC236}">
                  <a16:creationId xmlns:a16="http://schemas.microsoft.com/office/drawing/2014/main" id="{5F985484-8A53-471B-AD95-BCB890327784}"/>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900">
                <a:latin typeface="Comic Sans MS" panose="030F0702030302020204" pitchFamily="66" charset="0"/>
              </a:endParaRPr>
            </a:p>
          </p:txBody>
        </p:sp>
        <p:sp>
          <p:nvSpPr>
            <p:cNvPr id="64" name="TextBox 63">
              <a:extLst>
                <a:ext uri="{FF2B5EF4-FFF2-40B4-BE49-F238E27FC236}">
                  <a16:creationId xmlns:a16="http://schemas.microsoft.com/office/drawing/2014/main" id="{D710E24A-4009-41D5-A0DA-EE145B4F8567}"/>
                </a:ext>
              </a:extLst>
            </p:cNvPr>
            <p:cNvSpPr txBox="1"/>
            <p:nvPr/>
          </p:nvSpPr>
          <p:spPr>
            <a:xfrm>
              <a:off x="3688556" y="4538953"/>
              <a:ext cx="690562" cy="246221"/>
            </a:xfrm>
            <a:prstGeom prst="rect">
              <a:avLst/>
            </a:prstGeom>
            <a:noFill/>
          </p:spPr>
          <p:txBody>
            <a:bodyPr wrap="square" rtlCol="0">
              <a:spAutoFit/>
            </a:bodyPr>
            <a:lstStyle/>
            <a:p>
              <a:endParaRPr lang="el-GR" sz="1000" dirty="0">
                <a:latin typeface="Comic Sans MS" panose="030F0702030302020204" pitchFamily="66" charset="0"/>
              </a:endParaRPr>
            </a:p>
          </p:txBody>
        </p:sp>
      </p:grpSp>
      <p:pic>
        <p:nvPicPr>
          <p:cNvPr id="65" name="Γραφικό 64" descr="Μουσική με συμπαγές γέμισμα">
            <a:extLst>
              <a:ext uri="{FF2B5EF4-FFF2-40B4-BE49-F238E27FC236}">
                <a16:creationId xmlns:a16="http://schemas.microsoft.com/office/drawing/2014/main" id="{212BDBEB-2DB6-4079-B00D-58EB64D84A8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96102" y="5703092"/>
            <a:ext cx="914400" cy="914400"/>
          </a:xfrm>
          <a:prstGeom prst="rect">
            <a:avLst/>
          </a:prstGeom>
        </p:spPr>
      </p:pic>
      <p:pic>
        <p:nvPicPr>
          <p:cNvPr id="66" name="Γραφικό 65" descr="Νεκροκεφαλή με συμπαγές γέμισμα">
            <a:extLst>
              <a:ext uri="{FF2B5EF4-FFF2-40B4-BE49-F238E27FC236}">
                <a16:creationId xmlns:a16="http://schemas.microsoft.com/office/drawing/2014/main" id="{DBA70303-A1CC-4A8A-BAA3-A8E69FEA5FB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42748" y="5719765"/>
            <a:ext cx="914400" cy="914400"/>
          </a:xfrm>
          <a:prstGeom prst="rect">
            <a:avLst/>
          </a:prstGeom>
        </p:spPr>
      </p:pic>
      <p:pic>
        <p:nvPicPr>
          <p:cNvPr id="67" name="Γραφικό 66" descr="Εγκέφαλος με συμπαγές γέμισμα">
            <a:extLst>
              <a:ext uri="{FF2B5EF4-FFF2-40B4-BE49-F238E27FC236}">
                <a16:creationId xmlns:a16="http://schemas.microsoft.com/office/drawing/2014/main" id="{B327B4C3-B6A2-41CF-B9E0-DE8604C3CDA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389393" y="5781674"/>
            <a:ext cx="914400" cy="914400"/>
          </a:xfrm>
          <a:prstGeom prst="rect">
            <a:avLst/>
          </a:prstGeom>
        </p:spPr>
      </p:pic>
      <p:grpSp>
        <p:nvGrpSpPr>
          <p:cNvPr id="11" name="Ομάδα 10">
            <a:extLst>
              <a:ext uri="{FF2B5EF4-FFF2-40B4-BE49-F238E27FC236}">
                <a16:creationId xmlns:a16="http://schemas.microsoft.com/office/drawing/2014/main" id="{B430B68D-F4BC-47EC-9A90-B3B4AAAFF053}"/>
              </a:ext>
            </a:extLst>
          </p:cNvPr>
          <p:cNvGrpSpPr/>
          <p:nvPr/>
        </p:nvGrpSpPr>
        <p:grpSpPr>
          <a:xfrm>
            <a:off x="152400" y="5122188"/>
            <a:ext cx="1238250" cy="1238250"/>
            <a:chOff x="1943100" y="1657350"/>
            <a:chExt cx="1238250" cy="1238250"/>
          </a:xfrm>
          <a:gradFill>
            <a:gsLst>
              <a:gs pos="0">
                <a:schemeClr val="accent3">
                  <a:lumMod val="67000"/>
                </a:schemeClr>
              </a:gs>
              <a:gs pos="48000">
                <a:schemeClr val="accent3">
                  <a:lumMod val="97000"/>
                  <a:lumOff val="3000"/>
                </a:schemeClr>
              </a:gs>
              <a:gs pos="100000">
                <a:schemeClr val="accent3">
                  <a:lumMod val="60000"/>
                  <a:lumOff val="40000"/>
                </a:schemeClr>
              </a:gs>
            </a:gsLst>
            <a:lin ang="16200000" scaled="1"/>
          </a:gradFill>
        </p:grpSpPr>
        <p:sp>
          <p:nvSpPr>
            <p:cNvPr id="8" name="Οβάλ 7">
              <a:extLst>
                <a:ext uri="{FF2B5EF4-FFF2-40B4-BE49-F238E27FC236}">
                  <a16:creationId xmlns:a16="http://schemas.microsoft.com/office/drawing/2014/main" id="{4A8C6E6E-052A-48DE-A36D-49D66EEB227C}"/>
                </a:ext>
              </a:extLst>
            </p:cNvPr>
            <p:cNvSpPr/>
            <p:nvPr/>
          </p:nvSpPr>
          <p:spPr>
            <a:xfrm>
              <a:off x="1943100" y="1657350"/>
              <a:ext cx="1238250" cy="123825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Comic Sans MS" panose="030F0702030302020204" pitchFamily="66" charset="0"/>
              </a:endParaRPr>
            </a:p>
          </p:txBody>
        </p:sp>
        <p:sp>
          <p:nvSpPr>
            <p:cNvPr id="10" name="Οβάλ 9">
              <a:extLst>
                <a:ext uri="{FF2B5EF4-FFF2-40B4-BE49-F238E27FC236}">
                  <a16:creationId xmlns:a16="http://schemas.microsoft.com/office/drawing/2014/main" id="{603338D8-9AE0-4240-A6C2-18020C09A7E2}"/>
                </a:ext>
              </a:extLst>
            </p:cNvPr>
            <p:cNvSpPr/>
            <p:nvPr/>
          </p:nvSpPr>
          <p:spPr>
            <a:xfrm>
              <a:off x="2105025" y="1819275"/>
              <a:ext cx="914400" cy="9144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latin typeface="Comic Sans MS" panose="030F0702030302020204" pitchFamily="66" charset="0"/>
              </a:endParaRPr>
            </a:p>
          </p:txBody>
        </p:sp>
      </p:grpSp>
      <p:pic>
        <p:nvPicPr>
          <p:cNvPr id="57" name="Γραφικό 56" descr="Atom με συμπαγές γέμισμα">
            <a:extLst>
              <a:ext uri="{FF2B5EF4-FFF2-40B4-BE49-F238E27FC236}">
                <a16:creationId xmlns:a16="http://schemas.microsoft.com/office/drawing/2014/main" id="{028FFFEF-F3A6-4FF5-BB48-3041E035978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23850" y="5310426"/>
            <a:ext cx="895350" cy="895350"/>
          </a:xfrm>
          <a:prstGeom prst="rect">
            <a:avLst/>
          </a:prstGeom>
        </p:spPr>
      </p:pic>
      <p:sp>
        <p:nvSpPr>
          <p:cNvPr id="22" name="TextBox 21">
            <a:extLst>
              <a:ext uri="{FF2B5EF4-FFF2-40B4-BE49-F238E27FC236}">
                <a16:creationId xmlns:a16="http://schemas.microsoft.com/office/drawing/2014/main" id="{DE274D7F-CFC6-46E1-A81D-C607F5D63C13}"/>
              </a:ext>
            </a:extLst>
          </p:cNvPr>
          <p:cNvSpPr txBox="1"/>
          <p:nvPr/>
        </p:nvSpPr>
        <p:spPr>
          <a:xfrm>
            <a:off x="5200185" y="6135123"/>
            <a:ext cx="1103449" cy="338554"/>
          </a:xfrm>
          <a:prstGeom prst="rect">
            <a:avLst/>
          </a:prstGeom>
          <a:noFill/>
        </p:spPr>
        <p:txBody>
          <a:bodyPr wrap="square" rtlCol="0">
            <a:spAutoFit/>
          </a:bodyPr>
          <a:lstStyle/>
          <a:p>
            <a:pPr algn="ctr"/>
            <a:r>
              <a:rPr lang="en-US" sz="1600" b="1" dirty="0">
                <a:latin typeface="Comic Sans MS" panose="030F0702030302020204" pitchFamily="66" charset="0"/>
              </a:rPr>
              <a:t>a</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b</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c</a:t>
            </a:r>
            <a:r>
              <a:rPr lang="el-GR" sz="1600" b="1" baseline="30000" dirty="0">
                <a:latin typeface="Comic Sans MS" panose="030F0702030302020204" pitchFamily="66" charset="0"/>
              </a:rPr>
              <a:t>2</a:t>
            </a:r>
            <a:endParaRPr lang="en-US" sz="1600" b="1" dirty="0">
              <a:solidFill>
                <a:srgbClr val="181C1F"/>
              </a:solidFill>
              <a:effectLst/>
              <a:latin typeface="Comic Sans MS" panose="030F0702030302020204" pitchFamily="66" charset="0"/>
            </a:endParaRPr>
          </a:p>
        </p:txBody>
      </p:sp>
    </p:spTree>
    <p:extLst>
      <p:ext uri="{BB962C8B-B14F-4D97-AF65-F5344CB8AC3E}">
        <p14:creationId xmlns:p14="http://schemas.microsoft.com/office/powerpoint/2010/main" val="4245127742"/>
      </p:ext>
    </p:extLst>
  </p:cSld>
  <p:clrMapOvr>
    <a:masterClrMapping/>
  </p:clrMapOvr>
  <mc:AlternateContent xmlns:mc="http://schemas.openxmlformats.org/markup-compatibility/2006" xmlns:p14="http://schemas.microsoft.com/office/powerpoint/2010/main">
    <mc:Choice Requires="p14">
      <p:transition spd="slow" p14:dur="1250" advClick="0" advTm="8000">
        <p14:switch dir="r"/>
      </p:transition>
    </mc:Choice>
    <mc:Fallback xmlns="">
      <p:transition spd="slow" advClick="0" advTm="8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6">
                                            <p:txEl>
                                              <p:pRg st="0" end="0"/>
                                            </p:txEl>
                                          </p:spTgt>
                                        </p:tgtEl>
                                        <p:attrNameLst>
                                          <p:attrName>style.visibility</p:attrName>
                                        </p:attrNameLst>
                                      </p:cBhvr>
                                      <p:to>
                                        <p:strVal val="visible"/>
                                      </p:to>
                                    </p:set>
                                    <p:animEffect transition="in" filter="wipe(down)">
                                      <p:cBhvr>
                                        <p:cTn id="12" dur="1500"/>
                                        <p:tgtEl>
                                          <p:spTgt spid="3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65000">
              <a:srgbClr val="939393"/>
            </a:gs>
            <a:gs pos="0">
              <a:schemeClr val="bg1"/>
            </a:gs>
            <a:gs pos="100000">
              <a:schemeClr val="accent1">
                <a:lumMod val="60000"/>
                <a:lumOff val="40000"/>
              </a:schemeClr>
            </a:gs>
          </a:gsLst>
          <a:lin ang="2700000" scaled="1"/>
          <a:tileRect/>
        </a:gradFill>
        <a:effectLst/>
      </p:bgPr>
    </p:bg>
    <p:spTree>
      <p:nvGrpSpPr>
        <p:cNvPr id="1" name=""/>
        <p:cNvGrpSpPr/>
        <p:nvPr/>
      </p:nvGrpSpPr>
      <p:grpSpPr>
        <a:xfrm>
          <a:off x="0" y="0"/>
          <a:ext cx="0" cy="0"/>
          <a:chOff x="0" y="0"/>
          <a:chExt cx="0" cy="0"/>
        </a:xfrm>
      </p:grpSpPr>
      <p:sp>
        <p:nvSpPr>
          <p:cNvPr id="39" name="AutoShape 2" descr="Πυθαγόρας Φωτογραφίες Αρχείου, Royalty Free Πυθαγόρας Εικόνες |  DepositPhotos">
            <a:extLst>
              <a:ext uri="{FF2B5EF4-FFF2-40B4-BE49-F238E27FC236}">
                <a16:creationId xmlns:a16="http://schemas.microsoft.com/office/drawing/2014/main" id="{28C5692E-31DB-41CC-816C-2A47F395C4B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l-GR"/>
          </a:p>
        </p:txBody>
      </p:sp>
      <p:sp>
        <p:nvSpPr>
          <p:cNvPr id="18" name="TextBox 17">
            <a:extLst>
              <a:ext uri="{FF2B5EF4-FFF2-40B4-BE49-F238E27FC236}">
                <a16:creationId xmlns:a16="http://schemas.microsoft.com/office/drawing/2014/main" id="{2B98E41E-AF0B-41E3-9782-F205F31645DF}"/>
              </a:ext>
            </a:extLst>
          </p:cNvPr>
          <p:cNvSpPr txBox="1"/>
          <p:nvPr/>
        </p:nvSpPr>
        <p:spPr>
          <a:xfrm>
            <a:off x="771525" y="971667"/>
            <a:ext cx="10383433" cy="3486595"/>
          </a:xfrm>
          <a:prstGeom prst="rect">
            <a:avLst/>
          </a:prstGeom>
          <a:noFill/>
        </p:spPr>
        <p:txBody>
          <a:bodyPr wrap="square">
            <a:spAutoFit/>
          </a:bodyPr>
          <a:lstStyle/>
          <a:p>
            <a:r>
              <a:rPr lang="en-US" sz="2000" dirty="0">
                <a:latin typeface="Comic Sans MS" panose="030F0702030302020204" pitchFamily="66" charset="0"/>
              </a:rPr>
              <a:t>From a young age, he showed great interest in knowledge, philosophy, and mathematics. According to historical sources, he traveled to different parts of the known world, such as:</a:t>
            </a:r>
            <a:endParaRPr lang="el-GR" sz="2000" dirty="0">
              <a:latin typeface="Comic Sans MS" panose="030F0702030302020204" pitchFamily="66" charset="0"/>
            </a:endParaRPr>
          </a:p>
          <a:p>
            <a:pPr marL="457200" indent="-457200">
              <a:lnSpc>
                <a:spcPct val="107000"/>
              </a:lnSpc>
              <a:spcAft>
                <a:spcPts val="800"/>
              </a:spcAft>
              <a:buSzPct val="100000"/>
              <a:buFont typeface="Arial" panose="020B0604020202020204" pitchFamily="34" charset="0"/>
              <a:buChar char="•"/>
              <a:tabLst>
                <a:tab pos="457200" algn="l"/>
              </a:tabLst>
            </a:pPr>
            <a:endParaRPr lang="en-US" sz="2000" dirty="0">
              <a:latin typeface="Comic Sans MS" panose="030F0702030302020204" pitchFamily="66" charset="0"/>
            </a:endParaRPr>
          </a:p>
          <a:p>
            <a:pPr marL="457200" indent="-457200">
              <a:lnSpc>
                <a:spcPct val="107000"/>
              </a:lnSpc>
              <a:spcAft>
                <a:spcPts val="800"/>
              </a:spcAft>
              <a:buSzPct val="100000"/>
              <a:buFont typeface="Arial" panose="020B0604020202020204" pitchFamily="34" charset="0"/>
              <a:buChar char="•"/>
              <a:tabLst>
                <a:tab pos="457200" algn="l"/>
              </a:tabLst>
            </a:pPr>
            <a:r>
              <a:rPr lang="el-GR" sz="2000" dirty="0" err="1">
                <a:latin typeface="Comic Sans MS" panose="030F0702030302020204" pitchFamily="66" charset="0"/>
              </a:rPr>
              <a:t>Egypt</a:t>
            </a:r>
            <a:r>
              <a:rPr lang="el-GR" sz="2000" dirty="0">
                <a:latin typeface="Comic Sans MS" panose="030F0702030302020204" pitchFamily="66" charset="0"/>
              </a:rPr>
              <a:t>,</a:t>
            </a:r>
            <a:endParaRPr lang="en-US" sz="2000" dirty="0">
              <a:latin typeface="Comic Sans MS" panose="030F0702030302020204" pitchFamily="66" charset="0"/>
            </a:endParaRPr>
          </a:p>
          <a:p>
            <a:pPr marL="457200" indent="-457200">
              <a:lnSpc>
                <a:spcPct val="107000"/>
              </a:lnSpc>
              <a:spcAft>
                <a:spcPts val="800"/>
              </a:spcAft>
              <a:buSzPct val="100000"/>
              <a:buFont typeface="Arial" panose="020B0604020202020204" pitchFamily="34" charset="0"/>
              <a:buChar char="•"/>
              <a:tabLst>
                <a:tab pos="457200" algn="l"/>
              </a:tabLst>
            </a:pPr>
            <a:endParaRPr lang="el-GR" sz="2000" dirty="0">
              <a:effectLst/>
              <a:latin typeface="Comic Sans MS" panose="030F0702030302020204" pitchFamily="66" charset="0"/>
              <a:ea typeface="Calibri" panose="020F0502020204030204" pitchFamily="34" charset="0"/>
              <a:cs typeface="Times New Roman" panose="02020603050405020304" pitchFamily="18" charset="0"/>
            </a:endParaRPr>
          </a:p>
          <a:p>
            <a:pPr marL="457200" indent="-457200">
              <a:lnSpc>
                <a:spcPct val="107000"/>
              </a:lnSpc>
              <a:spcAft>
                <a:spcPts val="800"/>
              </a:spcAft>
              <a:buSzPct val="100000"/>
              <a:buFont typeface="Arial" panose="020B0604020202020204" pitchFamily="34" charset="0"/>
              <a:buChar char="•"/>
              <a:tabLst>
                <a:tab pos="457200" algn="l"/>
              </a:tabLst>
            </a:pPr>
            <a:r>
              <a:rPr lang="el-GR" sz="2000" dirty="0" err="1">
                <a:latin typeface="Comic Sans MS" panose="030F0702030302020204" pitchFamily="66" charset="0"/>
              </a:rPr>
              <a:t>Babylon</a:t>
            </a:r>
            <a:r>
              <a:rPr lang="el-GR" sz="2000" dirty="0">
                <a:latin typeface="Comic Sans MS" panose="030F0702030302020204" pitchFamily="66" charset="0"/>
              </a:rPr>
              <a:t>,</a:t>
            </a:r>
            <a:endParaRPr lang="el-GR" sz="2000" dirty="0">
              <a:effectLst/>
              <a:latin typeface="Comic Sans MS" panose="030F0702030302020204" pitchFamily="66" charset="0"/>
              <a:ea typeface="Calibri" panose="020F0502020204030204" pitchFamily="34" charset="0"/>
              <a:cs typeface="Times New Roman" panose="02020603050405020304" pitchFamily="18" charset="0"/>
            </a:endParaRPr>
          </a:p>
          <a:p>
            <a:pPr marL="457200" lvl="0" indent="-457200">
              <a:lnSpc>
                <a:spcPct val="107000"/>
              </a:lnSpc>
              <a:spcAft>
                <a:spcPts val="800"/>
              </a:spcAft>
              <a:buSzPct val="100000"/>
              <a:buFont typeface="Arial" panose="020B0604020202020204" pitchFamily="34" charset="0"/>
              <a:buChar char="•"/>
              <a:tabLst>
                <a:tab pos="457200" algn="l"/>
              </a:tabLst>
            </a:pPr>
            <a:endParaRPr lang="en-US" sz="2000" dirty="0">
              <a:latin typeface="Comic Sans MS" panose="030F0702030302020204" pitchFamily="66" charset="0"/>
            </a:endParaRPr>
          </a:p>
          <a:p>
            <a:pPr marL="457200" lvl="0" indent="-457200">
              <a:lnSpc>
                <a:spcPct val="107000"/>
              </a:lnSpc>
              <a:spcAft>
                <a:spcPts val="800"/>
              </a:spcAft>
              <a:buSzPct val="100000"/>
              <a:buFont typeface="Arial" panose="020B0604020202020204" pitchFamily="34" charset="0"/>
              <a:buChar char="•"/>
              <a:tabLst>
                <a:tab pos="457200" algn="l"/>
              </a:tabLst>
            </a:pPr>
            <a:r>
              <a:rPr lang="el-GR" sz="2000" dirty="0">
                <a:latin typeface="Comic Sans MS" panose="030F0702030302020204" pitchFamily="66" charset="0"/>
              </a:rPr>
              <a:t>and </a:t>
            </a:r>
            <a:r>
              <a:rPr lang="el-GR" sz="2000" dirty="0" err="1">
                <a:latin typeface="Comic Sans MS" panose="030F0702030302020204" pitchFamily="66" charset="0"/>
              </a:rPr>
              <a:t>possibly</a:t>
            </a:r>
            <a:r>
              <a:rPr lang="el-GR" sz="2000" dirty="0">
                <a:latin typeface="Comic Sans MS" panose="030F0702030302020204" pitchFamily="66" charset="0"/>
              </a:rPr>
              <a:t> </a:t>
            </a:r>
            <a:r>
              <a:rPr lang="el-GR" sz="2000" dirty="0" err="1">
                <a:latin typeface="Comic Sans MS" panose="030F0702030302020204" pitchFamily="66" charset="0"/>
              </a:rPr>
              <a:t>India</a:t>
            </a:r>
            <a:endParaRPr lang="el-GR" sz="2000" dirty="0">
              <a:latin typeface="Comic Sans MS" panose="030F0702030302020204" pitchFamily="66" charset="0"/>
            </a:endParaRPr>
          </a:p>
        </p:txBody>
      </p:sp>
      <p:pic>
        <p:nvPicPr>
          <p:cNvPr id="4100" name="Picture 4" descr="Antik Yunan Matematiği | KÜRE Encyclopedia">
            <a:extLst>
              <a:ext uri="{FF2B5EF4-FFF2-40B4-BE49-F238E27FC236}">
                <a16:creationId xmlns:a16="http://schemas.microsoft.com/office/drawing/2014/main" id="{E153B509-B3D7-4ADA-8B75-B61F57EF67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96102" y="2109786"/>
            <a:ext cx="2638427" cy="2638427"/>
          </a:xfrm>
          <a:prstGeom prst="rect">
            <a:avLst/>
          </a:prstGeom>
          <a:noFill/>
          <a:extLst>
            <a:ext uri="{909E8E84-426E-40DD-AFC4-6F175D3DCCD1}">
              <a14:hiddenFill xmlns:a14="http://schemas.microsoft.com/office/drawing/2010/main">
                <a:solidFill>
                  <a:srgbClr val="FFFFFF"/>
                </a:solidFill>
              </a14:hiddenFill>
            </a:ext>
          </a:extLst>
        </p:spPr>
      </p:pic>
      <p:sp>
        <p:nvSpPr>
          <p:cNvPr id="82" name="Ορθογώνιο 81">
            <a:extLst>
              <a:ext uri="{FF2B5EF4-FFF2-40B4-BE49-F238E27FC236}">
                <a16:creationId xmlns:a16="http://schemas.microsoft.com/office/drawing/2014/main" id="{10DD965A-9407-414D-A1A0-B67DC5D4A951}"/>
              </a:ext>
            </a:extLst>
          </p:cNvPr>
          <p:cNvSpPr/>
          <p:nvPr/>
        </p:nvSpPr>
        <p:spPr>
          <a:xfrm>
            <a:off x="0" y="5619750"/>
            <a:ext cx="12192000" cy="1238250"/>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shape">
              <a:fillToRect l="50000" t="50000" r="50000" b="50000"/>
            </a:path>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l-GR"/>
          </a:p>
        </p:txBody>
      </p:sp>
      <p:pic>
        <p:nvPicPr>
          <p:cNvPr id="83" name="Γραφικό 82" descr="Φιάλη με συμπαγές γέμισμα">
            <a:extLst>
              <a:ext uri="{FF2B5EF4-FFF2-40B4-BE49-F238E27FC236}">
                <a16:creationId xmlns:a16="http://schemas.microsoft.com/office/drawing/2014/main" id="{7B545790-A7FE-47E1-9CA7-12813F9F64A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762" y="5730167"/>
            <a:ext cx="914400" cy="914400"/>
          </a:xfrm>
          <a:prstGeom prst="rect">
            <a:avLst/>
          </a:prstGeom>
        </p:spPr>
      </p:pic>
      <p:grpSp>
        <p:nvGrpSpPr>
          <p:cNvPr id="87" name="Ομάδα 86">
            <a:extLst>
              <a:ext uri="{FF2B5EF4-FFF2-40B4-BE49-F238E27FC236}">
                <a16:creationId xmlns:a16="http://schemas.microsoft.com/office/drawing/2014/main" id="{3AE22697-C5C8-4D75-8CEE-A02C29585601}"/>
              </a:ext>
            </a:extLst>
          </p:cNvPr>
          <p:cNvGrpSpPr/>
          <p:nvPr/>
        </p:nvGrpSpPr>
        <p:grpSpPr>
          <a:xfrm>
            <a:off x="5307806" y="5978321"/>
            <a:ext cx="914400" cy="914400"/>
            <a:chOff x="3589733" y="4435696"/>
            <a:chExt cx="914400" cy="914400"/>
          </a:xfrm>
        </p:grpSpPr>
        <p:sp>
          <p:nvSpPr>
            <p:cNvPr id="88" name="Ορθογώνιο 87">
              <a:extLst>
                <a:ext uri="{FF2B5EF4-FFF2-40B4-BE49-F238E27FC236}">
                  <a16:creationId xmlns:a16="http://schemas.microsoft.com/office/drawing/2014/main" id="{2B3E037C-38B6-42D1-8E34-2466A30A1F46}"/>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89" name="TextBox 88">
              <a:extLst>
                <a:ext uri="{FF2B5EF4-FFF2-40B4-BE49-F238E27FC236}">
                  <a16:creationId xmlns:a16="http://schemas.microsoft.com/office/drawing/2014/main" id="{533C921D-90D8-4A09-948D-C6B9E979B737}"/>
                </a:ext>
              </a:extLst>
            </p:cNvPr>
            <p:cNvSpPr txBox="1"/>
            <p:nvPr/>
          </p:nvSpPr>
          <p:spPr>
            <a:xfrm>
              <a:off x="3688556" y="4538953"/>
              <a:ext cx="690562" cy="400110"/>
            </a:xfrm>
            <a:prstGeom prst="rect">
              <a:avLst/>
            </a:prstGeom>
            <a:noFill/>
          </p:spPr>
          <p:txBody>
            <a:bodyPr wrap="square" rtlCol="0">
              <a:spAutoFit/>
            </a:bodyPr>
            <a:lstStyle/>
            <a:p>
              <a:endParaRPr lang="en-US" sz="2000" b="1" dirty="0">
                <a:solidFill>
                  <a:srgbClr val="181C1F"/>
                </a:solidFill>
                <a:effectLst/>
              </a:endParaRPr>
            </a:p>
          </p:txBody>
        </p:sp>
      </p:grpSp>
      <p:pic>
        <p:nvPicPr>
          <p:cNvPr id="90" name="Γραφικό 89" descr="Μουσική με συμπαγές γέμισμα">
            <a:extLst>
              <a:ext uri="{FF2B5EF4-FFF2-40B4-BE49-F238E27FC236}">
                <a16:creationId xmlns:a16="http://schemas.microsoft.com/office/drawing/2014/main" id="{CF5E35F9-704A-409D-BE1B-F70077730AF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96102" y="5703092"/>
            <a:ext cx="914400" cy="914400"/>
          </a:xfrm>
          <a:prstGeom prst="rect">
            <a:avLst/>
          </a:prstGeom>
        </p:spPr>
      </p:pic>
      <p:pic>
        <p:nvPicPr>
          <p:cNvPr id="91" name="Γραφικό 90" descr="Νεκροκεφαλή με συμπαγές γέμισμα">
            <a:extLst>
              <a:ext uri="{FF2B5EF4-FFF2-40B4-BE49-F238E27FC236}">
                <a16:creationId xmlns:a16="http://schemas.microsoft.com/office/drawing/2014/main" id="{B2A1A0D0-25F5-4472-B6E1-20E7A7042C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42748" y="5719765"/>
            <a:ext cx="914400" cy="914400"/>
          </a:xfrm>
          <a:prstGeom prst="rect">
            <a:avLst/>
          </a:prstGeom>
        </p:spPr>
      </p:pic>
      <p:pic>
        <p:nvPicPr>
          <p:cNvPr id="92" name="Γραφικό 91" descr="Εγκέφαλος με συμπαγές γέμισμα">
            <a:extLst>
              <a:ext uri="{FF2B5EF4-FFF2-40B4-BE49-F238E27FC236}">
                <a16:creationId xmlns:a16="http://schemas.microsoft.com/office/drawing/2014/main" id="{0982DEC5-A9EB-428E-868D-A0566DF7F0C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389393" y="5781674"/>
            <a:ext cx="914400" cy="914400"/>
          </a:xfrm>
          <a:prstGeom prst="rect">
            <a:avLst/>
          </a:prstGeom>
        </p:spPr>
      </p:pic>
      <p:grpSp>
        <p:nvGrpSpPr>
          <p:cNvPr id="93" name="Ομάδα 92">
            <a:extLst>
              <a:ext uri="{FF2B5EF4-FFF2-40B4-BE49-F238E27FC236}">
                <a16:creationId xmlns:a16="http://schemas.microsoft.com/office/drawing/2014/main" id="{A42F44B5-5F1A-4A2A-8BD9-BDBD850A35A1}"/>
              </a:ext>
            </a:extLst>
          </p:cNvPr>
          <p:cNvGrpSpPr/>
          <p:nvPr/>
        </p:nvGrpSpPr>
        <p:grpSpPr>
          <a:xfrm>
            <a:off x="152400" y="5122188"/>
            <a:ext cx="1238250" cy="1238250"/>
            <a:chOff x="1943100" y="1657350"/>
            <a:chExt cx="1238250" cy="1238250"/>
          </a:xfrm>
          <a:gradFill>
            <a:gsLst>
              <a:gs pos="0">
                <a:schemeClr val="accent3">
                  <a:lumMod val="67000"/>
                </a:schemeClr>
              </a:gs>
              <a:gs pos="48000">
                <a:schemeClr val="accent3">
                  <a:lumMod val="97000"/>
                  <a:lumOff val="3000"/>
                </a:schemeClr>
              </a:gs>
              <a:gs pos="100000">
                <a:schemeClr val="accent3">
                  <a:lumMod val="60000"/>
                  <a:lumOff val="40000"/>
                </a:schemeClr>
              </a:gs>
            </a:gsLst>
            <a:lin ang="16200000" scaled="1"/>
          </a:gradFill>
        </p:grpSpPr>
        <p:sp>
          <p:nvSpPr>
            <p:cNvPr id="94" name="Οβάλ 93">
              <a:extLst>
                <a:ext uri="{FF2B5EF4-FFF2-40B4-BE49-F238E27FC236}">
                  <a16:creationId xmlns:a16="http://schemas.microsoft.com/office/drawing/2014/main" id="{1E6AEA0D-3C49-49EC-B56A-7F1B6248D839}"/>
                </a:ext>
              </a:extLst>
            </p:cNvPr>
            <p:cNvSpPr/>
            <p:nvPr/>
          </p:nvSpPr>
          <p:spPr>
            <a:xfrm>
              <a:off x="1943100" y="1657350"/>
              <a:ext cx="1238250" cy="123825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95" name="Οβάλ 94">
              <a:extLst>
                <a:ext uri="{FF2B5EF4-FFF2-40B4-BE49-F238E27FC236}">
                  <a16:creationId xmlns:a16="http://schemas.microsoft.com/office/drawing/2014/main" id="{D1D1425E-D7C4-4839-A626-95FE511C6C3C}"/>
                </a:ext>
              </a:extLst>
            </p:cNvPr>
            <p:cNvSpPr/>
            <p:nvPr/>
          </p:nvSpPr>
          <p:spPr>
            <a:xfrm>
              <a:off x="2105025" y="1819275"/>
              <a:ext cx="914400" cy="9144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grpSp>
      <p:pic>
        <p:nvPicPr>
          <p:cNvPr id="96" name="Γραφικό 95" descr="Atom με συμπαγές γέμισμα">
            <a:extLst>
              <a:ext uri="{FF2B5EF4-FFF2-40B4-BE49-F238E27FC236}">
                <a16:creationId xmlns:a16="http://schemas.microsoft.com/office/drawing/2014/main" id="{500EC1A7-9FB0-4EF7-AE6C-ABAFD6FC74B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23850" y="5310426"/>
            <a:ext cx="895350" cy="895350"/>
          </a:xfrm>
          <a:prstGeom prst="rect">
            <a:avLst/>
          </a:prstGeom>
        </p:spPr>
      </p:pic>
      <p:sp>
        <p:nvSpPr>
          <p:cNvPr id="22" name="TextBox 21">
            <a:extLst>
              <a:ext uri="{FF2B5EF4-FFF2-40B4-BE49-F238E27FC236}">
                <a16:creationId xmlns:a16="http://schemas.microsoft.com/office/drawing/2014/main" id="{04D28CC1-CA13-4154-8206-17905D7587BE}"/>
              </a:ext>
            </a:extLst>
          </p:cNvPr>
          <p:cNvSpPr txBox="1"/>
          <p:nvPr/>
        </p:nvSpPr>
        <p:spPr>
          <a:xfrm>
            <a:off x="5200185" y="6149227"/>
            <a:ext cx="1103449" cy="338554"/>
          </a:xfrm>
          <a:prstGeom prst="rect">
            <a:avLst/>
          </a:prstGeom>
          <a:noFill/>
        </p:spPr>
        <p:txBody>
          <a:bodyPr wrap="square" rtlCol="0">
            <a:spAutoFit/>
          </a:bodyPr>
          <a:lstStyle/>
          <a:p>
            <a:pPr algn="ctr"/>
            <a:r>
              <a:rPr lang="el-GR" sz="1600" b="1" dirty="0">
                <a:latin typeface="Comic Sans MS" panose="030F0702030302020204" pitchFamily="66" charset="0"/>
              </a:rPr>
              <a:t>α</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b</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c</a:t>
            </a:r>
            <a:r>
              <a:rPr lang="el-GR" sz="1600" b="1" baseline="30000" dirty="0">
                <a:latin typeface="Comic Sans MS" panose="030F0702030302020204" pitchFamily="66" charset="0"/>
              </a:rPr>
              <a:t>2</a:t>
            </a:r>
            <a:endParaRPr lang="el-GR" sz="2000" dirty="0"/>
          </a:p>
        </p:txBody>
      </p:sp>
      <p:grpSp>
        <p:nvGrpSpPr>
          <p:cNvPr id="23" name="Ομάδα 22">
            <a:extLst>
              <a:ext uri="{FF2B5EF4-FFF2-40B4-BE49-F238E27FC236}">
                <a16:creationId xmlns:a16="http://schemas.microsoft.com/office/drawing/2014/main" id="{AE1BC6B6-19D7-43E1-85FF-5A5E4DD58D66}"/>
              </a:ext>
            </a:extLst>
          </p:cNvPr>
          <p:cNvGrpSpPr/>
          <p:nvPr/>
        </p:nvGrpSpPr>
        <p:grpSpPr>
          <a:xfrm>
            <a:off x="3638549" y="5863518"/>
            <a:ext cx="914400" cy="914400"/>
            <a:chOff x="3589733" y="4435696"/>
            <a:chExt cx="914400" cy="914400"/>
          </a:xfrm>
        </p:grpSpPr>
        <p:sp>
          <p:nvSpPr>
            <p:cNvPr id="24" name="Ορθογώνιο 23">
              <a:extLst>
                <a:ext uri="{FF2B5EF4-FFF2-40B4-BE49-F238E27FC236}">
                  <a16:creationId xmlns:a16="http://schemas.microsoft.com/office/drawing/2014/main" id="{6B2EE69D-702E-42A7-A836-EF8548CD8CD2}"/>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Comic Sans MS" panose="030F0702030302020204" pitchFamily="66" charset="0"/>
              </a:endParaRPr>
            </a:p>
          </p:txBody>
        </p:sp>
        <p:sp>
          <p:nvSpPr>
            <p:cNvPr id="25" name="TextBox 24">
              <a:extLst>
                <a:ext uri="{FF2B5EF4-FFF2-40B4-BE49-F238E27FC236}">
                  <a16:creationId xmlns:a16="http://schemas.microsoft.com/office/drawing/2014/main" id="{2CA16350-72B1-4C68-8132-C7CB2EDD29E1}"/>
                </a:ext>
              </a:extLst>
            </p:cNvPr>
            <p:cNvSpPr txBox="1"/>
            <p:nvPr/>
          </p:nvSpPr>
          <p:spPr>
            <a:xfrm>
              <a:off x="3813570" y="4459824"/>
              <a:ext cx="466726" cy="707886"/>
            </a:xfrm>
            <a:prstGeom prst="rect">
              <a:avLst/>
            </a:prstGeom>
            <a:noFill/>
          </p:spPr>
          <p:txBody>
            <a:bodyPr wrap="square" rtlCol="0">
              <a:spAutoFit/>
            </a:bodyPr>
            <a:lstStyle/>
            <a:p>
              <a:r>
                <a:rPr lang="en-US" sz="4000" b="1" dirty="0">
                  <a:ea typeface="Segoe UI Symbol" panose="020B0502040204020203" pitchFamily="34" charset="0"/>
                </a:rPr>
                <a:t>ℝ</a:t>
              </a:r>
              <a:endParaRPr lang="el-GR" sz="4000" dirty="0"/>
            </a:p>
          </p:txBody>
        </p:sp>
      </p:grpSp>
    </p:spTree>
    <p:extLst>
      <p:ext uri="{BB962C8B-B14F-4D97-AF65-F5344CB8AC3E}">
        <p14:creationId xmlns:p14="http://schemas.microsoft.com/office/powerpoint/2010/main" val="1557875885"/>
      </p:ext>
    </p:extLst>
  </p:cSld>
  <p:clrMapOvr>
    <a:masterClrMapping/>
  </p:clrMapOvr>
  <mc:AlternateContent xmlns:mc="http://schemas.openxmlformats.org/markup-compatibility/2006" xmlns:p14="http://schemas.microsoft.com/office/powerpoint/2010/main">
    <mc:Choice Requires="p14">
      <p:transition spd="slow" p14:dur="1250" advClick="0" advTm="8000">
        <p14:switch dir="r"/>
      </p:transition>
    </mc:Choice>
    <mc:Fallback xmlns="">
      <p:transition spd="slow" advClick="0" advTm="8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wipe(down)">
                                      <p:cBhvr>
                                        <p:cTn id="7" dur="1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wipe(down)">
                                      <p:cBhvr>
                                        <p:cTn id="12" dur="1500"/>
                                        <p:tgtEl>
                                          <p:spTgt spid="1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8">
                                            <p:txEl>
                                              <p:pRg st="4" end="4"/>
                                            </p:txEl>
                                          </p:spTgt>
                                        </p:tgtEl>
                                        <p:attrNameLst>
                                          <p:attrName>style.visibility</p:attrName>
                                        </p:attrNameLst>
                                      </p:cBhvr>
                                      <p:to>
                                        <p:strVal val="visible"/>
                                      </p:to>
                                    </p:set>
                                    <p:animEffect transition="in" filter="wipe(down)">
                                      <p:cBhvr>
                                        <p:cTn id="17" dur="1500"/>
                                        <p:tgtEl>
                                          <p:spTgt spid="1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8">
                                            <p:txEl>
                                              <p:pRg st="6" end="6"/>
                                            </p:txEl>
                                          </p:spTgt>
                                        </p:tgtEl>
                                        <p:attrNameLst>
                                          <p:attrName>style.visibility</p:attrName>
                                        </p:attrNameLst>
                                      </p:cBhvr>
                                      <p:to>
                                        <p:strVal val="visible"/>
                                      </p:to>
                                    </p:set>
                                    <p:animEffect transition="in" filter="wipe(down)">
                                      <p:cBhvr>
                                        <p:cTn id="22" dur="1500"/>
                                        <p:tgtEl>
                                          <p:spTgt spid="1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65000">
              <a:srgbClr val="939393"/>
            </a:gs>
            <a:gs pos="0">
              <a:schemeClr val="bg1"/>
            </a:gs>
            <a:gs pos="100000">
              <a:schemeClr val="accent1">
                <a:lumMod val="60000"/>
                <a:lumOff val="40000"/>
              </a:schemeClr>
            </a:gs>
          </a:gsLst>
          <a:lin ang="2700000" scaled="1"/>
          <a:tileRect/>
        </a:gradFill>
        <a:effectLst/>
      </p:bgPr>
    </p:bg>
    <p:spTree>
      <p:nvGrpSpPr>
        <p:cNvPr id="1" name=""/>
        <p:cNvGrpSpPr/>
        <p:nvPr/>
      </p:nvGrpSpPr>
      <p:grpSpPr>
        <a:xfrm>
          <a:off x="0" y="0"/>
          <a:ext cx="0" cy="0"/>
          <a:chOff x="0" y="0"/>
          <a:chExt cx="0" cy="0"/>
        </a:xfrm>
      </p:grpSpPr>
      <p:sp>
        <p:nvSpPr>
          <p:cNvPr id="39" name="AutoShape 2" descr="Πυθαγόρας Φωτογραφίες Αρχείου, Royalty Free Πυθαγόρας Εικόνες |  DepositPhotos">
            <a:extLst>
              <a:ext uri="{FF2B5EF4-FFF2-40B4-BE49-F238E27FC236}">
                <a16:creationId xmlns:a16="http://schemas.microsoft.com/office/drawing/2014/main" id="{28C5692E-31DB-41CC-816C-2A47F395C4B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l-GR">
              <a:latin typeface="Comic Sans MS" panose="030F0702030302020204" pitchFamily="66" charset="0"/>
            </a:endParaRPr>
          </a:p>
        </p:txBody>
      </p:sp>
      <p:sp>
        <p:nvSpPr>
          <p:cNvPr id="19" name="TextBox 18">
            <a:extLst>
              <a:ext uri="{FF2B5EF4-FFF2-40B4-BE49-F238E27FC236}">
                <a16:creationId xmlns:a16="http://schemas.microsoft.com/office/drawing/2014/main" id="{DACF7257-E69F-4131-86A5-388298C35C1F}"/>
              </a:ext>
            </a:extLst>
          </p:cNvPr>
          <p:cNvSpPr txBox="1"/>
          <p:nvPr/>
        </p:nvSpPr>
        <p:spPr>
          <a:xfrm>
            <a:off x="794612" y="2854964"/>
            <a:ext cx="5481638" cy="1015663"/>
          </a:xfrm>
          <a:prstGeom prst="rect">
            <a:avLst/>
          </a:prstGeom>
          <a:noFill/>
        </p:spPr>
        <p:txBody>
          <a:bodyPr wrap="square">
            <a:spAutoFit/>
          </a:bodyPr>
          <a:lstStyle/>
          <a:p>
            <a:r>
              <a:rPr lang="en-US" sz="2000" dirty="0">
                <a:latin typeface="Comic Sans MS" panose="030F0702030302020204" pitchFamily="66" charset="0"/>
              </a:rPr>
              <a:t>Later, he settled in Croton, in Magna Graecia in southern Italy, where he founded the famous Pythagorean School.</a:t>
            </a:r>
            <a:endParaRPr lang="el-GR" sz="2000" dirty="0">
              <a:latin typeface="Comic Sans MS" panose="030F0702030302020204" pitchFamily="66" charset="0"/>
            </a:endParaRPr>
          </a:p>
        </p:txBody>
      </p:sp>
      <p:sp>
        <p:nvSpPr>
          <p:cNvPr id="20" name="TextBox 19">
            <a:extLst>
              <a:ext uri="{FF2B5EF4-FFF2-40B4-BE49-F238E27FC236}">
                <a16:creationId xmlns:a16="http://schemas.microsoft.com/office/drawing/2014/main" id="{54C65911-AF89-401D-9714-A2ACE6E38725}"/>
              </a:ext>
            </a:extLst>
          </p:cNvPr>
          <p:cNvSpPr txBox="1"/>
          <p:nvPr/>
        </p:nvSpPr>
        <p:spPr>
          <a:xfrm>
            <a:off x="794612" y="1105843"/>
            <a:ext cx="5481638" cy="1015663"/>
          </a:xfrm>
          <a:prstGeom prst="rect">
            <a:avLst/>
          </a:prstGeom>
          <a:noFill/>
        </p:spPr>
        <p:txBody>
          <a:bodyPr wrap="square">
            <a:spAutoFit/>
          </a:bodyPr>
          <a:lstStyle/>
          <a:p>
            <a:r>
              <a:rPr lang="en-US" sz="2000" dirty="0">
                <a:latin typeface="Comic Sans MS" panose="030F0702030302020204" pitchFamily="66" charset="0"/>
              </a:rPr>
              <a:t>There he came into contact with different cultures and gained knowledge about mathematics, astronomy, and religion.</a:t>
            </a:r>
            <a:endParaRPr lang="el-GR" sz="2000" dirty="0">
              <a:latin typeface="Comic Sans MS" panose="030F0702030302020204" pitchFamily="66" charset="0"/>
            </a:endParaRPr>
          </a:p>
        </p:txBody>
      </p:sp>
      <p:pic>
        <p:nvPicPr>
          <p:cNvPr id="5128" name="Picture 8" descr="Spring Forum: Sara Panteri, &quot;'From All Eight, A Single Harmony Sounded': The Pythagoreans, Plato, and Eratosthenes on the Harmony of the Spheres&quot; | Events | News | History of Philosophy Forum | University of Notre Dame">
            <a:extLst>
              <a:ext uri="{FF2B5EF4-FFF2-40B4-BE49-F238E27FC236}">
                <a16:creationId xmlns:a16="http://schemas.microsoft.com/office/drawing/2014/main" id="{52C070F5-AFE0-4971-AE75-B559D9D6CD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502" y="1108680"/>
            <a:ext cx="2781298" cy="2781298"/>
          </a:xfrm>
          <a:prstGeom prst="rect">
            <a:avLst/>
          </a:prstGeom>
          <a:noFill/>
          <a:extLst>
            <a:ext uri="{909E8E84-426E-40DD-AFC4-6F175D3DCCD1}">
              <a14:hiddenFill xmlns:a14="http://schemas.microsoft.com/office/drawing/2010/main">
                <a:solidFill>
                  <a:srgbClr val="FFFFFF"/>
                </a:solidFill>
              </a14:hiddenFill>
            </a:ext>
          </a:extLst>
        </p:spPr>
      </p:pic>
      <p:sp>
        <p:nvSpPr>
          <p:cNvPr id="73" name="Ορθογώνιο 72">
            <a:extLst>
              <a:ext uri="{FF2B5EF4-FFF2-40B4-BE49-F238E27FC236}">
                <a16:creationId xmlns:a16="http://schemas.microsoft.com/office/drawing/2014/main" id="{9E081062-5F80-43A3-BC40-51709B0BC6B2}"/>
              </a:ext>
            </a:extLst>
          </p:cNvPr>
          <p:cNvSpPr/>
          <p:nvPr/>
        </p:nvSpPr>
        <p:spPr>
          <a:xfrm>
            <a:off x="0" y="5619750"/>
            <a:ext cx="12192000" cy="1238250"/>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shape">
              <a:fillToRect l="50000" t="50000" r="50000" b="50000"/>
            </a:path>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l-GR">
              <a:latin typeface="Comic Sans MS" panose="030F0702030302020204" pitchFamily="66" charset="0"/>
            </a:endParaRPr>
          </a:p>
        </p:txBody>
      </p:sp>
      <p:pic>
        <p:nvPicPr>
          <p:cNvPr id="74" name="Γραφικό 73" descr="Φιάλη με συμπαγές γέμισμα">
            <a:extLst>
              <a:ext uri="{FF2B5EF4-FFF2-40B4-BE49-F238E27FC236}">
                <a16:creationId xmlns:a16="http://schemas.microsoft.com/office/drawing/2014/main" id="{2C172DDE-6569-4191-9DF5-00B9FEA18A9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762" y="5730167"/>
            <a:ext cx="914400" cy="914400"/>
          </a:xfrm>
          <a:prstGeom prst="rect">
            <a:avLst/>
          </a:prstGeom>
        </p:spPr>
      </p:pic>
      <p:grpSp>
        <p:nvGrpSpPr>
          <p:cNvPr id="78" name="Ομάδα 77">
            <a:extLst>
              <a:ext uri="{FF2B5EF4-FFF2-40B4-BE49-F238E27FC236}">
                <a16:creationId xmlns:a16="http://schemas.microsoft.com/office/drawing/2014/main" id="{F859ED93-D9F6-47C6-96A4-D8342D3ABBED}"/>
              </a:ext>
            </a:extLst>
          </p:cNvPr>
          <p:cNvGrpSpPr/>
          <p:nvPr/>
        </p:nvGrpSpPr>
        <p:grpSpPr>
          <a:xfrm>
            <a:off x="5307806" y="5978321"/>
            <a:ext cx="914400" cy="914400"/>
            <a:chOff x="3589733" y="4435696"/>
            <a:chExt cx="914400" cy="914400"/>
          </a:xfrm>
        </p:grpSpPr>
        <p:sp>
          <p:nvSpPr>
            <p:cNvPr id="79" name="Ορθογώνιο 78">
              <a:extLst>
                <a:ext uri="{FF2B5EF4-FFF2-40B4-BE49-F238E27FC236}">
                  <a16:creationId xmlns:a16="http://schemas.microsoft.com/office/drawing/2014/main" id="{38637B93-436F-4B64-963F-DC2B645A77CA}"/>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Comic Sans MS" panose="030F0702030302020204" pitchFamily="66" charset="0"/>
              </a:endParaRPr>
            </a:p>
          </p:txBody>
        </p:sp>
        <p:sp>
          <p:nvSpPr>
            <p:cNvPr id="80" name="TextBox 79">
              <a:extLst>
                <a:ext uri="{FF2B5EF4-FFF2-40B4-BE49-F238E27FC236}">
                  <a16:creationId xmlns:a16="http://schemas.microsoft.com/office/drawing/2014/main" id="{52390BE3-83D4-410D-97EF-DAE9DDE72935}"/>
                </a:ext>
              </a:extLst>
            </p:cNvPr>
            <p:cNvSpPr txBox="1"/>
            <p:nvPr/>
          </p:nvSpPr>
          <p:spPr>
            <a:xfrm>
              <a:off x="3688556" y="4538953"/>
              <a:ext cx="690562" cy="707886"/>
            </a:xfrm>
            <a:prstGeom prst="rect">
              <a:avLst/>
            </a:prstGeom>
            <a:noFill/>
          </p:spPr>
          <p:txBody>
            <a:bodyPr wrap="square" rtlCol="0">
              <a:spAutoFit/>
            </a:bodyPr>
            <a:lstStyle/>
            <a:p>
              <a:endParaRPr lang="en-US" sz="2000" b="1" dirty="0">
                <a:solidFill>
                  <a:srgbClr val="181C1F"/>
                </a:solidFill>
                <a:effectLst/>
                <a:latin typeface="Comic Sans MS" panose="030F0702030302020204" pitchFamily="66" charset="0"/>
              </a:endParaRPr>
            </a:p>
            <a:p>
              <a:endParaRPr lang="el-GR" sz="2000" dirty="0">
                <a:latin typeface="Comic Sans MS" panose="030F0702030302020204" pitchFamily="66" charset="0"/>
              </a:endParaRPr>
            </a:p>
          </p:txBody>
        </p:sp>
      </p:grpSp>
      <p:pic>
        <p:nvPicPr>
          <p:cNvPr id="81" name="Γραφικό 80" descr="Μουσική με συμπαγές γέμισμα">
            <a:extLst>
              <a:ext uri="{FF2B5EF4-FFF2-40B4-BE49-F238E27FC236}">
                <a16:creationId xmlns:a16="http://schemas.microsoft.com/office/drawing/2014/main" id="{54B85EB1-EF0E-4ECA-94AD-016B8B9F456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96102" y="5703092"/>
            <a:ext cx="914400" cy="914400"/>
          </a:xfrm>
          <a:prstGeom prst="rect">
            <a:avLst/>
          </a:prstGeom>
        </p:spPr>
      </p:pic>
      <p:pic>
        <p:nvPicPr>
          <p:cNvPr id="82" name="Γραφικό 81" descr="Νεκροκεφαλή με συμπαγές γέμισμα">
            <a:extLst>
              <a:ext uri="{FF2B5EF4-FFF2-40B4-BE49-F238E27FC236}">
                <a16:creationId xmlns:a16="http://schemas.microsoft.com/office/drawing/2014/main" id="{DCDBF473-D8C5-45D7-80DA-31315BC114D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42748" y="5719765"/>
            <a:ext cx="914400" cy="914400"/>
          </a:xfrm>
          <a:prstGeom prst="rect">
            <a:avLst/>
          </a:prstGeom>
        </p:spPr>
      </p:pic>
      <p:pic>
        <p:nvPicPr>
          <p:cNvPr id="83" name="Γραφικό 82" descr="Εγκέφαλος με συμπαγές γέμισμα">
            <a:extLst>
              <a:ext uri="{FF2B5EF4-FFF2-40B4-BE49-F238E27FC236}">
                <a16:creationId xmlns:a16="http://schemas.microsoft.com/office/drawing/2014/main" id="{0FC737B5-03FD-4F4A-9205-7B9C120F009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389393" y="5781674"/>
            <a:ext cx="914400" cy="914400"/>
          </a:xfrm>
          <a:prstGeom prst="rect">
            <a:avLst/>
          </a:prstGeom>
        </p:spPr>
      </p:pic>
      <p:grpSp>
        <p:nvGrpSpPr>
          <p:cNvPr id="84" name="Ομάδα 83">
            <a:extLst>
              <a:ext uri="{FF2B5EF4-FFF2-40B4-BE49-F238E27FC236}">
                <a16:creationId xmlns:a16="http://schemas.microsoft.com/office/drawing/2014/main" id="{5239F2D5-9B0D-4E04-BB12-D5635F8D712A}"/>
              </a:ext>
            </a:extLst>
          </p:cNvPr>
          <p:cNvGrpSpPr/>
          <p:nvPr/>
        </p:nvGrpSpPr>
        <p:grpSpPr>
          <a:xfrm>
            <a:off x="152400" y="5122188"/>
            <a:ext cx="1238250" cy="1238250"/>
            <a:chOff x="1943100" y="1657350"/>
            <a:chExt cx="1238250" cy="1238250"/>
          </a:xfrm>
          <a:gradFill>
            <a:gsLst>
              <a:gs pos="0">
                <a:schemeClr val="accent3">
                  <a:lumMod val="67000"/>
                </a:schemeClr>
              </a:gs>
              <a:gs pos="48000">
                <a:schemeClr val="accent3">
                  <a:lumMod val="97000"/>
                  <a:lumOff val="3000"/>
                </a:schemeClr>
              </a:gs>
              <a:gs pos="100000">
                <a:schemeClr val="accent3">
                  <a:lumMod val="60000"/>
                  <a:lumOff val="40000"/>
                </a:schemeClr>
              </a:gs>
            </a:gsLst>
            <a:lin ang="16200000" scaled="1"/>
          </a:gradFill>
        </p:grpSpPr>
        <p:sp>
          <p:nvSpPr>
            <p:cNvPr id="85" name="Οβάλ 84">
              <a:extLst>
                <a:ext uri="{FF2B5EF4-FFF2-40B4-BE49-F238E27FC236}">
                  <a16:creationId xmlns:a16="http://schemas.microsoft.com/office/drawing/2014/main" id="{EB7FD5BB-940A-46D1-B6F1-A8BD702D0A66}"/>
                </a:ext>
              </a:extLst>
            </p:cNvPr>
            <p:cNvSpPr/>
            <p:nvPr/>
          </p:nvSpPr>
          <p:spPr>
            <a:xfrm>
              <a:off x="1943100" y="1657350"/>
              <a:ext cx="1238250" cy="123825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Comic Sans MS" panose="030F0702030302020204" pitchFamily="66" charset="0"/>
              </a:endParaRPr>
            </a:p>
          </p:txBody>
        </p:sp>
        <p:sp>
          <p:nvSpPr>
            <p:cNvPr id="86" name="Οβάλ 85">
              <a:extLst>
                <a:ext uri="{FF2B5EF4-FFF2-40B4-BE49-F238E27FC236}">
                  <a16:creationId xmlns:a16="http://schemas.microsoft.com/office/drawing/2014/main" id="{26BF65DF-C0D8-46A8-ACEB-5F7C4969798C}"/>
                </a:ext>
              </a:extLst>
            </p:cNvPr>
            <p:cNvSpPr/>
            <p:nvPr/>
          </p:nvSpPr>
          <p:spPr>
            <a:xfrm>
              <a:off x="2105025" y="1819275"/>
              <a:ext cx="914400" cy="9144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latin typeface="Comic Sans MS" panose="030F0702030302020204" pitchFamily="66" charset="0"/>
              </a:endParaRPr>
            </a:p>
          </p:txBody>
        </p:sp>
      </p:grpSp>
      <p:pic>
        <p:nvPicPr>
          <p:cNvPr id="87" name="Γραφικό 86" descr="Atom με συμπαγές γέμισμα">
            <a:extLst>
              <a:ext uri="{FF2B5EF4-FFF2-40B4-BE49-F238E27FC236}">
                <a16:creationId xmlns:a16="http://schemas.microsoft.com/office/drawing/2014/main" id="{DF57E46D-B993-4ABF-A04A-7A7C60FCDB1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23850" y="5310426"/>
            <a:ext cx="895350" cy="895350"/>
          </a:xfrm>
          <a:prstGeom prst="rect">
            <a:avLst/>
          </a:prstGeom>
        </p:spPr>
      </p:pic>
      <p:sp>
        <p:nvSpPr>
          <p:cNvPr id="22" name="TextBox 21">
            <a:extLst>
              <a:ext uri="{FF2B5EF4-FFF2-40B4-BE49-F238E27FC236}">
                <a16:creationId xmlns:a16="http://schemas.microsoft.com/office/drawing/2014/main" id="{13FA6A3B-AD23-4AE1-987A-272F751B37A9}"/>
              </a:ext>
            </a:extLst>
          </p:cNvPr>
          <p:cNvSpPr txBox="1"/>
          <p:nvPr/>
        </p:nvSpPr>
        <p:spPr>
          <a:xfrm>
            <a:off x="5172801" y="6128989"/>
            <a:ext cx="1103449" cy="338554"/>
          </a:xfrm>
          <a:prstGeom prst="rect">
            <a:avLst/>
          </a:prstGeom>
          <a:noFill/>
        </p:spPr>
        <p:txBody>
          <a:bodyPr wrap="square" rtlCol="0">
            <a:spAutoFit/>
          </a:bodyPr>
          <a:lstStyle/>
          <a:p>
            <a:pPr algn="ctr"/>
            <a:r>
              <a:rPr lang="el-GR" sz="1600" b="1" dirty="0">
                <a:latin typeface="Comic Sans MS" panose="030F0702030302020204" pitchFamily="66" charset="0"/>
              </a:rPr>
              <a:t>α</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b</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c</a:t>
            </a:r>
            <a:r>
              <a:rPr lang="el-GR" sz="1600" b="1" baseline="30000" dirty="0">
                <a:latin typeface="Comic Sans MS" panose="030F0702030302020204" pitchFamily="66" charset="0"/>
              </a:rPr>
              <a:t>2</a:t>
            </a:r>
            <a:endParaRPr lang="el-GR" sz="1600" dirty="0">
              <a:latin typeface="Comic Sans MS" panose="030F0702030302020204" pitchFamily="66" charset="0"/>
            </a:endParaRPr>
          </a:p>
        </p:txBody>
      </p:sp>
      <p:grpSp>
        <p:nvGrpSpPr>
          <p:cNvPr id="26" name="Ομάδα 25">
            <a:extLst>
              <a:ext uri="{FF2B5EF4-FFF2-40B4-BE49-F238E27FC236}">
                <a16:creationId xmlns:a16="http://schemas.microsoft.com/office/drawing/2014/main" id="{B353BBED-E7B8-40A4-8988-C37D0BCA180D}"/>
              </a:ext>
            </a:extLst>
          </p:cNvPr>
          <p:cNvGrpSpPr/>
          <p:nvPr/>
        </p:nvGrpSpPr>
        <p:grpSpPr>
          <a:xfrm>
            <a:off x="3638549" y="5863518"/>
            <a:ext cx="914400" cy="914400"/>
            <a:chOff x="3589733" y="4435696"/>
            <a:chExt cx="914400" cy="914400"/>
          </a:xfrm>
        </p:grpSpPr>
        <p:sp>
          <p:nvSpPr>
            <p:cNvPr id="27" name="Ορθογώνιο 26">
              <a:extLst>
                <a:ext uri="{FF2B5EF4-FFF2-40B4-BE49-F238E27FC236}">
                  <a16:creationId xmlns:a16="http://schemas.microsoft.com/office/drawing/2014/main" id="{B5CB9ECC-D7D9-409C-9522-0AEFC57EAD35}"/>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Comic Sans MS" panose="030F0702030302020204" pitchFamily="66" charset="0"/>
              </a:endParaRPr>
            </a:p>
          </p:txBody>
        </p:sp>
        <p:sp>
          <p:nvSpPr>
            <p:cNvPr id="28" name="TextBox 27">
              <a:extLst>
                <a:ext uri="{FF2B5EF4-FFF2-40B4-BE49-F238E27FC236}">
                  <a16:creationId xmlns:a16="http://schemas.microsoft.com/office/drawing/2014/main" id="{7E83119E-F6C3-46DD-87AA-F2B2E855DAE7}"/>
                </a:ext>
              </a:extLst>
            </p:cNvPr>
            <p:cNvSpPr txBox="1"/>
            <p:nvPr/>
          </p:nvSpPr>
          <p:spPr>
            <a:xfrm>
              <a:off x="3813570" y="4459824"/>
              <a:ext cx="466726" cy="707886"/>
            </a:xfrm>
            <a:prstGeom prst="rect">
              <a:avLst/>
            </a:prstGeom>
            <a:noFill/>
          </p:spPr>
          <p:txBody>
            <a:bodyPr wrap="square" rtlCol="0">
              <a:spAutoFit/>
            </a:bodyPr>
            <a:lstStyle/>
            <a:p>
              <a:r>
                <a:rPr lang="en-US" sz="4000" b="1" dirty="0">
                  <a:ea typeface="Segoe UI Symbol" panose="020B0502040204020203" pitchFamily="34" charset="0"/>
                </a:rPr>
                <a:t>ℝ</a:t>
              </a:r>
              <a:endParaRPr lang="el-GR" sz="4000" dirty="0"/>
            </a:p>
          </p:txBody>
        </p:sp>
      </p:grpSp>
    </p:spTree>
    <p:extLst>
      <p:ext uri="{BB962C8B-B14F-4D97-AF65-F5344CB8AC3E}">
        <p14:creationId xmlns:p14="http://schemas.microsoft.com/office/powerpoint/2010/main" val="2471290311"/>
      </p:ext>
    </p:extLst>
  </p:cSld>
  <p:clrMapOvr>
    <a:masterClrMapping/>
  </p:clrMapOvr>
  <mc:AlternateContent xmlns:mc="http://schemas.openxmlformats.org/markup-compatibility/2006" xmlns:p14="http://schemas.microsoft.com/office/powerpoint/2010/main">
    <mc:Choice Requires="p14">
      <p:transition spd="slow" p14:dur="1250" advClick="0" advTm="8000">
        <p14:switch dir="r"/>
      </p:transition>
    </mc:Choice>
    <mc:Fallback xmlns="">
      <p:transition spd="slow" advClick="0" advTm="8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1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down)">
                                      <p:cBhvr>
                                        <p:cTn id="12" dur="1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65000">
              <a:srgbClr val="939393"/>
            </a:gs>
            <a:gs pos="0">
              <a:schemeClr val="bg1"/>
            </a:gs>
            <a:gs pos="100000">
              <a:schemeClr val="accent1">
                <a:lumMod val="60000"/>
                <a:lumOff val="40000"/>
              </a:schemeClr>
            </a:gs>
          </a:gsLst>
          <a:lin ang="2700000" scaled="1"/>
          <a:tileRect/>
        </a:gradFill>
        <a:effectLst/>
      </p:bgPr>
    </p:bg>
    <p:spTree>
      <p:nvGrpSpPr>
        <p:cNvPr id="1" name=""/>
        <p:cNvGrpSpPr/>
        <p:nvPr/>
      </p:nvGrpSpPr>
      <p:grpSpPr>
        <a:xfrm>
          <a:off x="0" y="0"/>
          <a:ext cx="0" cy="0"/>
          <a:chOff x="0" y="0"/>
          <a:chExt cx="0" cy="0"/>
        </a:xfrm>
      </p:grpSpPr>
      <p:sp>
        <p:nvSpPr>
          <p:cNvPr id="38" name="TextBox 37">
            <a:extLst>
              <a:ext uri="{FF2B5EF4-FFF2-40B4-BE49-F238E27FC236}">
                <a16:creationId xmlns:a16="http://schemas.microsoft.com/office/drawing/2014/main" id="{377100F7-F10B-4CE9-84E8-614012D98C25}"/>
              </a:ext>
            </a:extLst>
          </p:cNvPr>
          <p:cNvSpPr txBox="1"/>
          <p:nvPr/>
        </p:nvSpPr>
        <p:spPr>
          <a:xfrm>
            <a:off x="757069" y="740250"/>
            <a:ext cx="4864710" cy="559384"/>
          </a:xfrm>
          <a:prstGeom prst="rect">
            <a:avLst/>
          </a:prstGeom>
          <a:noFill/>
        </p:spPr>
        <p:txBody>
          <a:bodyPr wrap="square">
            <a:spAutoFit/>
          </a:bodyPr>
          <a:lstStyle/>
          <a:p>
            <a:pPr algn="ctr">
              <a:lnSpc>
                <a:spcPct val="107000"/>
              </a:lnSpc>
              <a:spcAft>
                <a:spcPts val="800"/>
              </a:spcAft>
            </a:pPr>
            <a:r>
              <a:rPr lang="en-US" sz="3000" b="1" dirty="0">
                <a:latin typeface="Comic Sans MS" panose="030F0702030302020204" pitchFamily="66" charset="0"/>
              </a:rPr>
              <a:t>The Pythagorean School</a:t>
            </a:r>
            <a:endParaRPr lang="el-GR" sz="3000" dirty="0">
              <a:effectLst/>
              <a:latin typeface="Comic Sans MS" panose="030F0702030302020204" pitchFamily="66" charset="0"/>
              <a:ea typeface="Calibri" panose="020F050202020403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F6B88E5B-86BC-4D22-8D8A-E9FD39DA8F3D}"/>
              </a:ext>
            </a:extLst>
          </p:cNvPr>
          <p:cNvSpPr txBox="1"/>
          <p:nvPr/>
        </p:nvSpPr>
        <p:spPr>
          <a:xfrm>
            <a:off x="757069" y="3602390"/>
            <a:ext cx="5145225" cy="1015663"/>
          </a:xfrm>
          <a:prstGeom prst="rect">
            <a:avLst/>
          </a:prstGeom>
          <a:noFill/>
        </p:spPr>
        <p:txBody>
          <a:bodyPr wrap="square">
            <a:spAutoFit/>
          </a:bodyPr>
          <a:lstStyle/>
          <a:p>
            <a:r>
              <a:rPr lang="en-US" sz="2000" dirty="0">
                <a:latin typeface="Comic Sans MS" panose="030F0702030302020204" pitchFamily="66" charset="0"/>
              </a:rPr>
              <a:t>It was an organized philosophical and religious community with strict rules.</a:t>
            </a:r>
            <a:endParaRPr lang="el-GR" sz="2000" dirty="0">
              <a:latin typeface="Comic Sans MS" panose="030F0702030302020204" pitchFamily="66" charset="0"/>
            </a:endParaRPr>
          </a:p>
          <a:p>
            <a:endParaRPr lang="el-GR" sz="2000" dirty="0">
              <a:latin typeface="Comic Sans MS" panose="030F0702030302020204" pitchFamily="66" charset="0"/>
            </a:endParaRPr>
          </a:p>
        </p:txBody>
      </p:sp>
      <p:sp>
        <p:nvSpPr>
          <p:cNvPr id="22" name="TextBox 21">
            <a:extLst>
              <a:ext uri="{FF2B5EF4-FFF2-40B4-BE49-F238E27FC236}">
                <a16:creationId xmlns:a16="http://schemas.microsoft.com/office/drawing/2014/main" id="{D6B9DABE-78E3-4B3E-A5D0-5E6668DEC74E}"/>
              </a:ext>
            </a:extLst>
          </p:cNvPr>
          <p:cNvSpPr txBox="1"/>
          <p:nvPr/>
        </p:nvSpPr>
        <p:spPr>
          <a:xfrm>
            <a:off x="757069" y="2097069"/>
            <a:ext cx="4983956" cy="707886"/>
          </a:xfrm>
          <a:prstGeom prst="rect">
            <a:avLst/>
          </a:prstGeom>
          <a:noFill/>
        </p:spPr>
        <p:txBody>
          <a:bodyPr wrap="square">
            <a:spAutoFit/>
          </a:bodyPr>
          <a:lstStyle/>
          <a:p>
            <a:r>
              <a:rPr lang="en-US" sz="2000" dirty="0">
                <a:latin typeface="Comic Sans MS" panose="030F0702030302020204" pitchFamily="66" charset="0"/>
              </a:rPr>
              <a:t>The Pythagorean School was not simply a mathematics school. </a:t>
            </a:r>
            <a:endParaRPr lang="en-US" sz="2000" dirty="0">
              <a:latin typeface="Comic Sans MS" panose="030F0702030302020204" pitchFamily="66" charset="0"/>
              <a:ea typeface="Times New Roman" panose="02020603050405020304" pitchFamily="18" charset="0"/>
            </a:endParaRPr>
          </a:p>
        </p:txBody>
      </p:sp>
      <p:pic>
        <p:nvPicPr>
          <p:cNvPr id="6146" name="Picture 2">
            <a:extLst>
              <a:ext uri="{FF2B5EF4-FFF2-40B4-BE49-F238E27FC236}">
                <a16:creationId xmlns:a16="http://schemas.microsoft.com/office/drawing/2014/main" id="{9B88BE9C-45B2-4EF0-A45B-7290A0D5DD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9708" y="1676699"/>
            <a:ext cx="5145225" cy="2941354"/>
          </a:xfrm>
          <a:prstGeom prst="rect">
            <a:avLst/>
          </a:prstGeom>
          <a:noFill/>
          <a:extLst>
            <a:ext uri="{909E8E84-426E-40DD-AFC4-6F175D3DCCD1}">
              <a14:hiddenFill xmlns:a14="http://schemas.microsoft.com/office/drawing/2010/main">
                <a:solidFill>
                  <a:srgbClr val="FFFFFF"/>
                </a:solidFill>
              </a14:hiddenFill>
            </a:ext>
          </a:extLst>
        </p:spPr>
      </p:pic>
      <p:sp>
        <p:nvSpPr>
          <p:cNvPr id="27" name="Ορθογώνιο 26">
            <a:extLst>
              <a:ext uri="{FF2B5EF4-FFF2-40B4-BE49-F238E27FC236}">
                <a16:creationId xmlns:a16="http://schemas.microsoft.com/office/drawing/2014/main" id="{BB15A245-2826-4C6A-92B0-DCB7C34F00DD}"/>
              </a:ext>
            </a:extLst>
          </p:cNvPr>
          <p:cNvSpPr/>
          <p:nvPr/>
        </p:nvSpPr>
        <p:spPr>
          <a:xfrm>
            <a:off x="0" y="5619750"/>
            <a:ext cx="12192000" cy="1238250"/>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shape">
              <a:fillToRect l="50000" t="50000" r="50000" b="50000"/>
            </a:path>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l-GR">
              <a:latin typeface="Comic Sans MS" panose="030F0702030302020204" pitchFamily="66" charset="0"/>
            </a:endParaRPr>
          </a:p>
        </p:txBody>
      </p:sp>
      <p:pic>
        <p:nvPicPr>
          <p:cNvPr id="28" name="Γραφικό 27" descr="Atom με συμπαγές γέμισμα">
            <a:extLst>
              <a:ext uri="{FF2B5EF4-FFF2-40B4-BE49-F238E27FC236}">
                <a16:creationId xmlns:a16="http://schemas.microsoft.com/office/drawing/2014/main" id="{5D16FCAA-9413-48F0-960A-824DE0E1A90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3850" y="5804600"/>
            <a:ext cx="895350" cy="895350"/>
          </a:xfrm>
          <a:prstGeom prst="rect">
            <a:avLst/>
          </a:prstGeom>
        </p:spPr>
      </p:pic>
      <p:grpSp>
        <p:nvGrpSpPr>
          <p:cNvPr id="34" name="Ομάδα 33">
            <a:extLst>
              <a:ext uri="{FF2B5EF4-FFF2-40B4-BE49-F238E27FC236}">
                <a16:creationId xmlns:a16="http://schemas.microsoft.com/office/drawing/2014/main" id="{B8CA4881-9D75-4177-A614-6FEA5092D5C2}"/>
              </a:ext>
            </a:extLst>
          </p:cNvPr>
          <p:cNvGrpSpPr/>
          <p:nvPr/>
        </p:nvGrpSpPr>
        <p:grpSpPr>
          <a:xfrm>
            <a:off x="5307806" y="5978321"/>
            <a:ext cx="914400" cy="914400"/>
            <a:chOff x="3589733" y="4435696"/>
            <a:chExt cx="914400" cy="914400"/>
          </a:xfrm>
        </p:grpSpPr>
        <p:sp>
          <p:nvSpPr>
            <p:cNvPr id="35" name="Ορθογώνιο 34">
              <a:extLst>
                <a:ext uri="{FF2B5EF4-FFF2-40B4-BE49-F238E27FC236}">
                  <a16:creationId xmlns:a16="http://schemas.microsoft.com/office/drawing/2014/main" id="{30631740-429E-41F5-9E3D-7FEF95E65CCA}"/>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Comic Sans MS" panose="030F0702030302020204" pitchFamily="66" charset="0"/>
              </a:endParaRPr>
            </a:p>
          </p:txBody>
        </p:sp>
        <p:sp>
          <p:nvSpPr>
            <p:cNvPr id="36" name="TextBox 35">
              <a:extLst>
                <a:ext uri="{FF2B5EF4-FFF2-40B4-BE49-F238E27FC236}">
                  <a16:creationId xmlns:a16="http://schemas.microsoft.com/office/drawing/2014/main" id="{BF6BB282-1273-4A0F-A214-4F28A87E761D}"/>
                </a:ext>
              </a:extLst>
            </p:cNvPr>
            <p:cNvSpPr txBox="1"/>
            <p:nvPr/>
          </p:nvSpPr>
          <p:spPr>
            <a:xfrm>
              <a:off x="3688556" y="4538953"/>
              <a:ext cx="690562" cy="707886"/>
            </a:xfrm>
            <a:prstGeom prst="rect">
              <a:avLst/>
            </a:prstGeom>
            <a:noFill/>
          </p:spPr>
          <p:txBody>
            <a:bodyPr wrap="square" rtlCol="0">
              <a:spAutoFit/>
            </a:bodyPr>
            <a:lstStyle/>
            <a:p>
              <a:endParaRPr lang="en-US" sz="2000" b="1" dirty="0">
                <a:solidFill>
                  <a:srgbClr val="181C1F"/>
                </a:solidFill>
                <a:effectLst/>
                <a:latin typeface="Comic Sans MS" panose="030F0702030302020204" pitchFamily="66" charset="0"/>
              </a:endParaRPr>
            </a:p>
            <a:p>
              <a:endParaRPr lang="el-GR" sz="2000" dirty="0">
                <a:latin typeface="Comic Sans MS" panose="030F0702030302020204" pitchFamily="66" charset="0"/>
              </a:endParaRPr>
            </a:p>
          </p:txBody>
        </p:sp>
      </p:grpSp>
      <p:pic>
        <p:nvPicPr>
          <p:cNvPr id="37" name="Γραφικό 36" descr="Μουσική με συμπαγές γέμισμα">
            <a:extLst>
              <a:ext uri="{FF2B5EF4-FFF2-40B4-BE49-F238E27FC236}">
                <a16:creationId xmlns:a16="http://schemas.microsoft.com/office/drawing/2014/main" id="{D9AFB821-02F4-4E5B-9677-4DDF275B827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96102" y="5703092"/>
            <a:ext cx="914400" cy="914400"/>
          </a:xfrm>
          <a:prstGeom prst="rect">
            <a:avLst/>
          </a:prstGeom>
        </p:spPr>
      </p:pic>
      <p:pic>
        <p:nvPicPr>
          <p:cNvPr id="40" name="Γραφικό 39" descr="Νεκροκεφαλή με συμπαγές γέμισμα">
            <a:extLst>
              <a:ext uri="{FF2B5EF4-FFF2-40B4-BE49-F238E27FC236}">
                <a16:creationId xmlns:a16="http://schemas.microsoft.com/office/drawing/2014/main" id="{D52A9744-E276-415D-9BE7-D6E9ECF0786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42748" y="5719765"/>
            <a:ext cx="914400" cy="914400"/>
          </a:xfrm>
          <a:prstGeom prst="rect">
            <a:avLst/>
          </a:prstGeom>
        </p:spPr>
      </p:pic>
      <p:pic>
        <p:nvPicPr>
          <p:cNvPr id="41" name="Γραφικό 40" descr="Εγκέφαλος με συμπαγές γέμισμα">
            <a:extLst>
              <a:ext uri="{FF2B5EF4-FFF2-40B4-BE49-F238E27FC236}">
                <a16:creationId xmlns:a16="http://schemas.microsoft.com/office/drawing/2014/main" id="{E4066D3B-C70F-4D29-BBF7-231BABF46ED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389393" y="5781674"/>
            <a:ext cx="914400" cy="914400"/>
          </a:xfrm>
          <a:prstGeom prst="rect">
            <a:avLst/>
          </a:prstGeom>
        </p:spPr>
      </p:pic>
      <p:grpSp>
        <p:nvGrpSpPr>
          <p:cNvPr id="11" name="Ομάδα 10">
            <a:extLst>
              <a:ext uri="{FF2B5EF4-FFF2-40B4-BE49-F238E27FC236}">
                <a16:creationId xmlns:a16="http://schemas.microsoft.com/office/drawing/2014/main" id="{B430B68D-F4BC-47EC-9A90-B3B4AAAFF053}"/>
              </a:ext>
            </a:extLst>
          </p:cNvPr>
          <p:cNvGrpSpPr/>
          <p:nvPr/>
        </p:nvGrpSpPr>
        <p:grpSpPr>
          <a:xfrm>
            <a:off x="1747837" y="5176838"/>
            <a:ext cx="1238250" cy="1238250"/>
            <a:chOff x="1943100" y="1657350"/>
            <a:chExt cx="1238250" cy="1238250"/>
          </a:xfrm>
          <a:gradFill>
            <a:gsLst>
              <a:gs pos="0">
                <a:schemeClr val="accent3">
                  <a:lumMod val="67000"/>
                </a:schemeClr>
              </a:gs>
              <a:gs pos="48000">
                <a:schemeClr val="accent3">
                  <a:lumMod val="97000"/>
                  <a:lumOff val="3000"/>
                </a:schemeClr>
              </a:gs>
              <a:gs pos="100000">
                <a:schemeClr val="accent3">
                  <a:lumMod val="60000"/>
                  <a:lumOff val="40000"/>
                </a:schemeClr>
              </a:gs>
            </a:gsLst>
            <a:lin ang="16200000" scaled="1"/>
          </a:gradFill>
        </p:grpSpPr>
        <p:sp>
          <p:nvSpPr>
            <p:cNvPr id="8" name="Οβάλ 7">
              <a:extLst>
                <a:ext uri="{FF2B5EF4-FFF2-40B4-BE49-F238E27FC236}">
                  <a16:creationId xmlns:a16="http://schemas.microsoft.com/office/drawing/2014/main" id="{4A8C6E6E-052A-48DE-A36D-49D66EEB227C}"/>
                </a:ext>
              </a:extLst>
            </p:cNvPr>
            <p:cNvSpPr/>
            <p:nvPr/>
          </p:nvSpPr>
          <p:spPr>
            <a:xfrm>
              <a:off x="1943100" y="1657350"/>
              <a:ext cx="1238250" cy="123825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Comic Sans MS" panose="030F0702030302020204" pitchFamily="66" charset="0"/>
              </a:endParaRPr>
            </a:p>
          </p:txBody>
        </p:sp>
        <p:sp>
          <p:nvSpPr>
            <p:cNvPr id="10" name="Οβάλ 9">
              <a:extLst>
                <a:ext uri="{FF2B5EF4-FFF2-40B4-BE49-F238E27FC236}">
                  <a16:creationId xmlns:a16="http://schemas.microsoft.com/office/drawing/2014/main" id="{603338D8-9AE0-4240-A6C2-18020C09A7E2}"/>
                </a:ext>
              </a:extLst>
            </p:cNvPr>
            <p:cNvSpPr/>
            <p:nvPr/>
          </p:nvSpPr>
          <p:spPr>
            <a:xfrm>
              <a:off x="2105025" y="1819275"/>
              <a:ext cx="914400" cy="9144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latin typeface="Comic Sans MS" panose="030F0702030302020204" pitchFamily="66" charset="0"/>
              </a:endParaRPr>
            </a:p>
          </p:txBody>
        </p:sp>
      </p:grpSp>
      <p:pic>
        <p:nvPicPr>
          <p:cNvPr id="29" name="Γραφικό 28" descr="Φιάλη με συμπαγές γέμισμα">
            <a:extLst>
              <a:ext uri="{FF2B5EF4-FFF2-40B4-BE49-F238E27FC236}">
                <a16:creationId xmlns:a16="http://schemas.microsoft.com/office/drawing/2014/main" id="{1E3B4BBA-5449-414B-BC81-4E332123B53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914525" y="5338763"/>
            <a:ext cx="914400" cy="914400"/>
          </a:xfrm>
          <a:prstGeom prst="rect">
            <a:avLst/>
          </a:prstGeom>
        </p:spPr>
      </p:pic>
      <p:sp>
        <p:nvSpPr>
          <p:cNvPr id="23" name="TextBox 22">
            <a:extLst>
              <a:ext uri="{FF2B5EF4-FFF2-40B4-BE49-F238E27FC236}">
                <a16:creationId xmlns:a16="http://schemas.microsoft.com/office/drawing/2014/main" id="{6714BA4D-701C-4753-BC8B-D791F853B889}"/>
              </a:ext>
            </a:extLst>
          </p:cNvPr>
          <p:cNvSpPr txBox="1"/>
          <p:nvPr/>
        </p:nvSpPr>
        <p:spPr>
          <a:xfrm>
            <a:off x="5172801" y="6102613"/>
            <a:ext cx="1103449" cy="338554"/>
          </a:xfrm>
          <a:prstGeom prst="rect">
            <a:avLst/>
          </a:prstGeom>
          <a:noFill/>
        </p:spPr>
        <p:txBody>
          <a:bodyPr wrap="square" rtlCol="0">
            <a:spAutoFit/>
          </a:bodyPr>
          <a:lstStyle/>
          <a:p>
            <a:pPr algn="ctr"/>
            <a:r>
              <a:rPr lang="el-GR" sz="1600" b="1" dirty="0">
                <a:latin typeface="Comic Sans MS" panose="030F0702030302020204" pitchFamily="66" charset="0"/>
              </a:rPr>
              <a:t>α</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b</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c</a:t>
            </a:r>
            <a:r>
              <a:rPr lang="el-GR" sz="1600" b="1" baseline="30000" dirty="0">
                <a:latin typeface="Comic Sans MS" panose="030F0702030302020204" pitchFamily="66" charset="0"/>
              </a:rPr>
              <a:t>2</a:t>
            </a:r>
            <a:endParaRPr lang="el-GR" sz="2000" dirty="0">
              <a:latin typeface="Comic Sans MS" panose="030F0702030302020204" pitchFamily="66" charset="0"/>
            </a:endParaRPr>
          </a:p>
        </p:txBody>
      </p:sp>
      <p:grpSp>
        <p:nvGrpSpPr>
          <p:cNvPr id="24" name="Ομάδα 23">
            <a:extLst>
              <a:ext uri="{FF2B5EF4-FFF2-40B4-BE49-F238E27FC236}">
                <a16:creationId xmlns:a16="http://schemas.microsoft.com/office/drawing/2014/main" id="{8297B348-F22E-49EF-8C8A-6AAB17CFD62A}"/>
              </a:ext>
            </a:extLst>
          </p:cNvPr>
          <p:cNvGrpSpPr/>
          <p:nvPr/>
        </p:nvGrpSpPr>
        <p:grpSpPr>
          <a:xfrm>
            <a:off x="3638549" y="5863518"/>
            <a:ext cx="914400" cy="914400"/>
            <a:chOff x="3589733" y="4435696"/>
            <a:chExt cx="914400" cy="914400"/>
          </a:xfrm>
        </p:grpSpPr>
        <p:sp>
          <p:nvSpPr>
            <p:cNvPr id="25" name="Ορθογώνιο 24">
              <a:extLst>
                <a:ext uri="{FF2B5EF4-FFF2-40B4-BE49-F238E27FC236}">
                  <a16:creationId xmlns:a16="http://schemas.microsoft.com/office/drawing/2014/main" id="{8D3200F5-5C53-47E3-BF81-79FD5356B290}"/>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Comic Sans MS" panose="030F0702030302020204" pitchFamily="66" charset="0"/>
              </a:endParaRPr>
            </a:p>
          </p:txBody>
        </p:sp>
        <p:sp>
          <p:nvSpPr>
            <p:cNvPr id="26" name="TextBox 25">
              <a:extLst>
                <a:ext uri="{FF2B5EF4-FFF2-40B4-BE49-F238E27FC236}">
                  <a16:creationId xmlns:a16="http://schemas.microsoft.com/office/drawing/2014/main" id="{2DC7C856-FDE6-4974-8CFC-9BB591210980}"/>
                </a:ext>
              </a:extLst>
            </p:cNvPr>
            <p:cNvSpPr txBox="1"/>
            <p:nvPr/>
          </p:nvSpPr>
          <p:spPr>
            <a:xfrm>
              <a:off x="3813570" y="4459824"/>
              <a:ext cx="466726" cy="707886"/>
            </a:xfrm>
            <a:prstGeom prst="rect">
              <a:avLst/>
            </a:prstGeom>
            <a:noFill/>
          </p:spPr>
          <p:txBody>
            <a:bodyPr wrap="square" rtlCol="0">
              <a:spAutoFit/>
            </a:bodyPr>
            <a:lstStyle/>
            <a:p>
              <a:r>
                <a:rPr lang="en-US" sz="4000" b="1" dirty="0">
                  <a:ea typeface="Segoe UI Symbol" panose="020B0502040204020203" pitchFamily="34" charset="0"/>
                </a:rPr>
                <a:t>ℝ</a:t>
              </a:r>
              <a:endParaRPr lang="el-GR" sz="4000" dirty="0"/>
            </a:p>
          </p:txBody>
        </p:sp>
      </p:grpSp>
    </p:spTree>
    <p:extLst>
      <p:ext uri="{BB962C8B-B14F-4D97-AF65-F5344CB8AC3E}">
        <p14:creationId xmlns:p14="http://schemas.microsoft.com/office/powerpoint/2010/main" val="2243966368"/>
      </p:ext>
    </p:extLst>
  </p:cSld>
  <p:clrMapOvr>
    <a:masterClrMapping/>
  </p:clrMapOvr>
  <mc:AlternateContent xmlns:mc="http://schemas.openxmlformats.org/markup-compatibility/2006" xmlns:p14="http://schemas.microsoft.com/office/powerpoint/2010/main">
    <mc:Choice Requires="p14">
      <p:transition spd="slow" p14:dur="1250" advClick="0" advTm="8000">
        <p14:switch dir="r"/>
      </p:transition>
    </mc:Choice>
    <mc:Fallback xmlns="">
      <p:transition spd="slow" advClick="0" advTm="8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down)">
                                      <p:cBhvr>
                                        <p:cTn id="12" dur="1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down)">
                                      <p:cBhvr>
                                        <p:cTn id="17" dur="1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21" grpId="0"/>
      <p:bldP spid="2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65000">
              <a:srgbClr val="939393"/>
            </a:gs>
            <a:gs pos="0">
              <a:schemeClr val="bg1"/>
            </a:gs>
            <a:gs pos="100000">
              <a:schemeClr val="accent1">
                <a:lumMod val="60000"/>
                <a:lumOff val="40000"/>
              </a:schemeClr>
            </a:gs>
          </a:gsLst>
          <a:lin ang="2700000" scaled="1"/>
          <a:tileRect/>
        </a:gradFill>
        <a:effectLst/>
      </p:bgPr>
    </p:bg>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972499A5-FDBC-4CC4-94E9-EA96D0F6BEF4}"/>
              </a:ext>
            </a:extLst>
          </p:cNvPr>
          <p:cNvSpPr txBox="1"/>
          <p:nvPr/>
        </p:nvSpPr>
        <p:spPr>
          <a:xfrm>
            <a:off x="1055542" y="1643931"/>
            <a:ext cx="4548730" cy="2811539"/>
          </a:xfrm>
          <a:prstGeom prst="rect">
            <a:avLst/>
          </a:prstGeom>
          <a:noFill/>
        </p:spPr>
        <p:txBody>
          <a:bodyPr wrap="square">
            <a:spAutoFit/>
          </a:bodyPr>
          <a:lstStyle/>
          <a:p>
            <a:pPr>
              <a:lnSpc>
                <a:spcPct val="107000"/>
              </a:lnSpc>
              <a:spcAft>
                <a:spcPts val="800"/>
              </a:spcAft>
            </a:pPr>
            <a:r>
              <a:rPr lang="en-US" sz="2000" dirty="0">
                <a:latin typeface="Comic Sans MS" panose="030F0702030302020204" pitchFamily="66" charset="0"/>
              </a:rPr>
              <a:t>The students of Pythagoras lived together and followed a specific way of life. They believed in discipline, self-control, and harmony. In many cases, they followed a vegetarian diet and considered silence and meditation very important.</a:t>
            </a:r>
            <a:endParaRPr lang="el-GR" sz="2000" dirty="0">
              <a:latin typeface="Comic Sans MS" panose="030F0702030302020204" pitchFamily="66" charset="0"/>
            </a:endParaRPr>
          </a:p>
          <a:p>
            <a:pPr>
              <a:lnSpc>
                <a:spcPct val="107000"/>
              </a:lnSpc>
              <a:spcAft>
                <a:spcPts val="800"/>
              </a:spcAft>
            </a:pPr>
            <a:endParaRPr lang="el-GR" sz="2000" dirty="0">
              <a:effectLst/>
              <a:latin typeface="Comic Sans MS" panose="030F0702030302020204" pitchFamily="66" charset="0"/>
              <a:ea typeface="Calibri" panose="020F0502020204030204" pitchFamily="34" charset="0"/>
              <a:cs typeface="Times New Roman" panose="02020603050405020304" pitchFamily="18" charset="0"/>
            </a:endParaRPr>
          </a:p>
        </p:txBody>
      </p:sp>
      <p:pic>
        <p:nvPicPr>
          <p:cNvPr id="7170" name="Picture 2" descr="Αριστοτέλης &amp; Πλάτων: Οι Ρίζες της Ψυχολογίας">
            <a:extLst>
              <a:ext uri="{FF2B5EF4-FFF2-40B4-BE49-F238E27FC236}">
                <a16:creationId xmlns:a16="http://schemas.microsoft.com/office/drawing/2014/main" id="{AA1B46C1-E4EB-40B9-87B5-D7082853C6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9276" y="1643931"/>
            <a:ext cx="4110038" cy="2348593"/>
          </a:xfrm>
          <a:prstGeom prst="rect">
            <a:avLst/>
          </a:prstGeom>
          <a:noFill/>
          <a:extLst>
            <a:ext uri="{909E8E84-426E-40DD-AFC4-6F175D3DCCD1}">
              <a14:hiddenFill xmlns:a14="http://schemas.microsoft.com/office/drawing/2010/main">
                <a:solidFill>
                  <a:srgbClr val="FFFFFF"/>
                </a:solidFill>
              </a14:hiddenFill>
            </a:ext>
          </a:extLst>
        </p:spPr>
      </p:pic>
      <p:sp>
        <p:nvSpPr>
          <p:cNvPr id="54" name="Ορθογώνιο 53">
            <a:extLst>
              <a:ext uri="{FF2B5EF4-FFF2-40B4-BE49-F238E27FC236}">
                <a16:creationId xmlns:a16="http://schemas.microsoft.com/office/drawing/2014/main" id="{67CA2085-D63B-4259-A70F-0CE4929385AD}"/>
              </a:ext>
            </a:extLst>
          </p:cNvPr>
          <p:cNvSpPr/>
          <p:nvPr/>
        </p:nvSpPr>
        <p:spPr>
          <a:xfrm>
            <a:off x="0" y="5619750"/>
            <a:ext cx="12192000" cy="1238250"/>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shape">
              <a:fillToRect l="50000" t="50000" r="50000" b="50000"/>
            </a:path>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l-GR">
              <a:latin typeface="Comic Sans MS" panose="030F0702030302020204" pitchFamily="66" charset="0"/>
            </a:endParaRPr>
          </a:p>
        </p:txBody>
      </p:sp>
      <p:pic>
        <p:nvPicPr>
          <p:cNvPr id="55" name="Γραφικό 54" descr="Atom με συμπαγές γέμισμα">
            <a:extLst>
              <a:ext uri="{FF2B5EF4-FFF2-40B4-BE49-F238E27FC236}">
                <a16:creationId xmlns:a16="http://schemas.microsoft.com/office/drawing/2014/main" id="{0E25BF97-DF67-4FBA-836F-A50B4D51E13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3850" y="5804600"/>
            <a:ext cx="895350" cy="895350"/>
          </a:xfrm>
          <a:prstGeom prst="rect">
            <a:avLst/>
          </a:prstGeom>
        </p:spPr>
      </p:pic>
      <p:grpSp>
        <p:nvGrpSpPr>
          <p:cNvPr id="59" name="Ομάδα 58">
            <a:extLst>
              <a:ext uri="{FF2B5EF4-FFF2-40B4-BE49-F238E27FC236}">
                <a16:creationId xmlns:a16="http://schemas.microsoft.com/office/drawing/2014/main" id="{D4257B75-39B8-4E9A-825F-0BC2EDC669A3}"/>
              </a:ext>
            </a:extLst>
          </p:cNvPr>
          <p:cNvGrpSpPr/>
          <p:nvPr/>
        </p:nvGrpSpPr>
        <p:grpSpPr>
          <a:xfrm>
            <a:off x="5307806" y="5978321"/>
            <a:ext cx="914400" cy="914400"/>
            <a:chOff x="3589733" y="4435696"/>
            <a:chExt cx="914400" cy="914400"/>
          </a:xfrm>
        </p:grpSpPr>
        <p:sp>
          <p:nvSpPr>
            <p:cNvPr id="60" name="Ορθογώνιο 59">
              <a:extLst>
                <a:ext uri="{FF2B5EF4-FFF2-40B4-BE49-F238E27FC236}">
                  <a16:creationId xmlns:a16="http://schemas.microsoft.com/office/drawing/2014/main" id="{B52285B7-15D8-48C4-8070-3AE3FBCE9149}"/>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Comic Sans MS" panose="030F0702030302020204" pitchFamily="66" charset="0"/>
              </a:endParaRPr>
            </a:p>
          </p:txBody>
        </p:sp>
        <p:sp>
          <p:nvSpPr>
            <p:cNvPr id="61" name="TextBox 60">
              <a:extLst>
                <a:ext uri="{FF2B5EF4-FFF2-40B4-BE49-F238E27FC236}">
                  <a16:creationId xmlns:a16="http://schemas.microsoft.com/office/drawing/2014/main" id="{691E0F6B-8351-40A6-ADD4-9354B7724454}"/>
                </a:ext>
              </a:extLst>
            </p:cNvPr>
            <p:cNvSpPr txBox="1"/>
            <p:nvPr/>
          </p:nvSpPr>
          <p:spPr>
            <a:xfrm>
              <a:off x="3688556" y="4538953"/>
              <a:ext cx="690562" cy="707886"/>
            </a:xfrm>
            <a:prstGeom prst="rect">
              <a:avLst/>
            </a:prstGeom>
            <a:noFill/>
          </p:spPr>
          <p:txBody>
            <a:bodyPr wrap="square" rtlCol="0">
              <a:spAutoFit/>
            </a:bodyPr>
            <a:lstStyle/>
            <a:p>
              <a:endParaRPr lang="en-US" sz="2000" b="1" dirty="0">
                <a:solidFill>
                  <a:srgbClr val="181C1F"/>
                </a:solidFill>
                <a:effectLst/>
                <a:latin typeface="Comic Sans MS" panose="030F0702030302020204" pitchFamily="66" charset="0"/>
              </a:endParaRPr>
            </a:p>
            <a:p>
              <a:endParaRPr lang="el-GR" sz="2000" dirty="0">
                <a:latin typeface="Comic Sans MS" panose="030F0702030302020204" pitchFamily="66" charset="0"/>
              </a:endParaRPr>
            </a:p>
          </p:txBody>
        </p:sp>
      </p:grpSp>
      <p:pic>
        <p:nvPicPr>
          <p:cNvPr id="62" name="Γραφικό 61" descr="Μουσική με συμπαγές γέμισμα">
            <a:extLst>
              <a:ext uri="{FF2B5EF4-FFF2-40B4-BE49-F238E27FC236}">
                <a16:creationId xmlns:a16="http://schemas.microsoft.com/office/drawing/2014/main" id="{82A0122A-6295-4D06-8DD0-1A97563F59C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96102" y="5703092"/>
            <a:ext cx="914400" cy="914400"/>
          </a:xfrm>
          <a:prstGeom prst="rect">
            <a:avLst/>
          </a:prstGeom>
        </p:spPr>
      </p:pic>
      <p:pic>
        <p:nvPicPr>
          <p:cNvPr id="63" name="Γραφικό 62" descr="Νεκροκεφαλή με συμπαγές γέμισμα">
            <a:extLst>
              <a:ext uri="{FF2B5EF4-FFF2-40B4-BE49-F238E27FC236}">
                <a16:creationId xmlns:a16="http://schemas.microsoft.com/office/drawing/2014/main" id="{E15C20F4-BB39-4AE7-AD42-76E4FDF3E07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42748" y="5719765"/>
            <a:ext cx="914400" cy="914400"/>
          </a:xfrm>
          <a:prstGeom prst="rect">
            <a:avLst/>
          </a:prstGeom>
        </p:spPr>
      </p:pic>
      <p:pic>
        <p:nvPicPr>
          <p:cNvPr id="64" name="Γραφικό 63" descr="Εγκέφαλος με συμπαγές γέμισμα">
            <a:extLst>
              <a:ext uri="{FF2B5EF4-FFF2-40B4-BE49-F238E27FC236}">
                <a16:creationId xmlns:a16="http://schemas.microsoft.com/office/drawing/2014/main" id="{2CE2047A-8641-4B46-931A-C21B52E212C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389393" y="5781674"/>
            <a:ext cx="914400" cy="914400"/>
          </a:xfrm>
          <a:prstGeom prst="rect">
            <a:avLst/>
          </a:prstGeom>
        </p:spPr>
      </p:pic>
      <p:grpSp>
        <p:nvGrpSpPr>
          <p:cNvPr id="65" name="Ομάδα 64">
            <a:extLst>
              <a:ext uri="{FF2B5EF4-FFF2-40B4-BE49-F238E27FC236}">
                <a16:creationId xmlns:a16="http://schemas.microsoft.com/office/drawing/2014/main" id="{66EAEB28-12D2-4CFA-8B65-60783EAF4CA2}"/>
              </a:ext>
            </a:extLst>
          </p:cNvPr>
          <p:cNvGrpSpPr/>
          <p:nvPr/>
        </p:nvGrpSpPr>
        <p:grpSpPr>
          <a:xfrm>
            <a:off x="1747837" y="5176838"/>
            <a:ext cx="1238250" cy="1238250"/>
            <a:chOff x="1943100" y="1657350"/>
            <a:chExt cx="1238250" cy="1238250"/>
          </a:xfrm>
          <a:gradFill>
            <a:gsLst>
              <a:gs pos="0">
                <a:schemeClr val="accent3">
                  <a:lumMod val="67000"/>
                </a:schemeClr>
              </a:gs>
              <a:gs pos="48000">
                <a:schemeClr val="accent3">
                  <a:lumMod val="97000"/>
                  <a:lumOff val="3000"/>
                </a:schemeClr>
              </a:gs>
              <a:gs pos="100000">
                <a:schemeClr val="accent3">
                  <a:lumMod val="60000"/>
                  <a:lumOff val="40000"/>
                </a:schemeClr>
              </a:gs>
            </a:gsLst>
            <a:lin ang="16200000" scaled="1"/>
          </a:gradFill>
        </p:grpSpPr>
        <p:sp>
          <p:nvSpPr>
            <p:cNvPr id="66" name="Οβάλ 65">
              <a:extLst>
                <a:ext uri="{FF2B5EF4-FFF2-40B4-BE49-F238E27FC236}">
                  <a16:creationId xmlns:a16="http://schemas.microsoft.com/office/drawing/2014/main" id="{C12BAD7D-76C0-4FD2-84F6-9FD94783D20B}"/>
                </a:ext>
              </a:extLst>
            </p:cNvPr>
            <p:cNvSpPr/>
            <p:nvPr/>
          </p:nvSpPr>
          <p:spPr>
            <a:xfrm>
              <a:off x="1943100" y="1657350"/>
              <a:ext cx="1238250" cy="123825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Comic Sans MS" panose="030F0702030302020204" pitchFamily="66" charset="0"/>
              </a:endParaRPr>
            </a:p>
          </p:txBody>
        </p:sp>
        <p:sp>
          <p:nvSpPr>
            <p:cNvPr id="67" name="Οβάλ 66">
              <a:extLst>
                <a:ext uri="{FF2B5EF4-FFF2-40B4-BE49-F238E27FC236}">
                  <a16:creationId xmlns:a16="http://schemas.microsoft.com/office/drawing/2014/main" id="{1AFC0540-B7CE-443B-B5B6-5AC39435DBB3}"/>
                </a:ext>
              </a:extLst>
            </p:cNvPr>
            <p:cNvSpPr/>
            <p:nvPr/>
          </p:nvSpPr>
          <p:spPr>
            <a:xfrm>
              <a:off x="2105025" y="1819275"/>
              <a:ext cx="914400" cy="9144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latin typeface="Comic Sans MS" panose="030F0702030302020204" pitchFamily="66" charset="0"/>
              </a:endParaRPr>
            </a:p>
          </p:txBody>
        </p:sp>
      </p:grpSp>
      <p:pic>
        <p:nvPicPr>
          <p:cNvPr id="68" name="Γραφικό 67" descr="Φιάλη με συμπαγές γέμισμα">
            <a:extLst>
              <a:ext uri="{FF2B5EF4-FFF2-40B4-BE49-F238E27FC236}">
                <a16:creationId xmlns:a16="http://schemas.microsoft.com/office/drawing/2014/main" id="{19BF6043-45E9-4B9B-AB6D-A26AEF5C3F2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914525" y="5338763"/>
            <a:ext cx="914400" cy="914400"/>
          </a:xfrm>
          <a:prstGeom prst="rect">
            <a:avLst/>
          </a:prstGeom>
        </p:spPr>
      </p:pic>
      <p:sp>
        <p:nvSpPr>
          <p:cNvPr id="20" name="TextBox 19">
            <a:extLst>
              <a:ext uri="{FF2B5EF4-FFF2-40B4-BE49-F238E27FC236}">
                <a16:creationId xmlns:a16="http://schemas.microsoft.com/office/drawing/2014/main" id="{CF9D8C3C-B908-46A4-BB65-80F9C50F657E}"/>
              </a:ext>
            </a:extLst>
          </p:cNvPr>
          <p:cNvSpPr txBox="1"/>
          <p:nvPr/>
        </p:nvSpPr>
        <p:spPr>
          <a:xfrm>
            <a:off x="5172801" y="6146575"/>
            <a:ext cx="1103449" cy="338554"/>
          </a:xfrm>
          <a:prstGeom prst="rect">
            <a:avLst/>
          </a:prstGeom>
          <a:noFill/>
        </p:spPr>
        <p:txBody>
          <a:bodyPr wrap="square" rtlCol="0">
            <a:spAutoFit/>
          </a:bodyPr>
          <a:lstStyle/>
          <a:p>
            <a:pPr algn="ctr"/>
            <a:r>
              <a:rPr lang="el-GR" sz="1600" b="1" dirty="0">
                <a:latin typeface="Comic Sans MS" panose="030F0702030302020204" pitchFamily="66" charset="0"/>
              </a:rPr>
              <a:t>α</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b</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c</a:t>
            </a:r>
            <a:r>
              <a:rPr lang="el-GR" sz="1600" b="1" baseline="30000" dirty="0">
                <a:latin typeface="Comic Sans MS" panose="030F0702030302020204" pitchFamily="66" charset="0"/>
              </a:rPr>
              <a:t>2</a:t>
            </a:r>
            <a:endParaRPr lang="el-GR" sz="2000" dirty="0">
              <a:latin typeface="Comic Sans MS" panose="030F0702030302020204" pitchFamily="66" charset="0"/>
            </a:endParaRPr>
          </a:p>
        </p:txBody>
      </p:sp>
      <p:grpSp>
        <p:nvGrpSpPr>
          <p:cNvPr id="24" name="Ομάδα 23">
            <a:extLst>
              <a:ext uri="{FF2B5EF4-FFF2-40B4-BE49-F238E27FC236}">
                <a16:creationId xmlns:a16="http://schemas.microsoft.com/office/drawing/2014/main" id="{B3F9C4B6-A869-49C3-BF5B-70D7EBD0B7B0}"/>
              </a:ext>
            </a:extLst>
          </p:cNvPr>
          <p:cNvGrpSpPr/>
          <p:nvPr/>
        </p:nvGrpSpPr>
        <p:grpSpPr>
          <a:xfrm>
            <a:off x="3638549" y="5863518"/>
            <a:ext cx="914400" cy="914400"/>
            <a:chOff x="3589733" y="4435696"/>
            <a:chExt cx="914400" cy="914400"/>
          </a:xfrm>
        </p:grpSpPr>
        <p:sp>
          <p:nvSpPr>
            <p:cNvPr id="25" name="Ορθογώνιο 24">
              <a:extLst>
                <a:ext uri="{FF2B5EF4-FFF2-40B4-BE49-F238E27FC236}">
                  <a16:creationId xmlns:a16="http://schemas.microsoft.com/office/drawing/2014/main" id="{BBF09770-21D0-4112-8E5F-B5F6936F7C48}"/>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Comic Sans MS" panose="030F0702030302020204" pitchFamily="66" charset="0"/>
              </a:endParaRPr>
            </a:p>
          </p:txBody>
        </p:sp>
        <p:sp>
          <p:nvSpPr>
            <p:cNvPr id="26" name="TextBox 25">
              <a:extLst>
                <a:ext uri="{FF2B5EF4-FFF2-40B4-BE49-F238E27FC236}">
                  <a16:creationId xmlns:a16="http://schemas.microsoft.com/office/drawing/2014/main" id="{1AAB7932-E379-48AE-95C0-5E5476BD0346}"/>
                </a:ext>
              </a:extLst>
            </p:cNvPr>
            <p:cNvSpPr txBox="1"/>
            <p:nvPr/>
          </p:nvSpPr>
          <p:spPr>
            <a:xfrm>
              <a:off x="3813570" y="4459824"/>
              <a:ext cx="466726" cy="707886"/>
            </a:xfrm>
            <a:prstGeom prst="rect">
              <a:avLst/>
            </a:prstGeom>
            <a:noFill/>
          </p:spPr>
          <p:txBody>
            <a:bodyPr wrap="square" rtlCol="0">
              <a:spAutoFit/>
            </a:bodyPr>
            <a:lstStyle/>
            <a:p>
              <a:r>
                <a:rPr lang="en-US" sz="4000" b="1" dirty="0">
                  <a:ea typeface="Segoe UI Symbol" panose="020B0502040204020203" pitchFamily="34" charset="0"/>
                </a:rPr>
                <a:t>ℝ</a:t>
              </a:r>
              <a:endParaRPr lang="el-GR" sz="4000" dirty="0"/>
            </a:p>
          </p:txBody>
        </p:sp>
      </p:grpSp>
    </p:spTree>
    <p:extLst>
      <p:ext uri="{BB962C8B-B14F-4D97-AF65-F5344CB8AC3E}">
        <p14:creationId xmlns:p14="http://schemas.microsoft.com/office/powerpoint/2010/main" val="135356310"/>
      </p:ext>
    </p:extLst>
  </p:cSld>
  <p:clrMapOvr>
    <a:masterClrMapping/>
  </p:clrMapOvr>
  <mc:AlternateContent xmlns:mc="http://schemas.openxmlformats.org/markup-compatibility/2006" xmlns:p14="http://schemas.microsoft.com/office/powerpoint/2010/main">
    <mc:Choice Requires="p14">
      <p:transition spd="slow" p14:dur="1250" advClick="0" advTm="8000">
        <p14:switch dir="r"/>
      </p:transition>
    </mc:Choice>
    <mc:Fallback xmlns="">
      <p:transition spd="slow" advClick="0" advTm="8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1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65000">
              <a:srgbClr val="939393"/>
            </a:gs>
            <a:gs pos="0">
              <a:schemeClr val="bg1"/>
            </a:gs>
            <a:gs pos="100000">
              <a:schemeClr val="accent1">
                <a:lumMod val="60000"/>
                <a:lumOff val="40000"/>
              </a:schemeClr>
            </a:gs>
          </a:gsLst>
          <a:lin ang="2700000" scaled="1"/>
          <a:tileRect/>
        </a:gradFill>
        <a:effectLst/>
      </p:bgPr>
    </p:bg>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0D64BB8-CC1F-41B4-87F6-69DE13B38063}"/>
              </a:ext>
            </a:extLst>
          </p:cNvPr>
          <p:cNvSpPr txBox="1"/>
          <p:nvPr/>
        </p:nvSpPr>
        <p:spPr>
          <a:xfrm>
            <a:off x="8642748" y="1877731"/>
            <a:ext cx="2799795" cy="1631216"/>
          </a:xfrm>
          <a:prstGeom prst="rect">
            <a:avLst/>
          </a:prstGeom>
          <a:noFill/>
        </p:spPr>
        <p:txBody>
          <a:bodyPr wrap="square">
            <a:spAutoFit/>
          </a:bodyPr>
          <a:lstStyle/>
          <a:p>
            <a:r>
              <a:rPr lang="en-US" sz="2000" dirty="0">
                <a:latin typeface="Comic Sans MS" panose="030F0702030302020204" pitchFamily="66" charset="0"/>
              </a:rPr>
              <a:t>The school gained great influence not only in philosophy but also in the political life of the time.</a:t>
            </a:r>
            <a:endParaRPr lang="el-GR" sz="2000" dirty="0">
              <a:latin typeface="Comic Sans MS" panose="030F0702030302020204" pitchFamily="66" charset="0"/>
            </a:endParaRPr>
          </a:p>
        </p:txBody>
      </p:sp>
      <p:sp>
        <p:nvSpPr>
          <p:cNvPr id="17" name="TextBox 16">
            <a:extLst>
              <a:ext uri="{FF2B5EF4-FFF2-40B4-BE49-F238E27FC236}">
                <a16:creationId xmlns:a16="http://schemas.microsoft.com/office/drawing/2014/main" id="{2ABC49E1-24B8-4064-A3F2-377F10891311}"/>
              </a:ext>
            </a:extLst>
          </p:cNvPr>
          <p:cNvSpPr txBox="1"/>
          <p:nvPr/>
        </p:nvSpPr>
        <p:spPr>
          <a:xfrm>
            <a:off x="948010" y="1569956"/>
            <a:ext cx="3245921" cy="2246769"/>
          </a:xfrm>
          <a:prstGeom prst="rect">
            <a:avLst/>
          </a:prstGeom>
          <a:noFill/>
        </p:spPr>
        <p:txBody>
          <a:bodyPr wrap="square">
            <a:spAutoFit/>
          </a:bodyPr>
          <a:lstStyle/>
          <a:p>
            <a:r>
              <a:rPr lang="en-US" sz="2000" dirty="0">
                <a:latin typeface="Comic Sans MS" panose="030F0702030302020204" pitchFamily="66" charset="0"/>
              </a:rPr>
              <a:t>The Pythagoreans also believed in the transmigration of the soul, meaning that the soul continues to exist after death and passes into another body.</a:t>
            </a:r>
            <a:endParaRPr lang="el-GR" sz="2000" dirty="0">
              <a:latin typeface="Comic Sans MS" panose="030F0702030302020204" pitchFamily="66" charset="0"/>
            </a:endParaRPr>
          </a:p>
        </p:txBody>
      </p:sp>
      <p:pic>
        <p:nvPicPr>
          <p:cNvPr id="8194" name="Picture 2" descr="Pythagorean Brotherhood | KÜRE Encyclopedia">
            <a:extLst>
              <a:ext uri="{FF2B5EF4-FFF2-40B4-BE49-F238E27FC236}">
                <a16:creationId xmlns:a16="http://schemas.microsoft.com/office/drawing/2014/main" id="{1FBFB894-42E2-4034-9B2E-DD104C3361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2949" y="1718614"/>
            <a:ext cx="2924176" cy="1949451"/>
          </a:xfrm>
          <a:prstGeom prst="rect">
            <a:avLst/>
          </a:prstGeom>
          <a:noFill/>
          <a:extLst>
            <a:ext uri="{909E8E84-426E-40DD-AFC4-6F175D3DCCD1}">
              <a14:hiddenFill xmlns:a14="http://schemas.microsoft.com/office/drawing/2010/main">
                <a:solidFill>
                  <a:srgbClr val="FFFFFF"/>
                </a:solidFill>
              </a14:hiddenFill>
            </a:ext>
          </a:extLst>
        </p:spPr>
      </p:pic>
      <p:sp>
        <p:nvSpPr>
          <p:cNvPr id="55" name="Ορθογώνιο 54">
            <a:extLst>
              <a:ext uri="{FF2B5EF4-FFF2-40B4-BE49-F238E27FC236}">
                <a16:creationId xmlns:a16="http://schemas.microsoft.com/office/drawing/2014/main" id="{7CA15D1A-0377-420C-97FC-FC13D0C03709}"/>
              </a:ext>
            </a:extLst>
          </p:cNvPr>
          <p:cNvSpPr/>
          <p:nvPr/>
        </p:nvSpPr>
        <p:spPr>
          <a:xfrm>
            <a:off x="0" y="5619750"/>
            <a:ext cx="12192000" cy="1238250"/>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shape">
              <a:fillToRect l="50000" t="50000" r="50000" b="50000"/>
            </a:path>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l-GR">
              <a:latin typeface="Comic Sans MS" panose="030F0702030302020204" pitchFamily="66" charset="0"/>
            </a:endParaRPr>
          </a:p>
        </p:txBody>
      </p:sp>
      <p:pic>
        <p:nvPicPr>
          <p:cNvPr id="56" name="Γραφικό 55" descr="Atom με συμπαγές γέμισμα">
            <a:extLst>
              <a:ext uri="{FF2B5EF4-FFF2-40B4-BE49-F238E27FC236}">
                <a16:creationId xmlns:a16="http://schemas.microsoft.com/office/drawing/2014/main" id="{5BC3B150-A27C-4B71-8D7B-0EB1F17FB51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3850" y="5804600"/>
            <a:ext cx="895350" cy="895350"/>
          </a:xfrm>
          <a:prstGeom prst="rect">
            <a:avLst/>
          </a:prstGeom>
        </p:spPr>
      </p:pic>
      <p:grpSp>
        <p:nvGrpSpPr>
          <p:cNvPr id="60" name="Ομάδα 59">
            <a:extLst>
              <a:ext uri="{FF2B5EF4-FFF2-40B4-BE49-F238E27FC236}">
                <a16:creationId xmlns:a16="http://schemas.microsoft.com/office/drawing/2014/main" id="{1AD06315-6DB7-43CC-A275-365D71B14957}"/>
              </a:ext>
            </a:extLst>
          </p:cNvPr>
          <p:cNvGrpSpPr/>
          <p:nvPr/>
        </p:nvGrpSpPr>
        <p:grpSpPr>
          <a:xfrm>
            <a:off x="5307806" y="5978321"/>
            <a:ext cx="914400" cy="914400"/>
            <a:chOff x="3589733" y="4435696"/>
            <a:chExt cx="914400" cy="914400"/>
          </a:xfrm>
        </p:grpSpPr>
        <p:sp>
          <p:nvSpPr>
            <p:cNvPr id="61" name="Ορθογώνιο 60">
              <a:extLst>
                <a:ext uri="{FF2B5EF4-FFF2-40B4-BE49-F238E27FC236}">
                  <a16:creationId xmlns:a16="http://schemas.microsoft.com/office/drawing/2014/main" id="{2CC55658-66E3-43F8-8B4D-5A9595232537}"/>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Comic Sans MS" panose="030F0702030302020204" pitchFamily="66" charset="0"/>
              </a:endParaRPr>
            </a:p>
          </p:txBody>
        </p:sp>
        <p:sp>
          <p:nvSpPr>
            <p:cNvPr id="62" name="TextBox 61">
              <a:extLst>
                <a:ext uri="{FF2B5EF4-FFF2-40B4-BE49-F238E27FC236}">
                  <a16:creationId xmlns:a16="http://schemas.microsoft.com/office/drawing/2014/main" id="{BA628D7E-4506-4FD6-84A2-FCE3A3890E5F}"/>
                </a:ext>
              </a:extLst>
            </p:cNvPr>
            <p:cNvSpPr txBox="1"/>
            <p:nvPr/>
          </p:nvSpPr>
          <p:spPr>
            <a:xfrm>
              <a:off x="3688556" y="4538953"/>
              <a:ext cx="690562" cy="707886"/>
            </a:xfrm>
            <a:prstGeom prst="rect">
              <a:avLst/>
            </a:prstGeom>
            <a:noFill/>
          </p:spPr>
          <p:txBody>
            <a:bodyPr wrap="square" rtlCol="0">
              <a:spAutoFit/>
            </a:bodyPr>
            <a:lstStyle/>
            <a:p>
              <a:endParaRPr lang="en-US" sz="2000" b="1" dirty="0">
                <a:solidFill>
                  <a:srgbClr val="181C1F"/>
                </a:solidFill>
                <a:effectLst/>
                <a:latin typeface="Comic Sans MS" panose="030F0702030302020204" pitchFamily="66" charset="0"/>
              </a:endParaRPr>
            </a:p>
            <a:p>
              <a:endParaRPr lang="el-GR" sz="2000" dirty="0">
                <a:latin typeface="Comic Sans MS" panose="030F0702030302020204" pitchFamily="66" charset="0"/>
              </a:endParaRPr>
            </a:p>
          </p:txBody>
        </p:sp>
      </p:grpSp>
      <p:pic>
        <p:nvPicPr>
          <p:cNvPr id="63" name="Γραφικό 62" descr="Μουσική με συμπαγές γέμισμα">
            <a:extLst>
              <a:ext uri="{FF2B5EF4-FFF2-40B4-BE49-F238E27FC236}">
                <a16:creationId xmlns:a16="http://schemas.microsoft.com/office/drawing/2014/main" id="{8A5DC01A-BBE5-4FFC-BA22-B9166575317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96102" y="5703092"/>
            <a:ext cx="914400" cy="914400"/>
          </a:xfrm>
          <a:prstGeom prst="rect">
            <a:avLst/>
          </a:prstGeom>
        </p:spPr>
      </p:pic>
      <p:pic>
        <p:nvPicPr>
          <p:cNvPr id="64" name="Γραφικό 63" descr="Νεκροκεφαλή με συμπαγές γέμισμα">
            <a:extLst>
              <a:ext uri="{FF2B5EF4-FFF2-40B4-BE49-F238E27FC236}">
                <a16:creationId xmlns:a16="http://schemas.microsoft.com/office/drawing/2014/main" id="{CFF33BB8-6E51-431C-BFB2-6010B1FF045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42748" y="5719765"/>
            <a:ext cx="914400" cy="914400"/>
          </a:xfrm>
          <a:prstGeom prst="rect">
            <a:avLst/>
          </a:prstGeom>
        </p:spPr>
      </p:pic>
      <p:pic>
        <p:nvPicPr>
          <p:cNvPr id="65" name="Γραφικό 64" descr="Εγκέφαλος με συμπαγές γέμισμα">
            <a:extLst>
              <a:ext uri="{FF2B5EF4-FFF2-40B4-BE49-F238E27FC236}">
                <a16:creationId xmlns:a16="http://schemas.microsoft.com/office/drawing/2014/main" id="{E98CFDC2-21DD-4F9C-88C4-C73CA605DA0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389393" y="5781674"/>
            <a:ext cx="914400" cy="914400"/>
          </a:xfrm>
          <a:prstGeom prst="rect">
            <a:avLst/>
          </a:prstGeom>
        </p:spPr>
      </p:pic>
      <p:grpSp>
        <p:nvGrpSpPr>
          <p:cNvPr id="66" name="Ομάδα 65">
            <a:extLst>
              <a:ext uri="{FF2B5EF4-FFF2-40B4-BE49-F238E27FC236}">
                <a16:creationId xmlns:a16="http://schemas.microsoft.com/office/drawing/2014/main" id="{4A96D406-B957-49A1-B181-349DDE353988}"/>
              </a:ext>
            </a:extLst>
          </p:cNvPr>
          <p:cNvGrpSpPr/>
          <p:nvPr/>
        </p:nvGrpSpPr>
        <p:grpSpPr>
          <a:xfrm>
            <a:off x="1747837" y="5176838"/>
            <a:ext cx="1238250" cy="1238250"/>
            <a:chOff x="1943100" y="1657350"/>
            <a:chExt cx="1238250" cy="1238250"/>
          </a:xfrm>
          <a:gradFill>
            <a:gsLst>
              <a:gs pos="0">
                <a:schemeClr val="accent3">
                  <a:lumMod val="67000"/>
                </a:schemeClr>
              </a:gs>
              <a:gs pos="48000">
                <a:schemeClr val="accent3">
                  <a:lumMod val="97000"/>
                  <a:lumOff val="3000"/>
                </a:schemeClr>
              </a:gs>
              <a:gs pos="100000">
                <a:schemeClr val="accent3">
                  <a:lumMod val="60000"/>
                  <a:lumOff val="40000"/>
                </a:schemeClr>
              </a:gs>
            </a:gsLst>
            <a:lin ang="16200000" scaled="1"/>
          </a:gradFill>
        </p:grpSpPr>
        <p:sp>
          <p:nvSpPr>
            <p:cNvPr id="67" name="Οβάλ 66">
              <a:extLst>
                <a:ext uri="{FF2B5EF4-FFF2-40B4-BE49-F238E27FC236}">
                  <a16:creationId xmlns:a16="http://schemas.microsoft.com/office/drawing/2014/main" id="{CB33711A-E8B6-421A-94C7-36F6B73385DE}"/>
                </a:ext>
              </a:extLst>
            </p:cNvPr>
            <p:cNvSpPr/>
            <p:nvPr/>
          </p:nvSpPr>
          <p:spPr>
            <a:xfrm>
              <a:off x="1943100" y="1657350"/>
              <a:ext cx="1238250" cy="123825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Comic Sans MS" panose="030F0702030302020204" pitchFamily="66" charset="0"/>
              </a:endParaRPr>
            </a:p>
          </p:txBody>
        </p:sp>
        <p:sp>
          <p:nvSpPr>
            <p:cNvPr id="68" name="Οβάλ 67">
              <a:extLst>
                <a:ext uri="{FF2B5EF4-FFF2-40B4-BE49-F238E27FC236}">
                  <a16:creationId xmlns:a16="http://schemas.microsoft.com/office/drawing/2014/main" id="{4305A573-D270-4D50-9A2D-EF44A88C077E}"/>
                </a:ext>
              </a:extLst>
            </p:cNvPr>
            <p:cNvSpPr/>
            <p:nvPr/>
          </p:nvSpPr>
          <p:spPr>
            <a:xfrm>
              <a:off x="2105025" y="1819275"/>
              <a:ext cx="914400" cy="9144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latin typeface="Comic Sans MS" panose="030F0702030302020204" pitchFamily="66" charset="0"/>
              </a:endParaRPr>
            </a:p>
          </p:txBody>
        </p:sp>
      </p:grpSp>
      <p:pic>
        <p:nvPicPr>
          <p:cNvPr id="69" name="Γραφικό 68" descr="Φιάλη με συμπαγές γέμισμα">
            <a:extLst>
              <a:ext uri="{FF2B5EF4-FFF2-40B4-BE49-F238E27FC236}">
                <a16:creationId xmlns:a16="http://schemas.microsoft.com/office/drawing/2014/main" id="{607A883D-8ED7-4C0C-8C3C-150A1C97828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914525" y="5338763"/>
            <a:ext cx="914400" cy="914400"/>
          </a:xfrm>
          <a:prstGeom prst="rect">
            <a:avLst/>
          </a:prstGeom>
        </p:spPr>
      </p:pic>
      <p:sp>
        <p:nvSpPr>
          <p:cNvPr id="22" name="TextBox 21">
            <a:extLst>
              <a:ext uri="{FF2B5EF4-FFF2-40B4-BE49-F238E27FC236}">
                <a16:creationId xmlns:a16="http://schemas.microsoft.com/office/drawing/2014/main" id="{6A596998-CA51-413B-81CA-3E2D8769E2A5}"/>
              </a:ext>
            </a:extLst>
          </p:cNvPr>
          <p:cNvSpPr txBox="1"/>
          <p:nvPr/>
        </p:nvSpPr>
        <p:spPr>
          <a:xfrm>
            <a:off x="5172801" y="6146575"/>
            <a:ext cx="1103449" cy="338554"/>
          </a:xfrm>
          <a:prstGeom prst="rect">
            <a:avLst/>
          </a:prstGeom>
          <a:noFill/>
        </p:spPr>
        <p:txBody>
          <a:bodyPr wrap="square" rtlCol="0">
            <a:spAutoFit/>
          </a:bodyPr>
          <a:lstStyle/>
          <a:p>
            <a:pPr algn="ctr"/>
            <a:r>
              <a:rPr lang="el-GR" sz="1600" b="1" dirty="0">
                <a:latin typeface="Comic Sans MS" panose="030F0702030302020204" pitchFamily="66" charset="0"/>
              </a:rPr>
              <a:t>α</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b</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c</a:t>
            </a:r>
            <a:r>
              <a:rPr lang="el-GR" sz="1600" b="1" baseline="30000" dirty="0">
                <a:latin typeface="Comic Sans MS" panose="030F0702030302020204" pitchFamily="66" charset="0"/>
              </a:rPr>
              <a:t>2</a:t>
            </a:r>
            <a:endParaRPr lang="el-GR" sz="2000" dirty="0">
              <a:latin typeface="Comic Sans MS" panose="030F0702030302020204" pitchFamily="66" charset="0"/>
            </a:endParaRPr>
          </a:p>
        </p:txBody>
      </p:sp>
      <p:grpSp>
        <p:nvGrpSpPr>
          <p:cNvPr id="23" name="Ομάδα 22">
            <a:extLst>
              <a:ext uri="{FF2B5EF4-FFF2-40B4-BE49-F238E27FC236}">
                <a16:creationId xmlns:a16="http://schemas.microsoft.com/office/drawing/2014/main" id="{20D09BA0-1C59-4EA7-B175-C0C5070B821E}"/>
              </a:ext>
            </a:extLst>
          </p:cNvPr>
          <p:cNvGrpSpPr/>
          <p:nvPr/>
        </p:nvGrpSpPr>
        <p:grpSpPr>
          <a:xfrm>
            <a:off x="3638549" y="5863518"/>
            <a:ext cx="914400" cy="914400"/>
            <a:chOff x="3589733" y="4435696"/>
            <a:chExt cx="914400" cy="914400"/>
          </a:xfrm>
        </p:grpSpPr>
        <p:sp>
          <p:nvSpPr>
            <p:cNvPr id="24" name="Ορθογώνιο 23">
              <a:extLst>
                <a:ext uri="{FF2B5EF4-FFF2-40B4-BE49-F238E27FC236}">
                  <a16:creationId xmlns:a16="http://schemas.microsoft.com/office/drawing/2014/main" id="{1B04A96A-085F-4778-87FF-FE657A79CAB6}"/>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Comic Sans MS" panose="030F0702030302020204" pitchFamily="66" charset="0"/>
              </a:endParaRPr>
            </a:p>
          </p:txBody>
        </p:sp>
        <p:sp>
          <p:nvSpPr>
            <p:cNvPr id="25" name="TextBox 24">
              <a:extLst>
                <a:ext uri="{FF2B5EF4-FFF2-40B4-BE49-F238E27FC236}">
                  <a16:creationId xmlns:a16="http://schemas.microsoft.com/office/drawing/2014/main" id="{F22A7BB8-2FA2-4775-AB8D-64FC31466A7A}"/>
                </a:ext>
              </a:extLst>
            </p:cNvPr>
            <p:cNvSpPr txBox="1"/>
            <p:nvPr/>
          </p:nvSpPr>
          <p:spPr>
            <a:xfrm>
              <a:off x="3813570" y="4459824"/>
              <a:ext cx="466726" cy="707886"/>
            </a:xfrm>
            <a:prstGeom prst="rect">
              <a:avLst/>
            </a:prstGeom>
            <a:noFill/>
          </p:spPr>
          <p:txBody>
            <a:bodyPr wrap="square" rtlCol="0">
              <a:spAutoFit/>
            </a:bodyPr>
            <a:lstStyle/>
            <a:p>
              <a:r>
                <a:rPr lang="en-US" sz="4000" b="1" dirty="0">
                  <a:ea typeface="Segoe UI Symbol" panose="020B0502040204020203" pitchFamily="34" charset="0"/>
                </a:rPr>
                <a:t>ℝ</a:t>
              </a:r>
              <a:endParaRPr lang="el-GR" sz="4000" dirty="0"/>
            </a:p>
          </p:txBody>
        </p:sp>
      </p:grpSp>
    </p:spTree>
    <p:extLst>
      <p:ext uri="{BB962C8B-B14F-4D97-AF65-F5344CB8AC3E}">
        <p14:creationId xmlns:p14="http://schemas.microsoft.com/office/powerpoint/2010/main" val="888899888"/>
      </p:ext>
    </p:extLst>
  </p:cSld>
  <p:clrMapOvr>
    <a:masterClrMapping/>
  </p:clrMapOvr>
  <mc:AlternateContent xmlns:mc="http://schemas.openxmlformats.org/markup-compatibility/2006" xmlns:p14="http://schemas.microsoft.com/office/powerpoint/2010/main">
    <mc:Choice Requires="p14">
      <p:transition spd="slow" p14:dur="1250" advClick="0" advTm="8000">
        <p14:switch dir="r"/>
      </p:transition>
    </mc:Choice>
    <mc:Fallback xmlns="">
      <p:transition spd="slow" advClick="0" advTm="8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1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65000">
              <a:srgbClr val="939393"/>
            </a:gs>
            <a:gs pos="0">
              <a:schemeClr val="bg1"/>
            </a:gs>
            <a:gs pos="100000">
              <a:schemeClr val="accent1">
                <a:lumMod val="60000"/>
                <a:lumOff val="40000"/>
              </a:schemeClr>
            </a:gs>
          </a:gsLst>
          <a:lin ang="2700000" scaled="1"/>
          <a:tileRect/>
        </a:gradFill>
        <a:effectLst/>
      </p:bgPr>
    </p:bg>
    <p:spTree>
      <p:nvGrpSpPr>
        <p:cNvPr id="1" name=""/>
        <p:cNvGrpSpPr/>
        <p:nvPr/>
      </p:nvGrpSpPr>
      <p:grpSpPr>
        <a:xfrm>
          <a:off x="0" y="0"/>
          <a:ext cx="0" cy="0"/>
          <a:chOff x="0" y="0"/>
          <a:chExt cx="0" cy="0"/>
        </a:xfrm>
      </p:grpSpPr>
      <p:sp>
        <p:nvSpPr>
          <p:cNvPr id="38" name="TextBox 37">
            <a:extLst>
              <a:ext uri="{FF2B5EF4-FFF2-40B4-BE49-F238E27FC236}">
                <a16:creationId xmlns:a16="http://schemas.microsoft.com/office/drawing/2014/main" id="{377100F7-F10B-4CE9-84E8-614012D98C25}"/>
              </a:ext>
            </a:extLst>
          </p:cNvPr>
          <p:cNvSpPr txBox="1"/>
          <p:nvPr/>
        </p:nvSpPr>
        <p:spPr>
          <a:xfrm>
            <a:off x="1725085" y="240508"/>
            <a:ext cx="8079842" cy="559384"/>
          </a:xfrm>
          <a:prstGeom prst="rect">
            <a:avLst/>
          </a:prstGeom>
          <a:noFill/>
        </p:spPr>
        <p:txBody>
          <a:bodyPr wrap="square">
            <a:spAutoFit/>
          </a:bodyPr>
          <a:lstStyle/>
          <a:p>
            <a:pPr algn="ctr">
              <a:lnSpc>
                <a:spcPct val="107000"/>
              </a:lnSpc>
              <a:spcAft>
                <a:spcPts val="800"/>
              </a:spcAft>
            </a:pPr>
            <a:r>
              <a:rPr lang="en-US" sz="3000" b="1" dirty="0">
                <a:latin typeface="Comic Sans MS" panose="030F0702030302020204" pitchFamily="66" charset="0"/>
                <a:ea typeface="Calibri" panose="020F0502020204030204" pitchFamily="34" charset="0"/>
                <a:cs typeface="Times New Roman" panose="02020603050405020304" pitchFamily="18" charset="0"/>
              </a:rPr>
              <a:t>“</a:t>
            </a:r>
            <a:r>
              <a:rPr lang="en-US" sz="3000" b="1" dirty="0">
                <a:latin typeface="Comic Sans MS" panose="030F0702030302020204" pitchFamily="66" charset="0"/>
              </a:rPr>
              <a:t>Everything is Number</a:t>
            </a:r>
            <a:r>
              <a:rPr lang="en-US" sz="3000" b="1" dirty="0">
                <a:latin typeface="Comic Sans MS" panose="030F0702030302020204" pitchFamily="66" charset="0"/>
                <a:ea typeface="Calibri" panose="020F0502020204030204" pitchFamily="34" charset="0"/>
                <a:cs typeface="Times New Roman" panose="02020603050405020304" pitchFamily="18" charset="0"/>
              </a:rPr>
              <a:t>”</a:t>
            </a:r>
            <a:endParaRPr lang="el-GR" sz="3000" b="1" dirty="0">
              <a:effectLst/>
              <a:latin typeface="Comic Sans MS" panose="030F0702030302020204" pitchFamily="66" charset="0"/>
              <a:ea typeface="Calibri" panose="020F0502020204030204" pitchFamily="34" charset="0"/>
              <a:cs typeface="Times New Roman" panose="02020603050405020304" pitchFamily="18" charset="0"/>
            </a:endParaRPr>
          </a:p>
        </p:txBody>
      </p:sp>
      <p:sp>
        <p:nvSpPr>
          <p:cNvPr id="89" name="Ορθογώνιο 88">
            <a:extLst>
              <a:ext uri="{FF2B5EF4-FFF2-40B4-BE49-F238E27FC236}">
                <a16:creationId xmlns:a16="http://schemas.microsoft.com/office/drawing/2014/main" id="{D1ABDFAB-0BEA-4F4A-830E-89E5679C3E5A}"/>
              </a:ext>
            </a:extLst>
          </p:cNvPr>
          <p:cNvSpPr/>
          <p:nvPr/>
        </p:nvSpPr>
        <p:spPr>
          <a:xfrm>
            <a:off x="0" y="5640871"/>
            <a:ext cx="12192000" cy="1238250"/>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shape">
              <a:fillToRect l="50000" t="50000" r="50000" b="50000"/>
            </a:path>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l-GR"/>
          </a:p>
        </p:txBody>
      </p:sp>
      <p:pic>
        <p:nvPicPr>
          <p:cNvPr id="90" name="Γραφικό 89" descr="Atom με συμπαγές γέμισμα">
            <a:extLst>
              <a:ext uri="{FF2B5EF4-FFF2-40B4-BE49-F238E27FC236}">
                <a16:creationId xmlns:a16="http://schemas.microsoft.com/office/drawing/2014/main" id="{32DB57C3-0178-4D9B-A909-ED5508025AA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850" y="5804600"/>
            <a:ext cx="895350" cy="895350"/>
          </a:xfrm>
          <a:prstGeom prst="rect">
            <a:avLst/>
          </a:prstGeom>
        </p:spPr>
      </p:pic>
      <p:grpSp>
        <p:nvGrpSpPr>
          <p:cNvPr id="94" name="Ομάδα 93">
            <a:extLst>
              <a:ext uri="{FF2B5EF4-FFF2-40B4-BE49-F238E27FC236}">
                <a16:creationId xmlns:a16="http://schemas.microsoft.com/office/drawing/2014/main" id="{A379EDB3-B0BE-4F2C-92D5-3C1C2AD3DC81}"/>
              </a:ext>
            </a:extLst>
          </p:cNvPr>
          <p:cNvGrpSpPr/>
          <p:nvPr/>
        </p:nvGrpSpPr>
        <p:grpSpPr>
          <a:xfrm>
            <a:off x="5307806" y="5978321"/>
            <a:ext cx="914400" cy="914400"/>
            <a:chOff x="3589733" y="4435696"/>
            <a:chExt cx="914400" cy="914400"/>
          </a:xfrm>
        </p:grpSpPr>
        <p:sp>
          <p:nvSpPr>
            <p:cNvPr id="95" name="Ορθογώνιο 94">
              <a:extLst>
                <a:ext uri="{FF2B5EF4-FFF2-40B4-BE49-F238E27FC236}">
                  <a16:creationId xmlns:a16="http://schemas.microsoft.com/office/drawing/2014/main" id="{6A1FE774-9779-4ED0-A4E4-4515366C7752}"/>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96" name="TextBox 95">
              <a:extLst>
                <a:ext uri="{FF2B5EF4-FFF2-40B4-BE49-F238E27FC236}">
                  <a16:creationId xmlns:a16="http://schemas.microsoft.com/office/drawing/2014/main" id="{5A781192-3CB8-4A17-824A-B1362FE98056}"/>
                </a:ext>
              </a:extLst>
            </p:cNvPr>
            <p:cNvSpPr txBox="1"/>
            <p:nvPr/>
          </p:nvSpPr>
          <p:spPr>
            <a:xfrm>
              <a:off x="3688556" y="4538953"/>
              <a:ext cx="690562" cy="400110"/>
            </a:xfrm>
            <a:prstGeom prst="rect">
              <a:avLst/>
            </a:prstGeom>
            <a:noFill/>
          </p:spPr>
          <p:txBody>
            <a:bodyPr wrap="square" rtlCol="0">
              <a:spAutoFit/>
            </a:bodyPr>
            <a:lstStyle/>
            <a:p>
              <a:endParaRPr lang="el-GR" sz="2000" dirty="0"/>
            </a:p>
          </p:txBody>
        </p:sp>
      </p:grpSp>
      <p:pic>
        <p:nvPicPr>
          <p:cNvPr id="97" name="Γραφικό 96" descr="Μουσική με συμπαγές γέμισμα">
            <a:extLst>
              <a:ext uri="{FF2B5EF4-FFF2-40B4-BE49-F238E27FC236}">
                <a16:creationId xmlns:a16="http://schemas.microsoft.com/office/drawing/2014/main" id="{5E2AFB96-A90E-45FF-943D-E76D5E841B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96102" y="5703092"/>
            <a:ext cx="914400" cy="914400"/>
          </a:xfrm>
          <a:prstGeom prst="rect">
            <a:avLst/>
          </a:prstGeom>
        </p:spPr>
      </p:pic>
      <p:pic>
        <p:nvPicPr>
          <p:cNvPr id="98" name="Γραφικό 97" descr="Νεκροκεφαλή με συμπαγές γέμισμα">
            <a:extLst>
              <a:ext uri="{FF2B5EF4-FFF2-40B4-BE49-F238E27FC236}">
                <a16:creationId xmlns:a16="http://schemas.microsoft.com/office/drawing/2014/main" id="{0A17FB8B-01D3-44D5-8CEA-890DF7E972E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42748" y="5719765"/>
            <a:ext cx="914400" cy="914400"/>
          </a:xfrm>
          <a:prstGeom prst="rect">
            <a:avLst/>
          </a:prstGeom>
        </p:spPr>
      </p:pic>
      <p:pic>
        <p:nvPicPr>
          <p:cNvPr id="99" name="Γραφικό 98" descr="Εγκέφαλος με συμπαγές γέμισμα">
            <a:extLst>
              <a:ext uri="{FF2B5EF4-FFF2-40B4-BE49-F238E27FC236}">
                <a16:creationId xmlns:a16="http://schemas.microsoft.com/office/drawing/2014/main" id="{7C7E8934-CB0D-46E1-91CC-A2F8C483972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389393" y="5781674"/>
            <a:ext cx="914400" cy="914400"/>
          </a:xfrm>
          <a:prstGeom prst="rect">
            <a:avLst/>
          </a:prstGeom>
        </p:spPr>
      </p:pic>
      <p:grpSp>
        <p:nvGrpSpPr>
          <p:cNvPr id="100" name="Ομάδα 99">
            <a:extLst>
              <a:ext uri="{FF2B5EF4-FFF2-40B4-BE49-F238E27FC236}">
                <a16:creationId xmlns:a16="http://schemas.microsoft.com/office/drawing/2014/main" id="{048E934E-0591-4FF8-BA7B-AFC57E6C392B}"/>
              </a:ext>
            </a:extLst>
          </p:cNvPr>
          <p:cNvGrpSpPr/>
          <p:nvPr/>
        </p:nvGrpSpPr>
        <p:grpSpPr>
          <a:xfrm>
            <a:off x="3481387" y="5176838"/>
            <a:ext cx="1238250" cy="1238250"/>
            <a:chOff x="1943100" y="1657350"/>
            <a:chExt cx="1238250" cy="1238250"/>
          </a:xfrm>
          <a:gradFill>
            <a:gsLst>
              <a:gs pos="0">
                <a:schemeClr val="accent3">
                  <a:lumMod val="67000"/>
                </a:schemeClr>
              </a:gs>
              <a:gs pos="48000">
                <a:schemeClr val="accent3">
                  <a:lumMod val="97000"/>
                  <a:lumOff val="3000"/>
                </a:schemeClr>
              </a:gs>
              <a:gs pos="100000">
                <a:schemeClr val="accent3">
                  <a:lumMod val="60000"/>
                  <a:lumOff val="40000"/>
                </a:schemeClr>
              </a:gs>
            </a:gsLst>
            <a:lin ang="16200000" scaled="1"/>
          </a:gradFill>
        </p:grpSpPr>
        <p:sp>
          <p:nvSpPr>
            <p:cNvPr id="101" name="Οβάλ 100">
              <a:extLst>
                <a:ext uri="{FF2B5EF4-FFF2-40B4-BE49-F238E27FC236}">
                  <a16:creationId xmlns:a16="http://schemas.microsoft.com/office/drawing/2014/main" id="{77AD1812-81BC-48E7-B953-6E8F7CB0FA31}"/>
                </a:ext>
              </a:extLst>
            </p:cNvPr>
            <p:cNvSpPr/>
            <p:nvPr/>
          </p:nvSpPr>
          <p:spPr>
            <a:xfrm>
              <a:off x="1943100" y="1657350"/>
              <a:ext cx="1238250" cy="123825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02" name="Οβάλ 101">
              <a:extLst>
                <a:ext uri="{FF2B5EF4-FFF2-40B4-BE49-F238E27FC236}">
                  <a16:creationId xmlns:a16="http://schemas.microsoft.com/office/drawing/2014/main" id="{6FDAF72E-F192-4830-9D3C-D8078FC6F83F}"/>
                </a:ext>
              </a:extLst>
            </p:cNvPr>
            <p:cNvSpPr/>
            <p:nvPr/>
          </p:nvSpPr>
          <p:spPr>
            <a:xfrm>
              <a:off x="2105025" y="1819275"/>
              <a:ext cx="914400" cy="9144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grpSp>
      <p:pic>
        <p:nvPicPr>
          <p:cNvPr id="103" name="Γραφικό 102" descr="Φιάλη με συμπαγές γέμισμα">
            <a:extLst>
              <a:ext uri="{FF2B5EF4-FFF2-40B4-BE49-F238E27FC236}">
                <a16:creationId xmlns:a16="http://schemas.microsoft.com/office/drawing/2014/main" id="{1C1939BF-EF2D-4374-B006-D4CC2D41003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914525" y="5703092"/>
            <a:ext cx="914400" cy="914400"/>
          </a:xfrm>
          <a:prstGeom prst="rect">
            <a:avLst/>
          </a:prstGeom>
        </p:spPr>
      </p:pic>
      <p:grpSp>
        <p:nvGrpSpPr>
          <p:cNvPr id="91" name="Ομάδα 90">
            <a:extLst>
              <a:ext uri="{FF2B5EF4-FFF2-40B4-BE49-F238E27FC236}">
                <a16:creationId xmlns:a16="http://schemas.microsoft.com/office/drawing/2014/main" id="{6D17A673-3CBA-4025-8F37-EB318F551B61}"/>
              </a:ext>
            </a:extLst>
          </p:cNvPr>
          <p:cNvGrpSpPr/>
          <p:nvPr/>
        </p:nvGrpSpPr>
        <p:grpSpPr>
          <a:xfrm>
            <a:off x="3657599" y="5349168"/>
            <a:ext cx="914400" cy="1426696"/>
            <a:chOff x="3589733" y="4435696"/>
            <a:chExt cx="914400" cy="1426696"/>
          </a:xfrm>
        </p:grpSpPr>
        <p:sp>
          <p:nvSpPr>
            <p:cNvPr id="92" name="Ορθογώνιο 91">
              <a:extLst>
                <a:ext uri="{FF2B5EF4-FFF2-40B4-BE49-F238E27FC236}">
                  <a16:creationId xmlns:a16="http://schemas.microsoft.com/office/drawing/2014/main" id="{9980535D-17AD-4D33-87E0-B477F499E6A2}"/>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93" name="TextBox 92">
              <a:extLst>
                <a:ext uri="{FF2B5EF4-FFF2-40B4-BE49-F238E27FC236}">
                  <a16:creationId xmlns:a16="http://schemas.microsoft.com/office/drawing/2014/main" id="{0C2250C3-E71A-4081-8D41-4FBE576DB0D1}"/>
                </a:ext>
              </a:extLst>
            </p:cNvPr>
            <p:cNvSpPr txBox="1"/>
            <p:nvPr/>
          </p:nvSpPr>
          <p:spPr>
            <a:xfrm>
              <a:off x="3765444" y="4538953"/>
              <a:ext cx="466726" cy="1323439"/>
            </a:xfrm>
            <a:prstGeom prst="rect">
              <a:avLst/>
            </a:prstGeom>
            <a:noFill/>
          </p:spPr>
          <p:txBody>
            <a:bodyPr wrap="square" rtlCol="0">
              <a:spAutoFit/>
            </a:bodyPr>
            <a:lstStyle/>
            <a:p>
              <a:r>
                <a:rPr lang="en-US" sz="4000" b="1" dirty="0">
                  <a:ea typeface="Segoe UI Symbol" panose="020B0502040204020203" pitchFamily="34" charset="0"/>
                </a:rPr>
                <a:t>ℝ</a:t>
              </a:r>
              <a:endParaRPr lang="el-GR" sz="4000" b="1" dirty="0"/>
            </a:p>
            <a:p>
              <a:endParaRPr lang="el-GR" sz="4000" dirty="0"/>
            </a:p>
          </p:txBody>
        </p:sp>
      </p:grpSp>
      <p:sp>
        <p:nvSpPr>
          <p:cNvPr id="105" name="TextBox 104">
            <a:extLst>
              <a:ext uri="{FF2B5EF4-FFF2-40B4-BE49-F238E27FC236}">
                <a16:creationId xmlns:a16="http://schemas.microsoft.com/office/drawing/2014/main" id="{257C4F2D-A7CD-4B68-AA00-6026CDF7ED08}"/>
              </a:ext>
            </a:extLst>
          </p:cNvPr>
          <p:cNvSpPr txBox="1"/>
          <p:nvPr/>
        </p:nvSpPr>
        <p:spPr>
          <a:xfrm>
            <a:off x="657000" y="1058606"/>
            <a:ext cx="7959969" cy="4085734"/>
          </a:xfrm>
          <a:prstGeom prst="rect">
            <a:avLst/>
          </a:prstGeom>
          <a:noFill/>
        </p:spPr>
        <p:txBody>
          <a:bodyPr wrap="square">
            <a:spAutoFit/>
          </a:bodyPr>
          <a:lstStyle/>
          <a:p>
            <a:pPr>
              <a:lnSpc>
                <a:spcPct val="107000"/>
              </a:lnSpc>
              <a:spcAft>
                <a:spcPts val="800"/>
              </a:spcAft>
            </a:pPr>
            <a:r>
              <a:rPr lang="en-US" sz="2000" dirty="0">
                <a:latin typeface="Comic Sans MS" panose="030F0702030302020204" pitchFamily="66" charset="0"/>
              </a:rPr>
              <a:t>The main philosophical idea of Pythagoras was that “everything is number.” The Pythagoreans believed that the entire universe operates according to mathematical laws.</a:t>
            </a:r>
            <a:endParaRPr lang="el-GR" sz="2000" dirty="0">
              <a:latin typeface="Comic Sans MS" panose="030F0702030302020204" pitchFamily="66" charset="0"/>
            </a:endParaRPr>
          </a:p>
          <a:p>
            <a:pPr>
              <a:lnSpc>
                <a:spcPct val="107000"/>
              </a:lnSpc>
              <a:spcAft>
                <a:spcPts val="800"/>
              </a:spcAft>
            </a:pPr>
            <a:endParaRPr lang="en-US" sz="2000" dirty="0">
              <a:latin typeface="Comic Sans MS" panose="030F0702030302020204" pitchFamily="66" charset="0"/>
              <a:ea typeface="Times New Roman" panose="02020603050405020304" pitchFamily="18" charset="0"/>
              <a:cs typeface="Times New Roman" panose="02020603050405020304" pitchFamily="18" charset="0"/>
            </a:endParaRPr>
          </a:p>
          <a:p>
            <a:pPr>
              <a:lnSpc>
                <a:spcPct val="107000"/>
              </a:lnSpc>
              <a:spcAft>
                <a:spcPts val="800"/>
              </a:spcAft>
            </a:pPr>
            <a:r>
              <a:rPr lang="el-GR" sz="2000" dirty="0" err="1">
                <a:latin typeface="Comic Sans MS" panose="030F0702030302020204" pitchFamily="66" charset="0"/>
              </a:rPr>
              <a:t>They</a:t>
            </a:r>
            <a:r>
              <a:rPr lang="el-GR" sz="2000" dirty="0">
                <a:latin typeface="Comic Sans MS" panose="030F0702030302020204" pitchFamily="66" charset="0"/>
              </a:rPr>
              <a:t> </a:t>
            </a:r>
            <a:r>
              <a:rPr lang="el-GR" sz="2000" dirty="0" err="1">
                <a:latin typeface="Comic Sans MS" panose="030F0702030302020204" pitchFamily="66" charset="0"/>
              </a:rPr>
              <a:t>observed</a:t>
            </a:r>
            <a:r>
              <a:rPr lang="el-GR" sz="2000" dirty="0">
                <a:latin typeface="Comic Sans MS" panose="030F0702030302020204" pitchFamily="66" charset="0"/>
              </a:rPr>
              <a:t> </a:t>
            </a:r>
            <a:r>
              <a:rPr lang="el-GR" sz="2000" dirty="0" err="1">
                <a:latin typeface="Comic Sans MS" panose="030F0702030302020204" pitchFamily="66" charset="0"/>
              </a:rPr>
              <a:t>that</a:t>
            </a:r>
            <a:r>
              <a:rPr lang="el-GR" sz="2000" dirty="0">
                <a:latin typeface="Comic Sans MS" panose="030F0702030302020204" pitchFamily="66" charset="0"/>
              </a:rPr>
              <a:t>:</a:t>
            </a:r>
          </a:p>
          <a:p>
            <a:pPr marL="457200" indent="-457200">
              <a:lnSpc>
                <a:spcPct val="107000"/>
              </a:lnSpc>
              <a:spcAft>
                <a:spcPts val="800"/>
              </a:spcAft>
              <a:buSzPct val="100000"/>
              <a:buFont typeface="Arial" panose="020B0604020202020204" pitchFamily="34" charset="0"/>
              <a:buChar char="•"/>
              <a:tabLst>
                <a:tab pos="457200" algn="l"/>
              </a:tabLst>
            </a:pPr>
            <a:r>
              <a:rPr lang="en-US" sz="2000" dirty="0">
                <a:latin typeface="Comic Sans MS" panose="030F0702030302020204" pitchFamily="66" charset="0"/>
              </a:rPr>
              <a:t>musical sounds are connected to numerical ratios,</a:t>
            </a:r>
          </a:p>
          <a:p>
            <a:pPr>
              <a:lnSpc>
                <a:spcPct val="107000"/>
              </a:lnSpc>
              <a:spcAft>
                <a:spcPts val="800"/>
              </a:spcAft>
              <a:buSzPct val="100000"/>
              <a:tabLst>
                <a:tab pos="457200" algn="l"/>
              </a:tabLst>
            </a:pPr>
            <a:endParaRPr lang="el-GR" sz="2000" dirty="0">
              <a:latin typeface="Comic Sans MS" panose="030F0702030302020204" pitchFamily="66" charset="0"/>
            </a:endParaRPr>
          </a:p>
          <a:p>
            <a:pPr marL="457200" indent="-457200">
              <a:lnSpc>
                <a:spcPct val="107000"/>
              </a:lnSpc>
              <a:spcAft>
                <a:spcPts val="800"/>
              </a:spcAft>
              <a:buSzPct val="100000"/>
              <a:buFont typeface="Arial" panose="020B0604020202020204" pitchFamily="34" charset="0"/>
              <a:buChar char="•"/>
              <a:tabLst>
                <a:tab pos="457200" algn="l"/>
              </a:tabLst>
            </a:pPr>
            <a:r>
              <a:rPr lang="en-US" sz="2000" dirty="0">
                <a:latin typeface="Comic Sans MS" panose="030F0702030302020204" pitchFamily="66" charset="0"/>
              </a:rPr>
              <a:t>geometry is based on numbers,</a:t>
            </a:r>
            <a:endParaRPr lang="el-GR" sz="2000" dirty="0">
              <a:latin typeface="Comic Sans MS" panose="030F0702030302020204" pitchFamily="66" charset="0"/>
            </a:endParaRPr>
          </a:p>
          <a:p>
            <a:pPr marL="457200" indent="-457200">
              <a:lnSpc>
                <a:spcPct val="107000"/>
              </a:lnSpc>
              <a:spcAft>
                <a:spcPts val="800"/>
              </a:spcAft>
              <a:buSzPct val="100000"/>
              <a:buFont typeface="Arial" panose="020B0604020202020204" pitchFamily="34" charset="0"/>
              <a:buChar char="•"/>
              <a:tabLst>
                <a:tab pos="457200" algn="l"/>
              </a:tabLst>
            </a:pPr>
            <a:endParaRPr lang="en-US" sz="2000" dirty="0">
              <a:latin typeface="Comic Sans MS" panose="030F0702030302020204" pitchFamily="66" charset="0"/>
            </a:endParaRPr>
          </a:p>
          <a:p>
            <a:pPr marL="457200" indent="-457200">
              <a:lnSpc>
                <a:spcPct val="107000"/>
              </a:lnSpc>
              <a:spcAft>
                <a:spcPts val="800"/>
              </a:spcAft>
              <a:buSzPct val="100000"/>
              <a:buFont typeface="Arial" panose="020B0604020202020204" pitchFamily="34" charset="0"/>
              <a:buChar char="•"/>
              <a:tabLst>
                <a:tab pos="457200" algn="l"/>
              </a:tabLst>
            </a:pPr>
            <a:r>
              <a:rPr lang="en-US" sz="2000" dirty="0">
                <a:latin typeface="Comic Sans MS" panose="030F0702030302020204" pitchFamily="66" charset="0"/>
              </a:rPr>
              <a:t>the movements of celestial bodies show order and symmetry.</a:t>
            </a:r>
            <a:endParaRPr lang="el-GR" sz="2000" dirty="0">
              <a:latin typeface="Comic Sans MS" panose="030F0702030302020204" pitchFamily="66" charset="0"/>
            </a:endParaRPr>
          </a:p>
        </p:txBody>
      </p:sp>
      <p:pic>
        <p:nvPicPr>
          <p:cNvPr id="9220" name="Picture 4" descr="Πυθαγόρας – Τα πάντα είναι αριθμοί – Geo Dam">
            <a:extLst>
              <a:ext uri="{FF2B5EF4-FFF2-40B4-BE49-F238E27FC236}">
                <a16:creationId xmlns:a16="http://schemas.microsoft.com/office/drawing/2014/main" id="{3679D30E-3BCF-4756-AC17-3D48170852D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180909" y="1892989"/>
            <a:ext cx="2416968" cy="2416968"/>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74502339-C91C-4E42-B18B-0590C1F0D8B4}"/>
              </a:ext>
            </a:extLst>
          </p:cNvPr>
          <p:cNvSpPr txBox="1"/>
          <p:nvPr/>
        </p:nvSpPr>
        <p:spPr>
          <a:xfrm>
            <a:off x="5172801" y="6146575"/>
            <a:ext cx="1103449" cy="338554"/>
          </a:xfrm>
          <a:prstGeom prst="rect">
            <a:avLst/>
          </a:prstGeom>
          <a:noFill/>
        </p:spPr>
        <p:txBody>
          <a:bodyPr wrap="square" rtlCol="0">
            <a:spAutoFit/>
          </a:bodyPr>
          <a:lstStyle/>
          <a:p>
            <a:pPr algn="ctr"/>
            <a:r>
              <a:rPr lang="el-GR" sz="1600" b="1" dirty="0">
                <a:latin typeface="Comic Sans MS" panose="030F0702030302020204" pitchFamily="66" charset="0"/>
              </a:rPr>
              <a:t>α</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b</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c</a:t>
            </a:r>
            <a:r>
              <a:rPr lang="el-GR" sz="1600" b="1" baseline="30000" dirty="0">
                <a:latin typeface="Comic Sans MS" panose="030F0702030302020204" pitchFamily="66" charset="0"/>
              </a:rPr>
              <a:t>2</a:t>
            </a:r>
            <a:endParaRPr lang="el-GR" sz="2000" dirty="0">
              <a:latin typeface="Comic Sans MS" panose="030F0702030302020204" pitchFamily="66" charset="0"/>
            </a:endParaRPr>
          </a:p>
        </p:txBody>
      </p:sp>
    </p:spTree>
    <p:extLst>
      <p:ext uri="{BB962C8B-B14F-4D97-AF65-F5344CB8AC3E}">
        <p14:creationId xmlns:p14="http://schemas.microsoft.com/office/powerpoint/2010/main" val="545400448"/>
      </p:ext>
    </p:extLst>
  </p:cSld>
  <p:clrMapOvr>
    <a:masterClrMapping/>
  </p:clrMapOvr>
  <mc:AlternateContent xmlns:mc="http://schemas.openxmlformats.org/markup-compatibility/2006" xmlns:p14="http://schemas.microsoft.com/office/powerpoint/2010/main">
    <mc:Choice Requires="p14">
      <p:transition spd="slow" p14:dur="1250" advClick="0" advTm="8000">
        <p14:switch dir="r"/>
      </p:transition>
    </mc:Choice>
    <mc:Fallback xmlns="">
      <p:transition spd="slow" advClick="0" advTm="8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00"/>
                                        <p:tgtEl>
                                          <p:spTgt spid="38"/>
                                        </p:tgtEl>
                                      </p:cBhvr>
                                    </p:animEffect>
                                  </p:childTnLst>
                                </p:cTn>
                              </p:par>
                              <p:par>
                                <p:cTn id="8" presetID="22" presetClass="entr" presetSubtype="4" fill="hold" nodeType="withEffect">
                                  <p:stCondLst>
                                    <p:cond delay="0"/>
                                  </p:stCondLst>
                                  <p:childTnLst>
                                    <p:set>
                                      <p:cBhvr>
                                        <p:cTn id="9" dur="1" fill="hold">
                                          <p:stCondLst>
                                            <p:cond delay="0"/>
                                          </p:stCondLst>
                                        </p:cTn>
                                        <p:tgtEl>
                                          <p:spTgt spid="9220"/>
                                        </p:tgtEl>
                                        <p:attrNameLst>
                                          <p:attrName>style.visibility</p:attrName>
                                        </p:attrNameLst>
                                      </p:cBhvr>
                                      <p:to>
                                        <p:strVal val="visible"/>
                                      </p:to>
                                    </p:set>
                                    <p:animEffect transition="in" filter="wipe(down)">
                                      <p:cBhvr>
                                        <p:cTn id="10" dur="1500"/>
                                        <p:tgtEl>
                                          <p:spTgt spid="922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05">
                                            <p:txEl>
                                              <p:pRg st="0" end="0"/>
                                            </p:txEl>
                                          </p:spTgt>
                                        </p:tgtEl>
                                        <p:attrNameLst>
                                          <p:attrName>style.visibility</p:attrName>
                                        </p:attrNameLst>
                                      </p:cBhvr>
                                      <p:to>
                                        <p:strVal val="visible"/>
                                      </p:to>
                                    </p:set>
                                    <p:animEffect transition="in" filter="wipe(down)">
                                      <p:cBhvr>
                                        <p:cTn id="15" dur="1500"/>
                                        <p:tgtEl>
                                          <p:spTgt spid="10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05">
                                            <p:txEl>
                                              <p:pRg st="2" end="2"/>
                                            </p:txEl>
                                          </p:spTgt>
                                        </p:tgtEl>
                                        <p:attrNameLst>
                                          <p:attrName>style.visibility</p:attrName>
                                        </p:attrNameLst>
                                      </p:cBhvr>
                                      <p:to>
                                        <p:strVal val="visible"/>
                                      </p:to>
                                    </p:set>
                                    <p:animEffect transition="in" filter="wipe(down)">
                                      <p:cBhvr>
                                        <p:cTn id="20" dur="1500"/>
                                        <p:tgtEl>
                                          <p:spTgt spid="10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05">
                                            <p:txEl>
                                              <p:pRg st="3" end="3"/>
                                            </p:txEl>
                                          </p:spTgt>
                                        </p:tgtEl>
                                        <p:attrNameLst>
                                          <p:attrName>style.visibility</p:attrName>
                                        </p:attrNameLst>
                                      </p:cBhvr>
                                      <p:to>
                                        <p:strVal val="visible"/>
                                      </p:to>
                                    </p:set>
                                    <p:animEffect transition="in" filter="wipe(down)">
                                      <p:cBhvr>
                                        <p:cTn id="25" dur="1500"/>
                                        <p:tgtEl>
                                          <p:spTgt spid="105">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05">
                                            <p:txEl>
                                              <p:pRg st="5" end="5"/>
                                            </p:txEl>
                                          </p:spTgt>
                                        </p:tgtEl>
                                        <p:attrNameLst>
                                          <p:attrName>style.visibility</p:attrName>
                                        </p:attrNameLst>
                                      </p:cBhvr>
                                      <p:to>
                                        <p:strVal val="visible"/>
                                      </p:to>
                                    </p:set>
                                    <p:animEffect transition="in" filter="wipe(down)">
                                      <p:cBhvr>
                                        <p:cTn id="30" dur="1500"/>
                                        <p:tgtEl>
                                          <p:spTgt spid="105">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105">
                                            <p:txEl>
                                              <p:pRg st="7" end="7"/>
                                            </p:txEl>
                                          </p:spTgt>
                                        </p:tgtEl>
                                        <p:attrNameLst>
                                          <p:attrName>style.visibility</p:attrName>
                                        </p:attrNameLst>
                                      </p:cBhvr>
                                      <p:to>
                                        <p:strVal val="visible"/>
                                      </p:to>
                                    </p:set>
                                    <p:animEffect transition="in" filter="wipe(down)">
                                      <p:cBhvr>
                                        <p:cTn id="35" dur="1500"/>
                                        <p:tgtEl>
                                          <p:spTgt spid="10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65000">
              <a:srgbClr val="939393"/>
            </a:gs>
            <a:gs pos="0">
              <a:schemeClr val="bg1"/>
            </a:gs>
            <a:gs pos="100000">
              <a:schemeClr val="accent1">
                <a:lumMod val="60000"/>
                <a:lumOff val="40000"/>
              </a:schemeClr>
            </a:gs>
          </a:gsLst>
          <a:lin ang="2700000" scaled="1"/>
          <a:tileRect/>
        </a:gradFill>
        <a:effectLst/>
      </p:bgPr>
    </p:bg>
    <p:spTree>
      <p:nvGrpSpPr>
        <p:cNvPr id="1" name=""/>
        <p:cNvGrpSpPr/>
        <p:nvPr/>
      </p:nvGrpSpPr>
      <p:grpSpPr>
        <a:xfrm>
          <a:off x="0" y="0"/>
          <a:ext cx="0" cy="0"/>
          <a:chOff x="0" y="0"/>
          <a:chExt cx="0" cy="0"/>
        </a:xfrm>
      </p:grpSpPr>
      <p:sp>
        <p:nvSpPr>
          <p:cNvPr id="35" name="Ορθογώνιο 34">
            <a:extLst>
              <a:ext uri="{FF2B5EF4-FFF2-40B4-BE49-F238E27FC236}">
                <a16:creationId xmlns:a16="http://schemas.microsoft.com/office/drawing/2014/main" id="{536B0609-998B-409C-A696-DA89A002F6EC}"/>
              </a:ext>
            </a:extLst>
          </p:cNvPr>
          <p:cNvSpPr/>
          <p:nvPr/>
        </p:nvSpPr>
        <p:spPr>
          <a:xfrm>
            <a:off x="0" y="5619750"/>
            <a:ext cx="12192000" cy="1238250"/>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shape">
              <a:fillToRect l="50000" t="50000" r="50000" b="50000"/>
            </a:path>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l-GR"/>
          </a:p>
        </p:txBody>
      </p:sp>
      <p:pic>
        <p:nvPicPr>
          <p:cNvPr id="36" name="Γραφικό 35" descr="Atom με συμπαγές γέμισμα">
            <a:extLst>
              <a:ext uri="{FF2B5EF4-FFF2-40B4-BE49-F238E27FC236}">
                <a16:creationId xmlns:a16="http://schemas.microsoft.com/office/drawing/2014/main" id="{D58AA033-F200-448C-9920-1D29A46DD0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850" y="5804600"/>
            <a:ext cx="895350" cy="895350"/>
          </a:xfrm>
          <a:prstGeom prst="rect">
            <a:avLst/>
          </a:prstGeom>
        </p:spPr>
      </p:pic>
      <p:grpSp>
        <p:nvGrpSpPr>
          <p:cNvPr id="37" name="Ομάδα 36">
            <a:extLst>
              <a:ext uri="{FF2B5EF4-FFF2-40B4-BE49-F238E27FC236}">
                <a16:creationId xmlns:a16="http://schemas.microsoft.com/office/drawing/2014/main" id="{A3E189DD-0FBD-4E2B-85AE-78A0C618AFD9}"/>
              </a:ext>
            </a:extLst>
          </p:cNvPr>
          <p:cNvGrpSpPr/>
          <p:nvPr/>
        </p:nvGrpSpPr>
        <p:grpSpPr>
          <a:xfrm>
            <a:off x="5307806" y="5978321"/>
            <a:ext cx="914400" cy="914400"/>
            <a:chOff x="3589733" y="4435696"/>
            <a:chExt cx="914400" cy="914400"/>
          </a:xfrm>
        </p:grpSpPr>
        <p:sp>
          <p:nvSpPr>
            <p:cNvPr id="39" name="Ορθογώνιο 38">
              <a:extLst>
                <a:ext uri="{FF2B5EF4-FFF2-40B4-BE49-F238E27FC236}">
                  <a16:creationId xmlns:a16="http://schemas.microsoft.com/office/drawing/2014/main" id="{34F0FBD5-8C5E-43F4-BF9A-C93F5E49409C}"/>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0" name="TextBox 39">
              <a:extLst>
                <a:ext uri="{FF2B5EF4-FFF2-40B4-BE49-F238E27FC236}">
                  <a16:creationId xmlns:a16="http://schemas.microsoft.com/office/drawing/2014/main" id="{99973177-B2A7-4F3A-8A69-F2635BF915C8}"/>
                </a:ext>
              </a:extLst>
            </p:cNvPr>
            <p:cNvSpPr txBox="1"/>
            <p:nvPr/>
          </p:nvSpPr>
          <p:spPr>
            <a:xfrm>
              <a:off x="3688556" y="4538953"/>
              <a:ext cx="690562" cy="400110"/>
            </a:xfrm>
            <a:prstGeom prst="rect">
              <a:avLst/>
            </a:prstGeom>
            <a:noFill/>
          </p:spPr>
          <p:txBody>
            <a:bodyPr wrap="square" rtlCol="0">
              <a:spAutoFit/>
            </a:bodyPr>
            <a:lstStyle/>
            <a:p>
              <a:endParaRPr lang="el-GR" sz="2000" dirty="0"/>
            </a:p>
          </p:txBody>
        </p:sp>
      </p:grpSp>
      <p:pic>
        <p:nvPicPr>
          <p:cNvPr id="41" name="Γραφικό 40" descr="Μουσική με συμπαγές γέμισμα">
            <a:extLst>
              <a:ext uri="{FF2B5EF4-FFF2-40B4-BE49-F238E27FC236}">
                <a16:creationId xmlns:a16="http://schemas.microsoft.com/office/drawing/2014/main" id="{DF335AF6-E5F7-46B9-841E-57FA9B2E6C8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96102" y="5703092"/>
            <a:ext cx="914400" cy="914400"/>
          </a:xfrm>
          <a:prstGeom prst="rect">
            <a:avLst/>
          </a:prstGeom>
        </p:spPr>
      </p:pic>
      <p:pic>
        <p:nvPicPr>
          <p:cNvPr id="42" name="Γραφικό 41" descr="Νεκροκεφαλή με συμπαγές γέμισμα">
            <a:extLst>
              <a:ext uri="{FF2B5EF4-FFF2-40B4-BE49-F238E27FC236}">
                <a16:creationId xmlns:a16="http://schemas.microsoft.com/office/drawing/2014/main" id="{8630A6A2-D9EC-4E30-B2D9-A7A8EE76C6F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42748" y="5719765"/>
            <a:ext cx="914400" cy="914400"/>
          </a:xfrm>
          <a:prstGeom prst="rect">
            <a:avLst/>
          </a:prstGeom>
        </p:spPr>
      </p:pic>
      <p:pic>
        <p:nvPicPr>
          <p:cNvPr id="43" name="Γραφικό 42" descr="Εγκέφαλος με συμπαγές γέμισμα">
            <a:extLst>
              <a:ext uri="{FF2B5EF4-FFF2-40B4-BE49-F238E27FC236}">
                <a16:creationId xmlns:a16="http://schemas.microsoft.com/office/drawing/2014/main" id="{F22F94F9-60B6-455F-A223-DAE4935DCEB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389393" y="5781674"/>
            <a:ext cx="914400" cy="914400"/>
          </a:xfrm>
          <a:prstGeom prst="rect">
            <a:avLst/>
          </a:prstGeom>
        </p:spPr>
      </p:pic>
      <p:grpSp>
        <p:nvGrpSpPr>
          <p:cNvPr id="44" name="Ομάδα 43">
            <a:extLst>
              <a:ext uri="{FF2B5EF4-FFF2-40B4-BE49-F238E27FC236}">
                <a16:creationId xmlns:a16="http://schemas.microsoft.com/office/drawing/2014/main" id="{1D93DC2A-A7C3-4BD2-B8AF-75BFC5D9FC49}"/>
              </a:ext>
            </a:extLst>
          </p:cNvPr>
          <p:cNvGrpSpPr/>
          <p:nvPr/>
        </p:nvGrpSpPr>
        <p:grpSpPr>
          <a:xfrm>
            <a:off x="3481387" y="5176838"/>
            <a:ext cx="1238250" cy="1238250"/>
            <a:chOff x="1943100" y="1657350"/>
            <a:chExt cx="1238250" cy="1238250"/>
          </a:xfrm>
          <a:gradFill>
            <a:gsLst>
              <a:gs pos="0">
                <a:schemeClr val="accent3">
                  <a:lumMod val="67000"/>
                </a:schemeClr>
              </a:gs>
              <a:gs pos="48000">
                <a:schemeClr val="accent3">
                  <a:lumMod val="97000"/>
                  <a:lumOff val="3000"/>
                </a:schemeClr>
              </a:gs>
              <a:gs pos="100000">
                <a:schemeClr val="accent3">
                  <a:lumMod val="60000"/>
                  <a:lumOff val="40000"/>
                </a:schemeClr>
              </a:gs>
            </a:gsLst>
            <a:lin ang="16200000" scaled="1"/>
          </a:gradFill>
        </p:grpSpPr>
        <p:sp>
          <p:nvSpPr>
            <p:cNvPr id="45" name="Οβάλ 44">
              <a:extLst>
                <a:ext uri="{FF2B5EF4-FFF2-40B4-BE49-F238E27FC236}">
                  <a16:creationId xmlns:a16="http://schemas.microsoft.com/office/drawing/2014/main" id="{10C50DD8-1AAD-463B-8E08-583B7AA78C7B}"/>
                </a:ext>
              </a:extLst>
            </p:cNvPr>
            <p:cNvSpPr/>
            <p:nvPr/>
          </p:nvSpPr>
          <p:spPr>
            <a:xfrm>
              <a:off x="1943100" y="1657350"/>
              <a:ext cx="1238250" cy="123825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6" name="Οβάλ 45">
              <a:extLst>
                <a:ext uri="{FF2B5EF4-FFF2-40B4-BE49-F238E27FC236}">
                  <a16:creationId xmlns:a16="http://schemas.microsoft.com/office/drawing/2014/main" id="{137837F8-87C7-4B2E-854A-9ADE625B0523}"/>
                </a:ext>
              </a:extLst>
            </p:cNvPr>
            <p:cNvSpPr/>
            <p:nvPr/>
          </p:nvSpPr>
          <p:spPr>
            <a:xfrm>
              <a:off x="2105025" y="1819275"/>
              <a:ext cx="914400" cy="9144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grpSp>
      <p:pic>
        <p:nvPicPr>
          <p:cNvPr id="47" name="Γραφικό 46" descr="Φιάλη με συμπαγές γέμισμα">
            <a:extLst>
              <a:ext uri="{FF2B5EF4-FFF2-40B4-BE49-F238E27FC236}">
                <a16:creationId xmlns:a16="http://schemas.microsoft.com/office/drawing/2014/main" id="{7265EA4F-20DE-4E70-8F0B-7960909D70E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914525" y="5703092"/>
            <a:ext cx="914400" cy="914400"/>
          </a:xfrm>
          <a:prstGeom prst="rect">
            <a:avLst/>
          </a:prstGeom>
        </p:spPr>
      </p:pic>
      <p:sp>
        <p:nvSpPr>
          <p:cNvPr id="52" name="TextBox 51">
            <a:extLst>
              <a:ext uri="{FF2B5EF4-FFF2-40B4-BE49-F238E27FC236}">
                <a16:creationId xmlns:a16="http://schemas.microsoft.com/office/drawing/2014/main" id="{49175C25-54AD-4608-B241-DD813D7CA68F}"/>
              </a:ext>
            </a:extLst>
          </p:cNvPr>
          <p:cNvSpPr txBox="1"/>
          <p:nvPr/>
        </p:nvSpPr>
        <p:spPr>
          <a:xfrm>
            <a:off x="8465526" y="2262545"/>
            <a:ext cx="2955682" cy="1015663"/>
          </a:xfrm>
          <a:prstGeom prst="rect">
            <a:avLst/>
          </a:prstGeom>
          <a:noFill/>
        </p:spPr>
        <p:txBody>
          <a:bodyPr wrap="square">
            <a:spAutoFit/>
          </a:bodyPr>
          <a:lstStyle/>
          <a:p>
            <a:r>
              <a:rPr lang="en-US" sz="2000" dirty="0">
                <a:latin typeface="Comic Sans MS" panose="030F0702030302020204" pitchFamily="66" charset="0"/>
              </a:rPr>
              <a:t>This idea later influenced all of science and philosophy. </a:t>
            </a:r>
            <a:endParaRPr lang="el-GR" sz="2000" dirty="0">
              <a:latin typeface="Comic Sans MS" panose="030F0702030302020204" pitchFamily="66" charset="0"/>
            </a:endParaRPr>
          </a:p>
        </p:txBody>
      </p:sp>
      <p:sp>
        <p:nvSpPr>
          <p:cNvPr id="54" name="TextBox 53">
            <a:extLst>
              <a:ext uri="{FF2B5EF4-FFF2-40B4-BE49-F238E27FC236}">
                <a16:creationId xmlns:a16="http://schemas.microsoft.com/office/drawing/2014/main" id="{45F250FE-0307-4983-B322-747116B7CF9B}"/>
              </a:ext>
            </a:extLst>
          </p:cNvPr>
          <p:cNvSpPr txBox="1"/>
          <p:nvPr/>
        </p:nvSpPr>
        <p:spPr>
          <a:xfrm>
            <a:off x="383564" y="2074544"/>
            <a:ext cx="3097823" cy="1391663"/>
          </a:xfrm>
          <a:prstGeom prst="rect">
            <a:avLst/>
          </a:prstGeom>
          <a:noFill/>
        </p:spPr>
        <p:txBody>
          <a:bodyPr wrap="square">
            <a:spAutoFit/>
          </a:bodyPr>
          <a:lstStyle/>
          <a:p>
            <a:pPr>
              <a:lnSpc>
                <a:spcPct val="107000"/>
              </a:lnSpc>
              <a:spcAft>
                <a:spcPts val="800"/>
              </a:spcAft>
            </a:pPr>
            <a:r>
              <a:rPr lang="en-US" sz="2000" dirty="0">
                <a:latin typeface="Comic Sans MS" panose="030F0702030302020204" pitchFamily="66" charset="0"/>
              </a:rPr>
              <a:t>Thus, they concluded that mathematics is the foundation of nature and reality.</a:t>
            </a:r>
            <a:endParaRPr lang="el-GR" sz="2000" dirty="0">
              <a:latin typeface="Comic Sans MS" panose="030F0702030302020204" pitchFamily="66" charset="0"/>
            </a:endParaRPr>
          </a:p>
        </p:txBody>
      </p:sp>
      <p:pic>
        <p:nvPicPr>
          <p:cNvPr id="10242" name="Picture 2" descr="Η επιστήμη των μαθηματικών… αλλιώς - Newsbeast">
            <a:extLst>
              <a:ext uri="{FF2B5EF4-FFF2-40B4-BE49-F238E27FC236}">
                <a16:creationId xmlns:a16="http://schemas.microsoft.com/office/drawing/2014/main" id="{5FEA0C20-AA21-4033-8373-1ECEC51A36B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70138" y="1264291"/>
            <a:ext cx="4251723" cy="3184688"/>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0D1B4229-E324-4857-8391-139552BC4EA3}"/>
              </a:ext>
            </a:extLst>
          </p:cNvPr>
          <p:cNvSpPr txBox="1"/>
          <p:nvPr/>
        </p:nvSpPr>
        <p:spPr>
          <a:xfrm>
            <a:off x="5172801" y="6146575"/>
            <a:ext cx="1103449" cy="338554"/>
          </a:xfrm>
          <a:prstGeom prst="rect">
            <a:avLst/>
          </a:prstGeom>
          <a:noFill/>
        </p:spPr>
        <p:txBody>
          <a:bodyPr wrap="square" rtlCol="0">
            <a:spAutoFit/>
          </a:bodyPr>
          <a:lstStyle/>
          <a:p>
            <a:pPr algn="ctr"/>
            <a:r>
              <a:rPr lang="el-GR" sz="1600" b="1" dirty="0">
                <a:latin typeface="Comic Sans MS" panose="030F0702030302020204" pitchFamily="66" charset="0"/>
              </a:rPr>
              <a:t>α</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b</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c</a:t>
            </a:r>
            <a:r>
              <a:rPr lang="el-GR" sz="1600" b="1" baseline="30000" dirty="0">
                <a:latin typeface="Comic Sans MS" panose="030F0702030302020204" pitchFamily="66" charset="0"/>
              </a:rPr>
              <a:t>2</a:t>
            </a:r>
            <a:endParaRPr lang="el-GR" sz="2000" dirty="0">
              <a:latin typeface="Comic Sans MS" panose="030F0702030302020204" pitchFamily="66" charset="0"/>
            </a:endParaRPr>
          </a:p>
        </p:txBody>
      </p:sp>
      <p:sp>
        <p:nvSpPr>
          <p:cNvPr id="23" name="TextBox 22">
            <a:extLst>
              <a:ext uri="{FF2B5EF4-FFF2-40B4-BE49-F238E27FC236}">
                <a16:creationId xmlns:a16="http://schemas.microsoft.com/office/drawing/2014/main" id="{140B8FFF-65A8-425D-8E60-9D36B9D3839F}"/>
              </a:ext>
            </a:extLst>
          </p:cNvPr>
          <p:cNvSpPr txBox="1"/>
          <p:nvPr/>
        </p:nvSpPr>
        <p:spPr>
          <a:xfrm>
            <a:off x="3833310" y="5452425"/>
            <a:ext cx="466726" cy="1323439"/>
          </a:xfrm>
          <a:prstGeom prst="rect">
            <a:avLst/>
          </a:prstGeom>
          <a:noFill/>
        </p:spPr>
        <p:txBody>
          <a:bodyPr wrap="square" rtlCol="0">
            <a:spAutoFit/>
          </a:bodyPr>
          <a:lstStyle/>
          <a:p>
            <a:r>
              <a:rPr lang="en-US" sz="4000" b="1" dirty="0">
                <a:ea typeface="Segoe UI Symbol" panose="020B0502040204020203" pitchFamily="34" charset="0"/>
              </a:rPr>
              <a:t>ℝ</a:t>
            </a:r>
            <a:endParaRPr lang="el-GR" sz="4000" b="1" dirty="0"/>
          </a:p>
          <a:p>
            <a:endParaRPr lang="el-GR" sz="4000" dirty="0"/>
          </a:p>
        </p:txBody>
      </p:sp>
    </p:spTree>
    <p:extLst>
      <p:ext uri="{BB962C8B-B14F-4D97-AF65-F5344CB8AC3E}">
        <p14:creationId xmlns:p14="http://schemas.microsoft.com/office/powerpoint/2010/main" val="2104052108"/>
      </p:ext>
    </p:extLst>
  </p:cSld>
  <p:clrMapOvr>
    <a:masterClrMapping/>
  </p:clrMapOvr>
  <mc:AlternateContent xmlns:mc="http://schemas.openxmlformats.org/markup-compatibility/2006" xmlns:p14="http://schemas.microsoft.com/office/powerpoint/2010/main">
    <mc:Choice Requires="p14">
      <p:transition spd="slow" p14:dur="1250" advClick="0" advTm="8000">
        <p14:switch dir="r"/>
      </p:transition>
    </mc:Choice>
    <mc:Fallback xmlns="">
      <p:transition spd="slow" advClick="0" advTm="8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4">
                                            <p:txEl>
                                              <p:pRg st="0" end="0"/>
                                            </p:txEl>
                                          </p:spTgt>
                                        </p:tgtEl>
                                        <p:attrNameLst>
                                          <p:attrName>style.visibility</p:attrName>
                                        </p:attrNameLst>
                                      </p:cBhvr>
                                      <p:to>
                                        <p:strVal val="visible"/>
                                      </p:to>
                                    </p:set>
                                    <p:animEffect transition="in" filter="wipe(down)">
                                      <p:cBhvr>
                                        <p:cTn id="7" dur="1500"/>
                                        <p:tgtEl>
                                          <p:spTgt spid="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2">
                                            <p:txEl>
                                              <p:pRg st="0" end="0"/>
                                            </p:txEl>
                                          </p:spTgt>
                                        </p:tgtEl>
                                        <p:attrNameLst>
                                          <p:attrName>style.visibility</p:attrName>
                                        </p:attrNameLst>
                                      </p:cBhvr>
                                      <p:to>
                                        <p:strVal val="visible"/>
                                      </p:to>
                                    </p:set>
                                    <p:animEffect transition="in" filter="wipe(down)">
                                      <p:cBhvr>
                                        <p:cTn id="12" dur="1500"/>
                                        <p:tgtEl>
                                          <p:spTgt spid="5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65000">
              <a:srgbClr val="939393"/>
            </a:gs>
            <a:gs pos="0">
              <a:schemeClr val="bg1"/>
            </a:gs>
            <a:gs pos="100000">
              <a:schemeClr val="accent1">
                <a:lumMod val="60000"/>
                <a:lumOff val="40000"/>
              </a:schemeClr>
            </a:gs>
          </a:gsLst>
          <a:lin ang="2700000" scaled="1"/>
          <a:tileRect/>
        </a:gradFill>
        <a:effectLst/>
      </p:bgPr>
    </p:bg>
    <p:spTree>
      <p:nvGrpSpPr>
        <p:cNvPr id="1" name=""/>
        <p:cNvGrpSpPr/>
        <p:nvPr/>
      </p:nvGrpSpPr>
      <p:grpSpPr>
        <a:xfrm>
          <a:off x="0" y="0"/>
          <a:ext cx="0" cy="0"/>
          <a:chOff x="0" y="0"/>
          <a:chExt cx="0" cy="0"/>
        </a:xfrm>
      </p:grpSpPr>
      <p:sp>
        <p:nvSpPr>
          <p:cNvPr id="35" name="Ορθογώνιο 34">
            <a:extLst>
              <a:ext uri="{FF2B5EF4-FFF2-40B4-BE49-F238E27FC236}">
                <a16:creationId xmlns:a16="http://schemas.microsoft.com/office/drawing/2014/main" id="{536B0609-998B-409C-A696-DA89A002F6EC}"/>
              </a:ext>
            </a:extLst>
          </p:cNvPr>
          <p:cNvSpPr/>
          <p:nvPr/>
        </p:nvSpPr>
        <p:spPr>
          <a:xfrm>
            <a:off x="0" y="5641559"/>
            <a:ext cx="12192000" cy="1238250"/>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shape">
              <a:fillToRect l="50000" t="50000" r="50000" b="50000"/>
            </a:path>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l-GR"/>
          </a:p>
        </p:txBody>
      </p:sp>
      <p:pic>
        <p:nvPicPr>
          <p:cNvPr id="36" name="Γραφικό 35" descr="Atom με συμπαγές γέμισμα">
            <a:extLst>
              <a:ext uri="{FF2B5EF4-FFF2-40B4-BE49-F238E27FC236}">
                <a16:creationId xmlns:a16="http://schemas.microsoft.com/office/drawing/2014/main" id="{D58AA033-F200-448C-9920-1D29A46DD0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850" y="5804600"/>
            <a:ext cx="895350" cy="895350"/>
          </a:xfrm>
          <a:prstGeom prst="rect">
            <a:avLst/>
          </a:prstGeom>
        </p:spPr>
      </p:pic>
      <p:pic>
        <p:nvPicPr>
          <p:cNvPr id="41" name="Γραφικό 40" descr="Μουσική με συμπαγές γέμισμα">
            <a:extLst>
              <a:ext uri="{FF2B5EF4-FFF2-40B4-BE49-F238E27FC236}">
                <a16:creationId xmlns:a16="http://schemas.microsoft.com/office/drawing/2014/main" id="{DF335AF6-E5F7-46B9-841E-57FA9B2E6C8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96102" y="5703092"/>
            <a:ext cx="914400" cy="914400"/>
          </a:xfrm>
          <a:prstGeom prst="rect">
            <a:avLst/>
          </a:prstGeom>
        </p:spPr>
      </p:pic>
      <p:pic>
        <p:nvPicPr>
          <p:cNvPr id="42" name="Γραφικό 41" descr="Νεκροκεφαλή με συμπαγές γέμισμα">
            <a:extLst>
              <a:ext uri="{FF2B5EF4-FFF2-40B4-BE49-F238E27FC236}">
                <a16:creationId xmlns:a16="http://schemas.microsoft.com/office/drawing/2014/main" id="{8630A6A2-D9EC-4E30-B2D9-A7A8EE76C6F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42748" y="5719765"/>
            <a:ext cx="914400" cy="914400"/>
          </a:xfrm>
          <a:prstGeom prst="rect">
            <a:avLst/>
          </a:prstGeom>
        </p:spPr>
      </p:pic>
      <p:pic>
        <p:nvPicPr>
          <p:cNvPr id="43" name="Γραφικό 42" descr="Εγκέφαλος με συμπαγές γέμισμα">
            <a:extLst>
              <a:ext uri="{FF2B5EF4-FFF2-40B4-BE49-F238E27FC236}">
                <a16:creationId xmlns:a16="http://schemas.microsoft.com/office/drawing/2014/main" id="{F22F94F9-60B6-455F-A223-DAE4935DCEB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389393" y="5781674"/>
            <a:ext cx="914400" cy="914400"/>
          </a:xfrm>
          <a:prstGeom prst="rect">
            <a:avLst/>
          </a:prstGeom>
        </p:spPr>
      </p:pic>
      <p:pic>
        <p:nvPicPr>
          <p:cNvPr id="47" name="Γραφικό 46" descr="Φιάλη με συμπαγές γέμισμα">
            <a:extLst>
              <a:ext uri="{FF2B5EF4-FFF2-40B4-BE49-F238E27FC236}">
                <a16:creationId xmlns:a16="http://schemas.microsoft.com/office/drawing/2014/main" id="{7265EA4F-20DE-4E70-8F0B-7960909D70E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914525" y="5703092"/>
            <a:ext cx="914400" cy="914400"/>
          </a:xfrm>
          <a:prstGeom prst="rect">
            <a:avLst/>
          </a:prstGeom>
        </p:spPr>
      </p:pic>
      <p:grpSp>
        <p:nvGrpSpPr>
          <p:cNvPr id="44" name="Ομάδα 43">
            <a:extLst>
              <a:ext uri="{FF2B5EF4-FFF2-40B4-BE49-F238E27FC236}">
                <a16:creationId xmlns:a16="http://schemas.microsoft.com/office/drawing/2014/main" id="{1D93DC2A-A7C3-4BD2-B8AF-75BFC5D9FC49}"/>
              </a:ext>
            </a:extLst>
          </p:cNvPr>
          <p:cNvGrpSpPr/>
          <p:nvPr/>
        </p:nvGrpSpPr>
        <p:grpSpPr>
          <a:xfrm>
            <a:off x="5080922" y="5012246"/>
            <a:ext cx="1238250" cy="1238250"/>
            <a:chOff x="1943100" y="1657350"/>
            <a:chExt cx="1238250" cy="1238250"/>
          </a:xfrm>
          <a:gradFill>
            <a:gsLst>
              <a:gs pos="0">
                <a:schemeClr val="accent3">
                  <a:lumMod val="67000"/>
                </a:schemeClr>
              </a:gs>
              <a:gs pos="48000">
                <a:schemeClr val="accent3">
                  <a:lumMod val="97000"/>
                  <a:lumOff val="3000"/>
                </a:schemeClr>
              </a:gs>
              <a:gs pos="100000">
                <a:schemeClr val="accent3">
                  <a:lumMod val="60000"/>
                  <a:lumOff val="40000"/>
                </a:schemeClr>
              </a:gs>
            </a:gsLst>
            <a:lin ang="16200000" scaled="1"/>
          </a:gradFill>
        </p:grpSpPr>
        <p:sp>
          <p:nvSpPr>
            <p:cNvPr id="45" name="Οβάλ 44">
              <a:extLst>
                <a:ext uri="{FF2B5EF4-FFF2-40B4-BE49-F238E27FC236}">
                  <a16:creationId xmlns:a16="http://schemas.microsoft.com/office/drawing/2014/main" id="{10C50DD8-1AAD-463B-8E08-583B7AA78C7B}"/>
                </a:ext>
              </a:extLst>
            </p:cNvPr>
            <p:cNvSpPr/>
            <p:nvPr/>
          </p:nvSpPr>
          <p:spPr>
            <a:xfrm>
              <a:off x="1943100" y="1657350"/>
              <a:ext cx="1238250" cy="123825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sp>
          <p:nvSpPr>
            <p:cNvPr id="46" name="Οβάλ 45">
              <a:extLst>
                <a:ext uri="{FF2B5EF4-FFF2-40B4-BE49-F238E27FC236}">
                  <a16:creationId xmlns:a16="http://schemas.microsoft.com/office/drawing/2014/main" id="{137837F8-87C7-4B2E-854A-9ADE625B0523}"/>
                </a:ext>
              </a:extLst>
            </p:cNvPr>
            <p:cNvSpPr/>
            <p:nvPr/>
          </p:nvSpPr>
          <p:spPr>
            <a:xfrm>
              <a:off x="2105025" y="1819275"/>
              <a:ext cx="914400" cy="9144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grpSp>
      <p:sp>
        <p:nvSpPr>
          <p:cNvPr id="39" name="Ορθογώνιο 38">
            <a:extLst>
              <a:ext uri="{FF2B5EF4-FFF2-40B4-BE49-F238E27FC236}">
                <a16:creationId xmlns:a16="http://schemas.microsoft.com/office/drawing/2014/main" id="{34F0FBD5-8C5E-43F4-BF9A-C93F5E49409C}"/>
              </a:ext>
            </a:extLst>
          </p:cNvPr>
          <p:cNvSpPr/>
          <p:nvPr/>
        </p:nvSpPr>
        <p:spPr>
          <a:xfrm>
            <a:off x="5323810" y="5356472"/>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2" name="TextBox 21">
            <a:extLst>
              <a:ext uri="{FF2B5EF4-FFF2-40B4-BE49-F238E27FC236}">
                <a16:creationId xmlns:a16="http://schemas.microsoft.com/office/drawing/2014/main" id="{06B51ACB-8E08-4CB9-A2D8-3E6668D6C7D0}"/>
              </a:ext>
            </a:extLst>
          </p:cNvPr>
          <p:cNvSpPr txBox="1"/>
          <p:nvPr/>
        </p:nvSpPr>
        <p:spPr>
          <a:xfrm>
            <a:off x="771525" y="1858875"/>
            <a:ext cx="6372238" cy="2687402"/>
          </a:xfrm>
          <a:prstGeom prst="rect">
            <a:avLst/>
          </a:prstGeom>
          <a:noFill/>
        </p:spPr>
        <p:txBody>
          <a:bodyPr wrap="square">
            <a:spAutoFit/>
          </a:bodyPr>
          <a:lstStyle/>
          <a:p>
            <a:pPr>
              <a:lnSpc>
                <a:spcPct val="107000"/>
              </a:lnSpc>
              <a:spcAft>
                <a:spcPts val="800"/>
              </a:spcAft>
            </a:pPr>
            <a:r>
              <a:rPr lang="en-US" sz="2000" dirty="0">
                <a:latin typeface="Comic Sans MS" panose="030F0702030302020204" pitchFamily="66" charset="0"/>
              </a:rPr>
              <a:t>The most important mathematical result associated with Pythagoras is the Pythagorean Theorem, and it is unknown whether he himself created it or one of his students, who attributed everything to him. </a:t>
            </a:r>
          </a:p>
          <a:p>
            <a:pPr>
              <a:lnSpc>
                <a:spcPct val="107000"/>
              </a:lnSpc>
              <a:spcAft>
                <a:spcPts val="800"/>
              </a:spcAft>
            </a:pPr>
            <a:endParaRPr lang="en-US" sz="2000" dirty="0">
              <a:effectLst/>
              <a:latin typeface="Comic Sans MS" panose="030F0702030302020204" pitchFamily="66" charset="0"/>
              <a:ea typeface="Times New Roman" panose="02020603050405020304" pitchFamily="18" charset="0"/>
              <a:cs typeface="Times New Roman" panose="02020603050405020304" pitchFamily="18" charset="0"/>
            </a:endParaRPr>
          </a:p>
          <a:p>
            <a:pPr>
              <a:lnSpc>
                <a:spcPct val="107000"/>
              </a:lnSpc>
              <a:spcAft>
                <a:spcPts val="800"/>
              </a:spcAft>
            </a:pPr>
            <a:r>
              <a:rPr lang="el-GR" sz="2000" dirty="0">
                <a:effectLst/>
                <a:latin typeface="Comic Sans MS" panose="030F0702030302020204" pitchFamily="66" charset="0"/>
                <a:ea typeface="Times New Roman" panose="02020603050405020304" pitchFamily="18" charset="0"/>
                <a:cs typeface="Times New Roman" panose="02020603050405020304" pitchFamily="18" charset="0"/>
              </a:rPr>
              <a:t> </a:t>
            </a:r>
            <a:endParaRPr lang="en-US" sz="2000" dirty="0">
              <a:effectLst/>
              <a:latin typeface="Comic Sans MS" panose="030F0702030302020204" pitchFamily="66" charset="0"/>
              <a:ea typeface="Times New Roman" panose="02020603050405020304" pitchFamily="18" charset="0"/>
              <a:cs typeface="Times New Roman" panose="02020603050405020304" pitchFamily="18" charset="0"/>
            </a:endParaRPr>
          </a:p>
          <a:p>
            <a:pPr>
              <a:lnSpc>
                <a:spcPct val="107000"/>
              </a:lnSpc>
              <a:spcAft>
                <a:spcPts val="800"/>
              </a:spcAft>
            </a:pPr>
            <a:r>
              <a:rPr lang="en-US" sz="2000" dirty="0">
                <a:latin typeface="Comic Sans MS" panose="030F0702030302020204" pitchFamily="66" charset="0"/>
              </a:rPr>
              <a:t>The mathematical formula is:  </a:t>
            </a:r>
            <a:r>
              <a:rPr lang="el-GR" sz="2000" dirty="0">
                <a:effectLst/>
                <a:latin typeface="Comic Sans MS" panose="030F0702030302020204" pitchFamily="66" charset="0"/>
                <a:ea typeface="Times New Roman" panose="02020603050405020304" pitchFamily="18" charset="0"/>
                <a:cs typeface="Times New Roman" panose="02020603050405020304" pitchFamily="18" charset="0"/>
              </a:rPr>
              <a:t>α² + </a:t>
            </a:r>
            <a:r>
              <a:rPr lang="en-US" sz="2000" dirty="0">
                <a:effectLst/>
                <a:latin typeface="Comic Sans MS" panose="030F0702030302020204" pitchFamily="66" charset="0"/>
                <a:ea typeface="Times New Roman" panose="02020603050405020304" pitchFamily="18" charset="0"/>
                <a:cs typeface="Times New Roman" panose="02020603050405020304" pitchFamily="18" charset="0"/>
              </a:rPr>
              <a:t>b</a:t>
            </a:r>
            <a:r>
              <a:rPr lang="el-GR" sz="2000" dirty="0">
                <a:effectLst/>
                <a:latin typeface="Comic Sans MS" panose="030F0702030302020204" pitchFamily="66" charset="0"/>
                <a:ea typeface="Times New Roman" panose="02020603050405020304" pitchFamily="18" charset="0"/>
                <a:cs typeface="Times New Roman" panose="02020603050405020304" pitchFamily="18" charset="0"/>
              </a:rPr>
              <a:t>² = </a:t>
            </a:r>
            <a:r>
              <a:rPr lang="en-US" sz="2000" dirty="0">
                <a:effectLst/>
                <a:latin typeface="Comic Sans MS" panose="030F0702030302020204" pitchFamily="66" charset="0"/>
                <a:ea typeface="Times New Roman" panose="02020603050405020304" pitchFamily="18" charset="0"/>
                <a:cs typeface="Times New Roman" panose="02020603050405020304" pitchFamily="18" charset="0"/>
              </a:rPr>
              <a:t>c</a:t>
            </a:r>
            <a:r>
              <a:rPr lang="el-GR" sz="2000" dirty="0">
                <a:effectLst/>
                <a:latin typeface="Comic Sans MS" panose="030F0702030302020204" pitchFamily="66" charset="0"/>
                <a:ea typeface="Times New Roman" panose="02020603050405020304" pitchFamily="18" charset="0"/>
                <a:cs typeface="Times New Roman" panose="02020603050405020304" pitchFamily="18" charset="0"/>
              </a:rPr>
              <a:t>²</a:t>
            </a:r>
            <a:endParaRPr lang="el-GR" sz="2000" dirty="0">
              <a:effectLst/>
              <a:latin typeface="Comic Sans MS" panose="030F0702030302020204" pitchFamily="66" charset="0"/>
              <a:ea typeface="Calibri" panose="020F0502020204030204" pitchFamily="34" charset="0"/>
              <a:cs typeface="Times New Roman" panose="02020603050405020304" pitchFamily="18" charset="0"/>
            </a:endParaRPr>
          </a:p>
        </p:txBody>
      </p:sp>
      <p:sp>
        <p:nvSpPr>
          <p:cNvPr id="24" name="TextBox 23">
            <a:extLst>
              <a:ext uri="{FF2B5EF4-FFF2-40B4-BE49-F238E27FC236}">
                <a16:creationId xmlns:a16="http://schemas.microsoft.com/office/drawing/2014/main" id="{04FCA63F-D4DB-4413-BD90-01BA9DF58305}"/>
              </a:ext>
            </a:extLst>
          </p:cNvPr>
          <p:cNvSpPr txBox="1"/>
          <p:nvPr/>
        </p:nvSpPr>
        <p:spPr>
          <a:xfrm>
            <a:off x="1500855" y="579971"/>
            <a:ext cx="8560310" cy="559384"/>
          </a:xfrm>
          <a:prstGeom prst="rect">
            <a:avLst/>
          </a:prstGeom>
          <a:noFill/>
        </p:spPr>
        <p:txBody>
          <a:bodyPr wrap="square">
            <a:spAutoFit/>
          </a:bodyPr>
          <a:lstStyle/>
          <a:p>
            <a:pPr algn="ctr">
              <a:lnSpc>
                <a:spcPct val="107000"/>
              </a:lnSpc>
              <a:spcAft>
                <a:spcPts val="800"/>
              </a:spcAft>
            </a:pPr>
            <a:r>
              <a:rPr lang="en-US" sz="3000" b="1" dirty="0">
                <a:latin typeface="Comic Sans MS" panose="030F0702030302020204" pitchFamily="66" charset="0"/>
              </a:rPr>
              <a:t>The Pythagorean Theorem</a:t>
            </a:r>
            <a:endParaRPr lang="el-GR" sz="3000" dirty="0">
              <a:effectLst/>
              <a:latin typeface="Comic Sans MS" panose="030F0702030302020204" pitchFamily="66" charset="0"/>
              <a:ea typeface="Calibri" panose="020F0502020204030204" pitchFamily="34" charset="0"/>
              <a:cs typeface="Times New Roman" panose="02020603050405020304" pitchFamily="18" charset="0"/>
            </a:endParaRPr>
          </a:p>
        </p:txBody>
      </p:sp>
      <p:pic>
        <p:nvPicPr>
          <p:cNvPr id="12290" name="Picture 2" descr="Πυθαγόρειο Θεώρημα - ορθογώνιο τρίγωνο. Υποτείνουσα, κάθετες πλευρές">
            <a:extLst>
              <a:ext uri="{FF2B5EF4-FFF2-40B4-BE49-F238E27FC236}">
                <a16:creationId xmlns:a16="http://schemas.microsoft.com/office/drawing/2014/main" id="{78BED5C1-EA2F-48D8-B409-C516D0EE323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44672" y="2085157"/>
            <a:ext cx="3444301" cy="2243212"/>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C1C90CA3-EA54-46F2-B185-9A2E26C3EA75}"/>
              </a:ext>
            </a:extLst>
          </p:cNvPr>
          <p:cNvSpPr txBox="1"/>
          <p:nvPr/>
        </p:nvSpPr>
        <p:spPr>
          <a:xfrm>
            <a:off x="5172801" y="5460774"/>
            <a:ext cx="1103449" cy="338554"/>
          </a:xfrm>
          <a:prstGeom prst="rect">
            <a:avLst/>
          </a:prstGeom>
          <a:noFill/>
        </p:spPr>
        <p:txBody>
          <a:bodyPr wrap="square" rtlCol="0">
            <a:spAutoFit/>
          </a:bodyPr>
          <a:lstStyle/>
          <a:p>
            <a:pPr algn="ctr"/>
            <a:r>
              <a:rPr lang="el-GR" sz="1600" b="1" dirty="0">
                <a:latin typeface="Comic Sans MS" panose="030F0702030302020204" pitchFamily="66" charset="0"/>
              </a:rPr>
              <a:t>α</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b</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c</a:t>
            </a:r>
            <a:r>
              <a:rPr lang="el-GR" sz="1600" b="1" baseline="30000" dirty="0">
                <a:latin typeface="Comic Sans MS" panose="030F0702030302020204" pitchFamily="66" charset="0"/>
              </a:rPr>
              <a:t>2</a:t>
            </a:r>
            <a:endParaRPr lang="el-GR" sz="2000" dirty="0">
              <a:latin typeface="Comic Sans MS" panose="030F0702030302020204" pitchFamily="66" charset="0"/>
            </a:endParaRPr>
          </a:p>
        </p:txBody>
      </p:sp>
      <p:sp>
        <p:nvSpPr>
          <p:cNvPr id="2" name="Ορθογώνιο 1">
            <a:extLst>
              <a:ext uri="{FF2B5EF4-FFF2-40B4-BE49-F238E27FC236}">
                <a16:creationId xmlns:a16="http://schemas.microsoft.com/office/drawing/2014/main" id="{02DFC32C-51CB-4328-857C-B8E59DB661EE}"/>
              </a:ext>
            </a:extLst>
          </p:cNvPr>
          <p:cNvSpPr/>
          <p:nvPr/>
        </p:nvSpPr>
        <p:spPr>
          <a:xfrm>
            <a:off x="3777403" y="4227244"/>
            <a:ext cx="1638659" cy="3991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grpSp>
        <p:nvGrpSpPr>
          <p:cNvPr id="21" name="Ομάδα 20">
            <a:extLst>
              <a:ext uri="{FF2B5EF4-FFF2-40B4-BE49-F238E27FC236}">
                <a16:creationId xmlns:a16="http://schemas.microsoft.com/office/drawing/2014/main" id="{2D9B62E7-3803-48AF-B9F5-4DFF43A9D3A6}"/>
              </a:ext>
            </a:extLst>
          </p:cNvPr>
          <p:cNvGrpSpPr/>
          <p:nvPr/>
        </p:nvGrpSpPr>
        <p:grpSpPr>
          <a:xfrm>
            <a:off x="3638549" y="5863518"/>
            <a:ext cx="914400" cy="914400"/>
            <a:chOff x="3589733" y="4435696"/>
            <a:chExt cx="914400" cy="914400"/>
          </a:xfrm>
        </p:grpSpPr>
        <p:sp>
          <p:nvSpPr>
            <p:cNvPr id="23" name="Ορθογώνιο 22">
              <a:extLst>
                <a:ext uri="{FF2B5EF4-FFF2-40B4-BE49-F238E27FC236}">
                  <a16:creationId xmlns:a16="http://schemas.microsoft.com/office/drawing/2014/main" id="{526264F3-100D-454B-9508-3110D369A00F}"/>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Comic Sans MS" panose="030F0702030302020204" pitchFamily="66" charset="0"/>
              </a:endParaRPr>
            </a:p>
          </p:txBody>
        </p:sp>
        <p:sp>
          <p:nvSpPr>
            <p:cNvPr id="25" name="TextBox 24">
              <a:extLst>
                <a:ext uri="{FF2B5EF4-FFF2-40B4-BE49-F238E27FC236}">
                  <a16:creationId xmlns:a16="http://schemas.microsoft.com/office/drawing/2014/main" id="{8D61FB3D-DC94-4F31-83D0-C95D3E7F7446}"/>
                </a:ext>
              </a:extLst>
            </p:cNvPr>
            <p:cNvSpPr txBox="1"/>
            <p:nvPr/>
          </p:nvSpPr>
          <p:spPr>
            <a:xfrm>
              <a:off x="3813570" y="4459824"/>
              <a:ext cx="466726" cy="707886"/>
            </a:xfrm>
            <a:prstGeom prst="rect">
              <a:avLst/>
            </a:prstGeom>
            <a:noFill/>
          </p:spPr>
          <p:txBody>
            <a:bodyPr wrap="square" rtlCol="0">
              <a:spAutoFit/>
            </a:bodyPr>
            <a:lstStyle/>
            <a:p>
              <a:r>
                <a:rPr lang="en-US" sz="4000" b="1" dirty="0">
                  <a:ea typeface="Segoe UI Symbol" panose="020B0502040204020203" pitchFamily="34" charset="0"/>
                </a:rPr>
                <a:t>ℝ</a:t>
              </a:r>
              <a:endParaRPr lang="el-GR" sz="4000" dirty="0"/>
            </a:p>
          </p:txBody>
        </p:sp>
      </p:grpSp>
    </p:spTree>
    <p:extLst>
      <p:ext uri="{BB962C8B-B14F-4D97-AF65-F5344CB8AC3E}">
        <p14:creationId xmlns:p14="http://schemas.microsoft.com/office/powerpoint/2010/main" val="180291182"/>
      </p:ext>
    </p:extLst>
  </p:cSld>
  <p:clrMapOvr>
    <a:masterClrMapping/>
  </p:clrMapOvr>
  <mc:AlternateContent xmlns:mc="http://schemas.openxmlformats.org/markup-compatibility/2006" xmlns:p14="http://schemas.microsoft.com/office/powerpoint/2010/main">
    <mc:Choice Requires="p14">
      <p:transition spd="slow" p14:dur="1250" advClick="0" advTm="8000">
        <p14:switch dir="r"/>
      </p:transition>
    </mc:Choice>
    <mc:Fallback xmlns="">
      <p:transition spd="slow" advClick="0" advTm="8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down)">
                                      <p:cBhvr>
                                        <p:cTn id="7" dur="500"/>
                                        <p:tgtEl>
                                          <p:spTgt spid="24"/>
                                        </p:tgtEl>
                                      </p:cBhvr>
                                    </p:animEffect>
                                  </p:childTnLst>
                                </p:cTn>
                              </p:par>
                              <p:par>
                                <p:cTn id="8" presetID="22" presetClass="entr" presetSubtype="4" fill="hold" nodeType="withEffect">
                                  <p:stCondLst>
                                    <p:cond delay="0"/>
                                  </p:stCondLst>
                                  <p:childTnLst>
                                    <p:set>
                                      <p:cBhvr>
                                        <p:cTn id="9" dur="1" fill="hold">
                                          <p:stCondLst>
                                            <p:cond delay="0"/>
                                          </p:stCondLst>
                                        </p:cTn>
                                        <p:tgtEl>
                                          <p:spTgt spid="12290"/>
                                        </p:tgtEl>
                                        <p:attrNameLst>
                                          <p:attrName>style.visibility</p:attrName>
                                        </p:attrNameLst>
                                      </p:cBhvr>
                                      <p:to>
                                        <p:strVal val="visible"/>
                                      </p:to>
                                    </p:set>
                                    <p:animEffect transition="in" filter="wipe(down)">
                                      <p:cBhvr>
                                        <p:cTn id="10" dur="1500"/>
                                        <p:tgtEl>
                                          <p:spTgt spid="1229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22">
                                            <p:txEl>
                                              <p:pRg st="0" end="0"/>
                                            </p:txEl>
                                          </p:spTgt>
                                        </p:tgtEl>
                                        <p:attrNameLst>
                                          <p:attrName>style.visibility</p:attrName>
                                        </p:attrNameLst>
                                      </p:cBhvr>
                                      <p:to>
                                        <p:strVal val="visible"/>
                                      </p:to>
                                    </p:set>
                                    <p:animEffect transition="in" filter="wipe(down)">
                                      <p:cBhvr>
                                        <p:cTn id="15" dur="1500"/>
                                        <p:tgtEl>
                                          <p:spTgt spid="22">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22">
                                            <p:txEl>
                                              <p:pRg st="2" end="2"/>
                                            </p:txEl>
                                          </p:spTgt>
                                        </p:tgtEl>
                                        <p:attrNameLst>
                                          <p:attrName>style.visibility</p:attrName>
                                        </p:attrNameLst>
                                      </p:cBhvr>
                                      <p:to>
                                        <p:strVal val="visible"/>
                                      </p:to>
                                    </p:set>
                                    <p:animEffect transition="in" filter="wipe(down)">
                                      <p:cBhvr>
                                        <p:cTn id="20" dur="1500"/>
                                        <p:tgtEl>
                                          <p:spTgt spid="22">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22">
                                            <p:txEl>
                                              <p:pRg st="3" end="3"/>
                                            </p:txEl>
                                          </p:spTgt>
                                        </p:tgtEl>
                                        <p:attrNameLst>
                                          <p:attrName>style.visibility</p:attrName>
                                        </p:attrNameLst>
                                      </p:cBhvr>
                                      <p:to>
                                        <p:strVal val="visible"/>
                                      </p:to>
                                    </p:set>
                                    <p:animEffect transition="in" filter="wipe(down)">
                                      <p:cBhvr>
                                        <p:cTn id="25" dur="1500"/>
                                        <p:tgtEl>
                                          <p:spTgt spid="22">
                                            <p:txEl>
                                              <p:pRg st="3" end="3"/>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down)">
                                      <p:cBhvr>
                                        <p:cTn id="28" dur="1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65000">
              <a:srgbClr val="939393"/>
            </a:gs>
            <a:gs pos="0">
              <a:schemeClr val="bg1"/>
            </a:gs>
            <a:gs pos="100000">
              <a:schemeClr val="accent1">
                <a:lumMod val="60000"/>
                <a:lumOff val="40000"/>
              </a:schemeClr>
            </a:gs>
          </a:gsLst>
          <a:lin ang="2700000" scaled="1"/>
          <a:tileRect/>
        </a:gradFill>
        <a:effectLst/>
      </p:bgPr>
    </p:bg>
    <p:spTree>
      <p:nvGrpSpPr>
        <p:cNvPr id="1" name=""/>
        <p:cNvGrpSpPr/>
        <p:nvPr/>
      </p:nvGrpSpPr>
      <p:grpSpPr>
        <a:xfrm>
          <a:off x="0" y="0"/>
          <a:ext cx="0" cy="0"/>
          <a:chOff x="0" y="0"/>
          <a:chExt cx="0" cy="0"/>
        </a:xfrm>
      </p:grpSpPr>
      <p:sp>
        <p:nvSpPr>
          <p:cNvPr id="35" name="Ορθογώνιο 34">
            <a:extLst>
              <a:ext uri="{FF2B5EF4-FFF2-40B4-BE49-F238E27FC236}">
                <a16:creationId xmlns:a16="http://schemas.microsoft.com/office/drawing/2014/main" id="{536B0609-998B-409C-A696-DA89A002F6EC}"/>
              </a:ext>
            </a:extLst>
          </p:cNvPr>
          <p:cNvSpPr/>
          <p:nvPr/>
        </p:nvSpPr>
        <p:spPr>
          <a:xfrm>
            <a:off x="0" y="5619750"/>
            <a:ext cx="12192000" cy="1238250"/>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shape">
              <a:fillToRect l="50000" t="50000" r="50000" b="50000"/>
            </a:path>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l-GR"/>
          </a:p>
        </p:txBody>
      </p:sp>
      <p:pic>
        <p:nvPicPr>
          <p:cNvPr id="36" name="Γραφικό 35" descr="Atom με συμπαγές γέμισμα">
            <a:extLst>
              <a:ext uri="{FF2B5EF4-FFF2-40B4-BE49-F238E27FC236}">
                <a16:creationId xmlns:a16="http://schemas.microsoft.com/office/drawing/2014/main" id="{D58AA033-F200-448C-9920-1D29A46DD0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850" y="5804600"/>
            <a:ext cx="895350" cy="895350"/>
          </a:xfrm>
          <a:prstGeom prst="rect">
            <a:avLst/>
          </a:prstGeom>
        </p:spPr>
      </p:pic>
      <p:pic>
        <p:nvPicPr>
          <p:cNvPr id="41" name="Γραφικό 40" descr="Μουσική με συμπαγές γέμισμα">
            <a:extLst>
              <a:ext uri="{FF2B5EF4-FFF2-40B4-BE49-F238E27FC236}">
                <a16:creationId xmlns:a16="http://schemas.microsoft.com/office/drawing/2014/main" id="{DF335AF6-E5F7-46B9-841E-57FA9B2E6C8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96102" y="5703092"/>
            <a:ext cx="914400" cy="914400"/>
          </a:xfrm>
          <a:prstGeom prst="rect">
            <a:avLst/>
          </a:prstGeom>
        </p:spPr>
      </p:pic>
      <p:pic>
        <p:nvPicPr>
          <p:cNvPr id="42" name="Γραφικό 41" descr="Νεκροκεφαλή με συμπαγές γέμισμα">
            <a:extLst>
              <a:ext uri="{FF2B5EF4-FFF2-40B4-BE49-F238E27FC236}">
                <a16:creationId xmlns:a16="http://schemas.microsoft.com/office/drawing/2014/main" id="{8630A6A2-D9EC-4E30-B2D9-A7A8EE76C6F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42748" y="5719765"/>
            <a:ext cx="914400" cy="914400"/>
          </a:xfrm>
          <a:prstGeom prst="rect">
            <a:avLst/>
          </a:prstGeom>
        </p:spPr>
      </p:pic>
      <p:pic>
        <p:nvPicPr>
          <p:cNvPr id="43" name="Γραφικό 42" descr="Εγκέφαλος με συμπαγές γέμισμα">
            <a:extLst>
              <a:ext uri="{FF2B5EF4-FFF2-40B4-BE49-F238E27FC236}">
                <a16:creationId xmlns:a16="http://schemas.microsoft.com/office/drawing/2014/main" id="{F22F94F9-60B6-455F-A223-DAE4935DCEB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389393" y="5781674"/>
            <a:ext cx="914400" cy="914400"/>
          </a:xfrm>
          <a:prstGeom prst="rect">
            <a:avLst/>
          </a:prstGeom>
        </p:spPr>
      </p:pic>
      <p:pic>
        <p:nvPicPr>
          <p:cNvPr id="47" name="Γραφικό 46" descr="Φιάλη με συμπαγές γέμισμα">
            <a:extLst>
              <a:ext uri="{FF2B5EF4-FFF2-40B4-BE49-F238E27FC236}">
                <a16:creationId xmlns:a16="http://schemas.microsoft.com/office/drawing/2014/main" id="{7265EA4F-20DE-4E70-8F0B-7960909D70E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914525" y="5703092"/>
            <a:ext cx="914400" cy="914400"/>
          </a:xfrm>
          <a:prstGeom prst="rect">
            <a:avLst/>
          </a:prstGeom>
        </p:spPr>
      </p:pic>
      <p:grpSp>
        <p:nvGrpSpPr>
          <p:cNvPr id="44" name="Ομάδα 43">
            <a:extLst>
              <a:ext uri="{FF2B5EF4-FFF2-40B4-BE49-F238E27FC236}">
                <a16:creationId xmlns:a16="http://schemas.microsoft.com/office/drawing/2014/main" id="{1D93DC2A-A7C3-4BD2-B8AF-75BFC5D9FC49}"/>
              </a:ext>
            </a:extLst>
          </p:cNvPr>
          <p:cNvGrpSpPr/>
          <p:nvPr/>
        </p:nvGrpSpPr>
        <p:grpSpPr>
          <a:xfrm>
            <a:off x="5080922" y="5012246"/>
            <a:ext cx="1238250" cy="1238250"/>
            <a:chOff x="1943100" y="1657350"/>
            <a:chExt cx="1238250" cy="1238250"/>
          </a:xfrm>
          <a:gradFill>
            <a:gsLst>
              <a:gs pos="0">
                <a:schemeClr val="accent3">
                  <a:lumMod val="67000"/>
                </a:schemeClr>
              </a:gs>
              <a:gs pos="48000">
                <a:schemeClr val="accent3">
                  <a:lumMod val="97000"/>
                  <a:lumOff val="3000"/>
                </a:schemeClr>
              </a:gs>
              <a:gs pos="100000">
                <a:schemeClr val="accent3">
                  <a:lumMod val="60000"/>
                  <a:lumOff val="40000"/>
                </a:schemeClr>
              </a:gs>
            </a:gsLst>
            <a:lin ang="16200000" scaled="1"/>
          </a:gradFill>
        </p:grpSpPr>
        <p:sp>
          <p:nvSpPr>
            <p:cNvPr id="45" name="Οβάλ 44">
              <a:extLst>
                <a:ext uri="{FF2B5EF4-FFF2-40B4-BE49-F238E27FC236}">
                  <a16:creationId xmlns:a16="http://schemas.microsoft.com/office/drawing/2014/main" id="{10C50DD8-1AAD-463B-8E08-583B7AA78C7B}"/>
                </a:ext>
              </a:extLst>
            </p:cNvPr>
            <p:cNvSpPr/>
            <p:nvPr/>
          </p:nvSpPr>
          <p:spPr>
            <a:xfrm>
              <a:off x="1943100" y="1657350"/>
              <a:ext cx="1238250" cy="123825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sp>
          <p:nvSpPr>
            <p:cNvPr id="46" name="Οβάλ 45">
              <a:extLst>
                <a:ext uri="{FF2B5EF4-FFF2-40B4-BE49-F238E27FC236}">
                  <a16:creationId xmlns:a16="http://schemas.microsoft.com/office/drawing/2014/main" id="{137837F8-87C7-4B2E-854A-9ADE625B0523}"/>
                </a:ext>
              </a:extLst>
            </p:cNvPr>
            <p:cNvSpPr/>
            <p:nvPr/>
          </p:nvSpPr>
          <p:spPr>
            <a:xfrm>
              <a:off x="2105025" y="1819275"/>
              <a:ext cx="914400" cy="9144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grpSp>
      <p:grpSp>
        <p:nvGrpSpPr>
          <p:cNvPr id="37" name="Ομάδα 36">
            <a:extLst>
              <a:ext uri="{FF2B5EF4-FFF2-40B4-BE49-F238E27FC236}">
                <a16:creationId xmlns:a16="http://schemas.microsoft.com/office/drawing/2014/main" id="{A3E189DD-0FBD-4E2B-85AE-78A0C618AFD9}"/>
              </a:ext>
            </a:extLst>
          </p:cNvPr>
          <p:cNvGrpSpPr/>
          <p:nvPr/>
        </p:nvGrpSpPr>
        <p:grpSpPr>
          <a:xfrm>
            <a:off x="5323810" y="5356472"/>
            <a:ext cx="914400" cy="914400"/>
            <a:chOff x="3589733" y="4435696"/>
            <a:chExt cx="914400" cy="914400"/>
          </a:xfrm>
        </p:grpSpPr>
        <p:sp>
          <p:nvSpPr>
            <p:cNvPr id="39" name="Ορθογώνιο 38">
              <a:extLst>
                <a:ext uri="{FF2B5EF4-FFF2-40B4-BE49-F238E27FC236}">
                  <a16:creationId xmlns:a16="http://schemas.microsoft.com/office/drawing/2014/main" id="{34F0FBD5-8C5E-43F4-BF9A-C93F5E49409C}"/>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0" name="TextBox 39">
              <a:extLst>
                <a:ext uri="{FF2B5EF4-FFF2-40B4-BE49-F238E27FC236}">
                  <a16:creationId xmlns:a16="http://schemas.microsoft.com/office/drawing/2014/main" id="{99973177-B2A7-4F3A-8A69-F2635BF915C8}"/>
                </a:ext>
              </a:extLst>
            </p:cNvPr>
            <p:cNvSpPr txBox="1"/>
            <p:nvPr/>
          </p:nvSpPr>
          <p:spPr>
            <a:xfrm>
              <a:off x="3688556" y="4538953"/>
              <a:ext cx="690562" cy="707886"/>
            </a:xfrm>
            <a:prstGeom prst="rect">
              <a:avLst/>
            </a:prstGeom>
            <a:noFill/>
          </p:spPr>
          <p:txBody>
            <a:bodyPr wrap="square" rtlCol="0">
              <a:spAutoFit/>
            </a:bodyPr>
            <a:lstStyle/>
            <a:p>
              <a:endParaRPr lang="en-US" sz="2000" b="1" dirty="0">
                <a:solidFill>
                  <a:srgbClr val="181C1F"/>
                </a:solidFill>
                <a:effectLst/>
              </a:endParaRPr>
            </a:p>
            <a:p>
              <a:endParaRPr lang="el-GR" sz="2000" dirty="0"/>
            </a:p>
          </p:txBody>
        </p:sp>
      </p:grpSp>
      <p:sp>
        <p:nvSpPr>
          <p:cNvPr id="19" name="TextBox 18">
            <a:extLst>
              <a:ext uri="{FF2B5EF4-FFF2-40B4-BE49-F238E27FC236}">
                <a16:creationId xmlns:a16="http://schemas.microsoft.com/office/drawing/2014/main" id="{3C391737-9A92-4731-8707-3BB37F89FFFC}"/>
              </a:ext>
            </a:extLst>
          </p:cNvPr>
          <p:cNvSpPr txBox="1"/>
          <p:nvPr/>
        </p:nvSpPr>
        <p:spPr>
          <a:xfrm>
            <a:off x="1914525" y="2552148"/>
            <a:ext cx="4846761" cy="1015663"/>
          </a:xfrm>
          <a:prstGeom prst="rect">
            <a:avLst/>
          </a:prstGeom>
          <a:noFill/>
        </p:spPr>
        <p:txBody>
          <a:bodyPr wrap="square">
            <a:spAutoFit/>
          </a:bodyPr>
          <a:lstStyle/>
          <a:p>
            <a:r>
              <a:rPr lang="en-US" sz="2000" dirty="0">
                <a:latin typeface="Comic Sans MS" panose="030F0702030302020204" pitchFamily="66" charset="0"/>
              </a:rPr>
              <a:t>“In every right triangle, the sum of the squares of the two shorter sides is equal to the square of the hypotenuse.”</a:t>
            </a:r>
            <a:endParaRPr lang="el-GR" sz="2000" dirty="0">
              <a:effectLst/>
              <a:latin typeface="Comic Sans MS" panose="030F0702030302020204" pitchFamily="66" charset="0"/>
              <a:ea typeface="Calibri" panose="020F050202020403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7CBBBCA4-4030-4AED-BC79-585C325AC464}"/>
              </a:ext>
            </a:extLst>
          </p:cNvPr>
          <p:cNvSpPr txBox="1"/>
          <p:nvPr/>
        </p:nvSpPr>
        <p:spPr>
          <a:xfrm>
            <a:off x="750543" y="1426231"/>
            <a:ext cx="6108192" cy="403700"/>
          </a:xfrm>
          <a:prstGeom prst="rect">
            <a:avLst/>
          </a:prstGeom>
          <a:noFill/>
        </p:spPr>
        <p:txBody>
          <a:bodyPr wrap="square">
            <a:spAutoFit/>
          </a:bodyPr>
          <a:lstStyle/>
          <a:p>
            <a:pPr>
              <a:lnSpc>
                <a:spcPct val="107000"/>
              </a:lnSpc>
              <a:spcAft>
                <a:spcPts val="800"/>
              </a:spcAft>
            </a:pPr>
            <a:r>
              <a:rPr lang="en-US" sz="2000" dirty="0">
                <a:latin typeface="Comic Sans MS" panose="030F0702030302020204" pitchFamily="66" charset="0"/>
              </a:rPr>
              <a:t>The theorem states that:</a:t>
            </a:r>
            <a:endParaRPr lang="el-GR" sz="2000" dirty="0">
              <a:latin typeface="Comic Sans MS" panose="030F0702030302020204" pitchFamily="66" charset="0"/>
            </a:endParaRPr>
          </a:p>
        </p:txBody>
      </p:sp>
      <p:pic>
        <p:nvPicPr>
          <p:cNvPr id="6" name="Εικόνα 5">
            <a:extLst>
              <a:ext uri="{FF2B5EF4-FFF2-40B4-BE49-F238E27FC236}">
                <a16:creationId xmlns:a16="http://schemas.microsoft.com/office/drawing/2014/main" id="{63D0CA0A-094B-4FB5-8094-652A7E1AAF1E}"/>
              </a:ext>
            </a:extLst>
          </p:cNvPr>
          <p:cNvPicPr>
            <a:picLocks noChangeAspect="1"/>
          </p:cNvPicPr>
          <p:nvPr/>
        </p:nvPicPr>
        <p:blipFill>
          <a:blip r:embed="rId12"/>
          <a:stretch>
            <a:fillRect/>
          </a:stretch>
        </p:blipFill>
        <p:spPr>
          <a:xfrm>
            <a:off x="7627142" y="1755091"/>
            <a:ext cx="2448842" cy="2609778"/>
          </a:xfrm>
          <a:prstGeom prst="rect">
            <a:avLst/>
          </a:prstGeom>
        </p:spPr>
      </p:pic>
      <p:sp>
        <p:nvSpPr>
          <p:cNvPr id="23" name="TextBox 22">
            <a:extLst>
              <a:ext uri="{FF2B5EF4-FFF2-40B4-BE49-F238E27FC236}">
                <a16:creationId xmlns:a16="http://schemas.microsoft.com/office/drawing/2014/main" id="{7C83E08B-BD55-460C-97CD-D85934652A50}"/>
              </a:ext>
            </a:extLst>
          </p:cNvPr>
          <p:cNvSpPr txBox="1"/>
          <p:nvPr/>
        </p:nvSpPr>
        <p:spPr>
          <a:xfrm>
            <a:off x="5172801" y="5460774"/>
            <a:ext cx="1103449" cy="338554"/>
          </a:xfrm>
          <a:prstGeom prst="rect">
            <a:avLst/>
          </a:prstGeom>
          <a:noFill/>
        </p:spPr>
        <p:txBody>
          <a:bodyPr wrap="square" rtlCol="0">
            <a:spAutoFit/>
          </a:bodyPr>
          <a:lstStyle/>
          <a:p>
            <a:pPr algn="ctr"/>
            <a:r>
              <a:rPr lang="el-GR" sz="1600" b="1" dirty="0">
                <a:latin typeface="Comic Sans MS" panose="030F0702030302020204" pitchFamily="66" charset="0"/>
              </a:rPr>
              <a:t>α</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b</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c</a:t>
            </a:r>
            <a:r>
              <a:rPr lang="el-GR" sz="1600" b="1" baseline="30000" dirty="0">
                <a:latin typeface="Comic Sans MS" panose="030F0702030302020204" pitchFamily="66" charset="0"/>
              </a:rPr>
              <a:t>2</a:t>
            </a:r>
            <a:endParaRPr lang="el-GR" sz="2000" dirty="0">
              <a:latin typeface="Comic Sans MS" panose="030F0702030302020204" pitchFamily="66" charset="0"/>
            </a:endParaRPr>
          </a:p>
        </p:txBody>
      </p:sp>
      <p:grpSp>
        <p:nvGrpSpPr>
          <p:cNvPr id="22" name="Ομάδα 21">
            <a:extLst>
              <a:ext uri="{FF2B5EF4-FFF2-40B4-BE49-F238E27FC236}">
                <a16:creationId xmlns:a16="http://schemas.microsoft.com/office/drawing/2014/main" id="{3641583E-08A4-412D-8A9D-DA4DD70AEE3E}"/>
              </a:ext>
            </a:extLst>
          </p:cNvPr>
          <p:cNvGrpSpPr/>
          <p:nvPr/>
        </p:nvGrpSpPr>
        <p:grpSpPr>
          <a:xfrm>
            <a:off x="3638549" y="5863518"/>
            <a:ext cx="914400" cy="914400"/>
            <a:chOff x="3589733" y="4435696"/>
            <a:chExt cx="914400" cy="914400"/>
          </a:xfrm>
        </p:grpSpPr>
        <p:sp>
          <p:nvSpPr>
            <p:cNvPr id="24" name="Ορθογώνιο 23">
              <a:extLst>
                <a:ext uri="{FF2B5EF4-FFF2-40B4-BE49-F238E27FC236}">
                  <a16:creationId xmlns:a16="http://schemas.microsoft.com/office/drawing/2014/main" id="{B3E19962-E2A6-4DD7-96CD-6F1208666232}"/>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Comic Sans MS" panose="030F0702030302020204" pitchFamily="66" charset="0"/>
              </a:endParaRPr>
            </a:p>
          </p:txBody>
        </p:sp>
        <p:sp>
          <p:nvSpPr>
            <p:cNvPr id="25" name="TextBox 24">
              <a:extLst>
                <a:ext uri="{FF2B5EF4-FFF2-40B4-BE49-F238E27FC236}">
                  <a16:creationId xmlns:a16="http://schemas.microsoft.com/office/drawing/2014/main" id="{2C7203FB-B9BC-4AF6-939E-A89608108550}"/>
                </a:ext>
              </a:extLst>
            </p:cNvPr>
            <p:cNvSpPr txBox="1"/>
            <p:nvPr/>
          </p:nvSpPr>
          <p:spPr>
            <a:xfrm>
              <a:off x="3813570" y="4459824"/>
              <a:ext cx="466726" cy="707886"/>
            </a:xfrm>
            <a:prstGeom prst="rect">
              <a:avLst/>
            </a:prstGeom>
            <a:noFill/>
          </p:spPr>
          <p:txBody>
            <a:bodyPr wrap="square" rtlCol="0">
              <a:spAutoFit/>
            </a:bodyPr>
            <a:lstStyle/>
            <a:p>
              <a:r>
                <a:rPr lang="en-US" sz="4000" b="1" dirty="0">
                  <a:ea typeface="Segoe UI Symbol" panose="020B0502040204020203" pitchFamily="34" charset="0"/>
                </a:rPr>
                <a:t>ℝ</a:t>
              </a:r>
              <a:endParaRPr lang="el-GR" sz="4000" dirty="0"/>
            </a:p>
          </p:txBody>
        </p:sp>
      </p:grpSp>
    </p:spTree>
    <p:extLst>
      <p:ext uri="{BB962C8B-B14F-4D97-AF65-F5344CB8AC3E}">
        <p14:creationId xmlns:p14="http://schemas.microsoft.com/office/powerpoint/2010/main" val="2399111527"/>
      </p:ext>
    </p:extLst>
  </p:cSld>
  <p:clrMapOvr>
    <a:masterClrMapping/>
  </p:clrMapOvr>
  <mc:AlternateContent xmlns:mc="http://schemas.openxmlformats.org/markup-compatibility/2006" xmlns:p14="http://schemas.microsoft.com/office/powerpoint/2010/main">
    <mc:Choice Requires="p14">
      <p:transition spd="slow" p14:dur="1250" advClick="0" advTm="8000">
        <p14:switch dir="r"/>
      </p:transition>
    </mc:Choice>
    <mc:Fallback xmlns="">
      <p:transition spd="slow" advClick="0" advTm="8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wipe(down)">
                                      <p:cBhvr>
                                        <p:cTn id="7" dur="1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down)">
                                      <p:cBhvr>
                                        <p:cTn id="12" dur="1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65000">
              <a:srgbClr val="939393"/>
            </a:gs>
            <a:gs pos="0">
              <a:schemeClr val="bg1"/>
            </a:gs>
            <a:gs pos="100000">
              <a:schemeClr val="accent1">
                <a:lumMod val="60000"/>
                <a:lumOff val="40000"/>
              </a:schemeClr>
            </a:gs>
          </a:gsLst>
          <a:lin ang="2700000" scaled="1"/>
          <a:tileRect/>
        </a:gradFill>
        <a:effectLst/>
      </p:bgPr>
    </p:bg>
    <p:spTree>
      <p:nvGrpSpPr>
        <p:cNvPr id="1" name=""/>
        <p:cNvGrpSpPr/>
        <p:nvPr/>
      </p:nvGrpSpPr>
      <p:grpSpPr>
        <a:xfrm>
          <a:off x="0" y="0"/>
          <a:ext cx="0" cy="0"/>
          <a:chOff x="0" y="0"/>
          <a:chExt cx="0" cy="0"/>
        </a:xfrm>
      </p:grpSpPr>
      <p:sp>
        <p:nvSpPr>
          <p:cNvPr id="35" name="Ορθογώνιο 34">
            <a:extLst>
              <a:ext uri="{FF2B5EF4-FFF2-40B4-BE49-F238E27FC236}">
                <a16:creationId xmlns:a16="http://schemas.microsoft.com/office/drawing/2014/main" id="{536B0609-998B-409C-A696-DA89A002F6EC}"/>
              </a:ext>
            </a:extLst>
          </p:cNvPr>
          <p:cNvSpPr/>
          <p:nvPr/>
        </p:nvSpPr>
        <p:spPr>
          <a:xfrm>
            <a:off x="0" y="5619750"/>
            <a:ext cx="12192000" cy="1238250"/>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shape">
              <a:fillToRect l="50000" t="50000" r="50000" b="50000"/>
            </a:path>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l-GR"/>
          </a:p>
        </p:txBody>
      </p:sp>
      <p:pic>
        <p:nvPicPr>
          <p:cNvPr id="36" name="Γραφικό 35" descr="Atom με συμπαγές γέμισμα">
            <a:extLst>
              <a:ext uri="{FF2B5EF4-FFF2-40B4-BE49-F238E27FC236}">
                <a16:creationId xmlns:a16="http://schemas.microsoft.com/office/drawing/2014/main" id="{D58AA033-F200-448C-9920-1D29A46DD0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850" y="5804600"/>
            <a:ext cx="895350" cy="895350"/>
          </a:xfrm>
          <a:prstGeom prst="rect">
            <a:avLst/>
          </a:prstGeom>
        </p:spPr>
      </p:pic>
      <p:pic>
        <p:nvPicPr>
          <p:cNvPr id="41" name="Γραφικό 40" descr="Μουσική με συμπαγές γέμισμα">
            <a:extLst>
              <a:ext uri="{FF2B5EF4-FFF2-40B4-BE49-F238E27FC236}">
                <a16:creationId xmlns:a16="http://schemas.microsoft.com/office/drawing/2014/main" id="{DF335AF6-E5F7-46B9-841E-57FA9B2E6C8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96102" y="5703092"/>
            <a:ext cx="914400" cy="914400"/>
          </a:xfrm>
          <a:prstGeom prst="rect">
            <a:avLst/>
          </a:prstGeom>
        </p:spPr>
      </p:pic>
      <p:pic>
        <p:nvPicPr>
          <p:cNvPr id="42" name="Γραφικό 41" descr="Νεκροκεφαλή με συμπαγές γέμισμα">
            <a:extLst>
              <a:ext uri="{FF2B5EF4-FFF2-40B4-BE49-F238E27FC236}">
                <a16:creationId xmlns:a16="http://schemas.microsoft.com/office/drawing/2014/main" id="{8630A6A2-D9EC-4E30-B2D9-A7A8EE76C6F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42748" y="5719765"/>
            <a:ext cx="914400" cy="914400"/>
          </a:xfrm>
          <a:prstGeom prst="rect">
            <a:avLst/>
          </a:prstGeom>
        </p:spPr>
      </p:pic>
      <p:pic>
        <p:nvPicPr>
          <p:cNvPr id="43" name="Γραφικό 42" descr="Εγκέφαλος με συμπαγές γέμισμα">
            <a:extLst>
              <a:ext uri="{FF2B5EF4-FFF2-40B4-BE49-F238E27FC236}">
                <a16:creationId xmlns:a16="http://schemas.microsoft.com/office/drawing/2014/main" id="{F22F94F9-60B6-455F-A223-DAE4935DCEB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389393" y="5781674"/>
            <a:ext cx="914400" cy="914400"/>
          </a:xfrm>
          <a:prstGeom prst="rect">
            <a:avLst/>
          </a:prstGeom>
        </p:spPr>
      </p:pic>
      <p:pic>
        <p:nvPicPr>
          <p:cNvPr id="47" name="Γραφικό 46" descr="Φιάλη με συμπαγές γέμισμα">
            <a:extLst>
              <a:ext uri="{FF2B5EF4-FFF2-40B4-BE49-F238E27FC236}">
                <a16:creationId xmlns:a16="http://schemas.microsoft.com/office/drawing/2014/main" id="{7265EA4F-20DE-4E70-8F0B-7960909D70E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914525" y="5703092"/>
            <a:ext cx="914400" cy="914400"/>
          </a:xfrm>
          <a:prstGeom prst="rect">
            <a:avLst/>
          </a:prstGeom>
        </p:spPr>
      </p:pic>
      <p:grpSp>
        <p:nvGrpSpPr>
          <p:cNvPr id="44" name="Ομάδα 43">
            <a:extLst>
              <a:ext uri="{FF2B5EF4-FFF2-40B4-BE49-F238E27FC236}">
                <a16:creationId xmlns:a16="http://schemas.microsoft.com/office/drawing/2014/main" id="{1D93DC2A-A7C3-4BD2-B8AF-75BFC5D9FC49}"/>
              </a:ext>
            </a:extLst>
          </p:cNvPr>
          <p:cNvGrpSpPr/>
          <p:nvPr/>
        </p:nvGrpSpPr>
        <p:grpSpPr>
          <a:xfrm>
            <a:off x="5080922" y="5012246"/>
            <a:ext cx="1238250" cy="1238250"/>
            <a:chOff x="1943100" y="1657350"/>
            <a:chExt cx="1238250" cy="1238250"/>
          </a:xfrm>
          <a:gradFill>
            <a:gsLst>
              <a:gs pos="0">
                <a:schemeClr val="accent3">
                  <a:lumMod val="67000"/>
                </a:schemeClr>
              </a:gs>
              <a:gs pos="48000">
                <a:schemeClr val="accent3">
                  <a:lumMod val="97000"/>
                  <a:lumOff val="3000"/>
                </a:schemeClr>
              </a:gs>
              <a:gs pos="100000">
                <a:schemeClr val="accent3">
                  <a:lumMod val="60000"/>
                  <a:lumOff val="40000"/>
                </a:schemeClr>
              </a:gs>
            </a:gsLst>
            <a:lin ang="16200000" scaled="1"/>
          </a:gradFill>
        </p:grpSpPr>
        <p:sp>
          <p:nvSpPr>
            <p:cNvPr id="45" name="Οβάλ 44">
              <a:extLst>
                <a:ext uri="{FF2B5EF4-FFF2-40B4-BE49-F238E27FC236}">
                  <a16:creationId xmlns:a16="http://schemas.microsoft.com/office/drawing/2014/main" id="{10C50DD8-1AAD-463B-8E08-583B7AA78C7B}"/>
                </a:ext>
              </a:extLst>
            </p:cNvPr>
            <p:cNvSpPr/>
            <p:nvPr/>
          </p:nvSpPr>
          <p:spPr>
            <a:xfrm>
              <a:off x="1943100" y="1657350"/>
              <a:ext cx="1238250" cy="123825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sp>
          <p:nvSpPr>
            <p:cNvPr id="46" name="Οβάλ 45">
              <a:extLst>
                <a:ext uri="{FF2B5EF4-FFF2-40B4-BE49-F238E27FC236}">
                  <a16:creationId xmlns:a16="http://schemas.microsoft.com/office/drawing/2014/main" id="{137837F8-87C7-4B2E-854A-9ADE625B0523}"/>
                </a:ext>
              </a:extLst>
            </p:cNvPr>
            <p:cNvSpPr/>
            <p:nvPr/>
          </p:nvSpPr>
          <p:spPr>
            <a:xfrm>
              <a:off x="2105025" y="1819275"/>
              <a:ext cx="914400" cy="9144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grpSp>
      <p:grpSp>
        <p:nvGrpSpPr>
          <p:cNvPr id="37" name="Ομάδα 36">
            <a:extLst>
              <a:ext uri="{FF2B5EF4-FFF2-40B4-BE49-F238E27FC236}">
                <a16:creationId xmlns:a16="http://schemas.microsoft.com/office/drawing/2014/main" id="{A3E189DD-0FBD-4E2B-85AE-78A0C618AFD9}"/>
              </a:ext>
            </a:extLst>
          </p:cNvPr>
          <p:cNvGrpSpPr/>
          <p:nvPr/>
        </p:nvGrpSpPr>
        <p:grpSpPr>
          <a:xfrm>
            <a:off x="5323810" y="5356472"/>
            <a:ext cx="914400" cy="914400"/>
            <a:chOff x="3589733" y="4435696"/>
            <a:chExt cx="914400" cy="914400"/>
          </a:xfrm>
        </p:grpSpPr>
        <p:sp>
          <p:nvSpPr>
            <p:cNvPr id="39" name="Ορθογώνιο 38">
              <a:extLst>
                <a:ext uri="{FF2B5EF4-FFF2-40B4-BE49-F238E27FC236}">
                  <a16:creationId xmlns:a16="http://schemas.microsoft.com/office/drawing/2014/main" id="{34F0FBD5-8C5E-43F4-BF9A-C93F5E49409C}"/>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0" name="TextBox 39">
              <a:extLst>
                <a:ext uri="{FF2B5EF4-FFF2-40B4-BE49-F238E27FC236}">
                  <a16:creationId xmlns:a16="http://schemas.microsoft.com/office/drawing/2014/main" id="{99973177-B2A7-4F3A-8A69-F2635BF915C8}"/>
                </a:ext>
              </a:extLst>
            </p:cNvPr>
            <p:cNvSpPr txBox="1"/>
            <p:nvPr/>
          </p:nvSpPr>
          <p:spPr>
            <a:xfrm>
              <a:off x="3688556" y="4538953"/>
              <a:ext cx="690562" cy="707886"/>
            </a:xfrm>
            <a:prstGeom prst="rect">
              <a:avLst/>
            </a:prstGeom>
            <a:noFill/>
          </p:spPr>
          <p:txBody>
            <a:bodyPr wrap="square" rtlCol="0">
              <a:spAutoFit/>
            </a:bodyPr>
            <a:lstStyle/>
            <a:p>
              <a:endParaRPr lang="en-US" sz="2000" b="1" dirty="0">
                <a:solidFill>
                  <a:srgbClr val="181C1F"/>
                </a:solidFill>
                <a:effectLst/>
              </a:endParaRPr>
            </a:p>
            <a:p>
              <a:endParaRPr lang="el-GR" sz="2000" dirty="0"/>
            </a:p>
          </p:txBody>
        </p:sp>
      </p:grpSp>
      <p:sp>
        <p:nvSpPr>
          <p:cNvPr id="19" name="TextBox 18">
            <a:extLst>
              <a:ext uri="{FF2B5EF4-FFF2-40B4-BE49-F238E27FC236}">
                <a16:creationId xmlns:a16="http://schemas.microsoft.com/office/drawing/2014/main" id="{EB4E62B1-95FC-45C1-BA83-BCC4D2B808A1}"/>
              </a:ext>
            </a:extLst>
          </p:cNvPr>
          <p:cNvSpPr txBox="1"/>
          <p:nvPr/>
        </p:nvSpPr>
        <p:spPr>
          <a:xfrm>
            <a:off x="1152525" y="812506"/>
            <a:ext cx="9886950" cy="3726148"/>
          </a:xfrm>
          <a:prstGeom prst="rect">
            <a:avLst/>
          </a:prstGeom>
          <a:noFill/>
        </p:spPr>
        <p:txBody>
          <a:bodyPr wrap="square">
            <a:spAutoFit/>
          </a:bodyPr>
          <a:lstStyle/>
          <a:p>
            <a:pPr>
              <a:lnSpc>
                <a:spcPct val="107000"/>
              </a:lnSpc>
              <a:spcAft>
                <a:spcPts val="800"/>
              </a:spcAft>
            </a:pPr>
            <a:r>
              <a:rPr lang="en-US" sz="2000" dirty="0">
                <a:latin typeface="Comic Sans MS" panose="030F0702030302020204" pitchFamily="66" charset="0"/>
              </a:rPr>
              <a:t>The Pythagorean Theorem is still used today:</a:t>
            </a:r>
          </a:p>
          <a:p>
            <a:pPr>
              <a:lnSpc>
                <a:spcPct val="107000"/>
              </a:lnSpc>
              <a:spcAft>
                <a:spcPts val="800"/>
              </a:spcAft>
            </a:pPr>
            <a:endParaRPr lang="el-GR" sz="2000" dirty="0">
              <a:latin typeface="Comic Sans MS" panose="030F0702030302020204" pitchFamily="66" charset="0"/>
            </a:endParaRPr>
          </a:p>
          <a:p>
            <a:pPr marL="342900" lvl="0" indent="-342900">
              <a:buFont typeface="Arial" panose="020B0604020202020204" pitchFamily="34" charset="0"/>
              <a:buChar char="•"/>
            </a:pPr>
            <a:r>
              <a:rPr lang="el-GR" sz="2000" dirty="0">
                <a:latin typeface="Comic Sans MS" panose="030F0702030302020204" pitchFamily="66" charset="0"/>
              </a:rPr>
              <a:t>in </a:t>
            </a:r>
            <a:r>
              <a:rPr lang="el-GR" sz="2000" dirty="0" err="1">
                <a:latin typeface="Comic Sans MS" panose="030F0702030302020204" pitchFamily="66" charset="0"/>
              </a:rPr>
              <a:t>architecture</a:t>
            </a:r>
            <a:r>
              <a:rPr lang="el-GR" sz="2000" dirty="0">
                <a:latin typeface="Comic Sans MS" panose="030F0702030302020204" pitchFamily="66" charset="0"/>
              </a:rPr>
              <a:t>,</a:t>
            </a:r>
            <a:endParaRPr lang="en-US" sz="2000" dirty="0">
              <a:latin typeface="Comic Sans MS" panose="030F0702030302020204" pitchFamily="66" charset="0"/>
            </a:endParaRPr>
          </a:p>
          <a:p>
            <a:pPr marL="342900" lvl="0" indent="-342900">
              <a:buFont typeface="Arial" panose="020B0604020202020204" pitchFamily="34" charset="0"/>
              <a:buChar char="•"/>
            </a:pPr>
            <a:endParaRPr lang="el-GR" sz="2000" dirty="0">
              <a:latin typeface="Comic Sans MS" panose="030F0702030302020204" pitchFamily="66" charset="0"/>
            </a:endParaRPr>
          </a:p>
          <a:p>
            <a:pPr marL="342900" lvl="0" indent="-342900">
              <a:buFont typeface="Arial" panose="020B0604020202020204" pitchFamily="34" charset="0"/>
              <a:buChar char="•"/>
            </a:pPr>
            <a:r>
              <a:rPr lang="el-GR" sz="2000" dirty="0">
                <a:latin typeface="Comic Sans MS" panose="030F0702030302020204" pitchFamily="66" charset="0"/>
              </a:rPr>
              <a:t>in </a:t>
            </a:r>
            <a:r>
              <a:rPr lang="el-GR" sz="2000" dirty="0" err="1">
                <a:latin typeface="Comic Sans MS" panose="030F0702030302020204" pitchFamily="66" charset="0"/>
              </a:rPr>
              <a:t>engineering</a:t>
            </a:r>
            <a:r>
              <a:rPr lang="el-GR" sz="2000" dirty="0">
                <a:latin typeface="Comic Sans MS" panose="030F0702030302020204" pitchFamily="66" charset="0"/>
              </a:rPr>
              <a:t>,</a:t>
            </a:r>
          </a:p>
          <a:p>
            <a:pPr marL="342900" lvl="0" indent="-342900">
              <a:buFont typeface="Arial" panose="020B0604020202020204" pitchFamily="34" charset="0"/>
              <a:buChar char="•"/>
            </a:pPr>
            <a:endParaRPr lang="en-US" sz="2000" dirty="0">
              <a:latin typeface="Comic Sans MS" panose="030F0702030302020204" pitchFamily="66" charset="0"/>
            </a:endParaRPr>
          </a:p>
          <a:p>
            <a:pPr marL="342900" lvl="0" indent="-342900">
              <a:buFont typeface="Arial" panose="020B0604020202020204" pitchFamily="34" charset="0"/>
              <a:buChar char="•"/>
            </a:pPr>
            <a:r>
              <a:rPr lang="el-GR" sz="2000" dirty="0">
                <a:latin typeface="Comic Sans MS" panose="030F0702030302020204" pitchFamily="66" charset="0"/>
              </a:rPr>
              <a:t>in </a:t>
            </a:r>
            <a:r>
              <a:rPr lang="el-GR" sz="2000" dirty="0" err="1">
                <a:latin typeface="Comic Sans MS" panose="030F0702030302020204" pitchFamily="66" charset="0"/>
              </a:rPr>
              <a:t>physics</a:t>
            </a:r>
            <a:r>
              <a:rPr lang="el-GR" sz="2000" dirty="0">
                <a:latin typeface="Comic Sans MS" panose="030F0702030302020204" pitchFamily="66" charset="0"/>
              </a:rPr>
              <a:t>,</a:t>
            </a:r>
          </a:p>
          <a:p>
            <a:pPr marL="342900" lvl="0" indent="-342900">
              <a:buFont typeface="Arial" panose="020B0604020202020204" pitchFamily="34" charset="0"/>
              <a:buChar char="•"/>
            </a:pPr>
            <a:endParaRPr lang="en-US" sz="2000" dirty="0">
              <a:latin typeface="Comic Sans MS" panose="030F0702030302020204" pitchFamily="66" charset="0"/>
            </a:endParaRPr>
          </a:p>
          <a:p>
            <a:pPr marL="342900" lvl="0" indent="-342900">
              <a:buFont typeface="Arial" panose="020B0604020202020204" pitchFamily="34" charset="0"/>
              <a:buChar char="•"/>
            </a:pPr>
            <a:r>
              <a:rPr lang="el-GR" sz="2000" dirty="0">
                <a:latin typeface="Comic Sans MS" panose="030F0702030302020204" pitchFamily="66" charset="0"/>
              </a:rPr>
              <a:t>in </a:t>
            </a:r>
            <a:r>
              <a:rPr lang="el-GR" sz="2000" dirty="0" err="1">
                <a:latin typeface="Comic Sans MS" panose="030F0702030302020204" pitchFamily="66" charset="0"/>
              </a:rPr>
              <a:t>astronomy</a:t>
            </a:r>
            <a:r>
              <a:rPr lang="el-GR" sz="2000" dirty="0">
                <a:latin typeface="Comic Sans MS" panose="030F0702030302020204" pitchFamily="66" charset="0"/>
              </a:rPr>
              <a:t>,</a:t>
            </a:r>
          </a:p>
          <a:p>
            <a:pPr marL="342900" lvl="0" indent="-342900">
              <a:buFont typeface="Arial" panose="020B0604020202020204" pitchFamily="34" charset="0"/>
              <a:buChar char="•"/>
            </a:pPr>
            <a:endParaRPr lang="en-US" sz="2000" dirty="0">
              <a:latin typeface="Comic Sans MS" panose="030F0702030302020204" pitchFamily="66" charset="0"/>
            </a:endParaRPr>
          </a:p>
          <a:p>
            <a:pPr marL="342900" lvl="0" indent="-342900">
              <a:buFont typeface="Arial" panose="020B0604020202020204" pitchFamily="34" charset="0"/>
              <a:buChar char="•"/>
            </a:pPr>
            <a:r>
              <a:rPr lang="el-GR" sz="2000" dirty="0">
                <a:latin typeface="Comic Sans MS" panose="030F0702030302020204" pitchFamily="66" charset="0"/>
              </a:rPr>
              <a:t>in </a:t>
            </a:r>
            <a:r>
              <a:rPr lang="el-GR" sz="2000" dirty="0" err="1">
                <a:latin typeface="Comic Sans MS" panose="030F0702030302020204" pitchFamily="66" charset="0"/>
              </a:rPr>
              <a:t>computers</a:t>
            </a:r>
            <a:r>
              <a:rPr lang="el-GR" sz="2000" dirty="0">
                <a:latin typeface="Comic Sans MS" panose="030F0702030302020204" pitchFamily="66" charset="0"/>
              </a:rPr>
              <a:t> and </a:t>
            </a:r>
            <a:r>
              <a:rPr lang="el-GR" sz="2000" dirty="0" err="1">
                <a:latin typeface="Comic Sans MS" panose="030F0702030302020204" pitchFamily="66" charset="0"/>
              </a:rPr>
              <a:t>cartography</a:t>
            </a:r>
            <a:r>
              <a:rPr lang="el-GR" sz="2000" dirty="0">
                <a:latin typeface="Comic Sans MS" panose="030F0702030302020204" pitchFamily="66" charset="0"/>
              </a:rPr>
              <a:t>.</a:t>
            </a:r>
          </a:p>
        </p:txBody>
      </p:sp>
      <p:pic>
        <p:nvPicPr>
          <p:cNvPr id="4" name="Εικόνα 3">
            <a:extLst>
              <a:ext uri="{FF2B5EF4-FFF2-40B4-BE49-F238E27FC236}">
                <a16:creationId xmlns:a16="http://schemas.microsoft.com/office/drawing/2014/main" id="{BE165983-C76A-4791-92B0-62BCCC594236}"/>
              </a:ext>
            </a:extLst>
          </p:cNvPr>
          <p:cNvPicPr>
            <a:picLocks noChangeAspect="1"/>
          </p:cNvPicPr>
          <p:nvPr/>
        </p:nvPicPr>
        <p:blipFill>
          <a:blip r:embed="rId12"/>
          <a:stretch>
            <a:fillRect/>
          </a:stretch>
        </p:blipFill>
        <p:spPr>
          <a:xfrm>
            <a:off x="8159021" y="1668106"/>
            <a:ext cx="2796253" cy="2014947"/>
          </a:xfrm>
          <a:prstGeom prst="rect">
            <a:avLst/>
          </a:prstGeom>
        </p:spPr>
      </p:pic>
      <p:sp>
        <p:nvSpPr>
          <p:cNvPr id="21" name="TextBox 20">
            <a:extLst>
              <a:ext uri="{FF2B5EF4-FFF2-40B4-BE49-F238E27FC236}">
                <a16:creationId xmlns:a16="http://schemas.microsoft.com/office/drawing/2014/main" id="{D25CED52-8A31-4D6F-B2AB-6E893AF635B5}"/>
              </a:ext>
            </a:extLst>
          </p:cNvPr>
          <p:cNvSpPr txBox="1"/>
          <p:nvPr/>
        </p:nvSpPr>
        <p:spPr>
          <a:xfrm>
            <a:off x="5172801" y="5460774"/>
            <a:ext cx="1103449" cy="338554"/>
          </a:xfrm>
          <a:prstGeom prst="rect">
            <a:avLst/>
          </a:prstGeom>
          <a:noFill/>
        </p:spPr>
        <p:txBody>
          <a:bodyPr wrap="square" rtlCol="0">
            <a:spAutoFit/>
          </a:bodyPr>
          <a:lstStyle/>
          <a:p>
            <a:pPr algn="ctr"/>
            <a:r>
              <a:rPr lang="el-GR" sz="1600" b="1" dirty="0">
                <a:latin typeface="Comic Sans MS" panose="030F0702030302020204" pitchFamily="66" charset="0"/>
              </a:rPr>
              <a:t>α</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b</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c</a:t>
            </a:r>
            <a:r>
              <a:rPr lang="el-GR" sz="1600" b="1" baseline="30000" dirty="0">
                <a:latin typeface="Comic Sans MS" panose="030F0702030302020204" pitchFamily="66" charset="0"/>
              </a:rPr>
              <a:t>2</a:t>
            </a:r>
            <a:endParaRPr lang="el-GR" sz="2000" dirty="0">
              <a:latin typeface="Comic Sans MS" panose="030F0702030302020204" pitchFamily="66" charset="0"/>
            </a:endParaRPr>
          </a:p>
        </p:txBody>
      </p:sp>
      <p:grpSp>
        <p:nvGrpSpPr>
          <p:cNvPr id="22" name="Ομάδα 21">
            <a:extLst>
              <a:ext uri="{FF2B5EF4-FFF2-40B4-BE49-F238E27FC236}">
                <a16:creationId xmlns:a16="http://schemas.microsoft.com/office/drawing/2014/main" id="{264CD944-27C9-4347-AD30-84E1614D79FA}"/>
              </a:ext>
            </a:extLst>
          </p:cNvPr>
          <p:cNvGrpSpPr/>
          <p:nvPr/>
        </p:nvGrpSpPr>
        <p:grpSpPr>
          <a:xfrm>
            <a:off x="3638549" y="5863518"/>
            <a:ext cx="914400" cy="914400"/>
            <a:chOff x="3589733" y="4435696"/>
            <a:chExt cx="914400" cy="914400"/>
          </a:xfrm>
        </p:grpSpPr>
        <p:sp>
          <p:nvSpPr>
            <p:cNvPr id="23" name="Ορθογώνιο 22">
              <a:extLst>
                <a:ext uri="{FF2B5EF4-FFF2-40B4-BE49-F238E27FC236}">
                  <a16:creationId xmlns:a16="http://schemas.microsoft.com/office/drawing/2014/main" id="{35AC9597-4FB9-4494-85A5-FDC7BBA7A0EC}"/>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Comic Sans MS" panose="030F0702030302020204" pitchFamily="66" charset="0"/>
              </a:endParaRPr>
            </a:p>
          </p:txBody>
        </p:sp>
        <p:sp>
          <p:nvSpPr>
            <p:cNvPr id="24" name="TextBox 23">
              <a:extLst>
                <a:ext uri="{FF2B5EF4-FFF2-40B4-BE49-F238E27FC236}">
                  <a16:creationId xmlns:a16="http://schemas.microsoft.com/office/drawing/2014/main" id="{A5A3EEC2-D627-4E08-88D9-80D2FDDC958A}"/>
                </a:ext>
              </a:extLst>
            </p:cNvPr>
            <p:cNvSpPr txBox="1"/>
            <p:nvPr/>
          </p:nvSpPr>
          <p:spPr>
            <a:xfrm>
              <a:off x="3813570" y="4459824"/>
              <a:ext cx="466726" cy="707886"/>
            </a:xfrm>
            <a:prstGeom prst="rect">
              <a:avLst/>
            </a:prstGeom>
            <a:noFill/>
          </p:spPr>
          <p:txBody>
            <a:bodyPr wrap="square" rtlCol="0">
              <a:spAutoFit/>
            </a:bodyPr>
            <a:lstStyle/>
            <a:p>
              <a:r>
                <a:rPr lang="en-US" sz="4000" b="1" dirty="0">
                  <a:ea typeface="Segoe UI Symbol" panose="020B0502040204020203" pitchFamily="34" charset="0"/>
                </a:rPr>
                <a:t>ℝ</a:t>
              </a:r>
              <a:endParaRPr lang="el-GR" sz="4000" dirty="0"/>
            </a:p>
          </p:txBody>
        </p:sp>
      </p:grpSp>
    </p:spTree>
    <p:extLst>
      <p:ext uri="{BB962C8B-B14F-4D97-AF65-F5344CB8AC3E}">
        <p14:creationId xmlns:p14="http://schemas.microsoft.com/office/powerpoint/2010/main" val="1477374378"/>
      </p:ext>
    </p:extLst>
  </p:cSld>
  <p:clrMapOvr>
    <a:masterClrMapping/>
  </p:clrMapOvr>
  <mc:AlternateContent xmlns:mc="http://schemas.openxmlformats.org/markup-compatibility/2006" xmlns:p14="http://schemas.microsoft.com/office/powerpoint/2010/main">
    <mc:Choice Requires="p14">
      <p:transition spd="slow" p14:dur="1250" advClick="0" advTm="8000">
        <p14:switch dir="r"/>
      </p:transition>
    </mc:Choice>
    <mc:Fallback xmlns="">
      <p:transition spd="slow" advClick="0" advTm="8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wipe(down)">
                                      <p:cBhvr>
                                        <p:cTn id="7" dur="1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9">
                                            <p:txEl>
                                              <p:pRg st="2" end="2"/>
                                            </p:txEl>
                                          </p:spTgt>
                                        </p:tgtEl>
                                        <p:attrNameLst>
                                          <p:attrName>style.visibility</p:attrName>
                                        </p:attrNameLst>
                                      </p:cBhvr>
                                      <p:to>
                                        <p:strVal val="visible"/>
                                      </p:to>
                                    </p:set>
                                    <p:animEffect transition="in" filter="wipe(down)">
                                      <p:cBhvr>
                                        <p:cTn id="12" dur="1500"/>
                                        <p:tgtEl>
                                          <p:spTgt spid="1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9">
                                            <p:txEl>
                                              <p:pRg st="4" end="4"/>
                                            </p:txEl>
                                          </p:spTgt>
                                        </p:tgtEl>
                                        <p:attrNameLst>
                                          <p:attrName>style.visibility</p:attrName>
                                        </p:attrNameLst>
                                      </p:cBhvr>
                                      <p:to>
                                        <p:strVal val="visible"/>
                                      </p:to>
                                    </p:set>
                                    <p:animEffect transition="in" filter="wipe(down)">
                                      <p:cBhvr>
                                        <p:cTn id="17" dur="1500"/>
                                        <p:tgtEl>
                                          <p:spTgt spid="1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9">
                                            <p:txEl>
                                              <p:pRg st="6" end="6"/>
                                            </p:txEl>
                                          </p:spTgt>
                                        </p:tgtEl>
                                        <p:attrNameLst>
                                          <p:attrName>style.visibility</p:attrName>
                                        </p:attrNameLst>
                                      </p:cBhvr>
                                      <p:to>
                                        <p:strVal val="visible"/>
                                      </p:to>
                                    </p:set>
                                    <p:animEffect transition="in" filter="wipe(down)">
                                      <p:cBhvr>
                                        <p:cTn id="22" dur="1500"/>
                                        <p:tgtEl>
                                          <p:spTgt spid="19">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9">
                                            <p:txEl>
                                              <p:pRg st="8" end="8"/>
                                            </p:txEl>
                                          </p:spTgt>
                                        </p:tgtEl>
                                        <p:attrNameLst>
                                          <p:attrName>style.visibility</p:attrName>
                                        </p:attrNameLst>
                                      </p:cBhvr>
                                      <p:to>
                                        <p:strVal val="visible"/>
                                      </p:to>
                                    </p:set>
                                    <p:animEffect transition="in" filter="wipe(down)">
                                      <p:cBhvr>
                                        <p:cTn id="27" dur="1500"/>
                                        <p:tgtEl>
                                          <p:spTgt spid="19">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9">
                                            <p:txEl>
                                              <p:pRg st="10" end="10"/>
                                            </p:txEl>
                                          </p:spTgt>
                                        </p:tgtEl>
                                        <p:attrNameLst>
                                          <p:attrName>style.visibility</p:attrName>
                                        </p:attrNameLst>
                                      </p:cBhvr>
                                      <p:to>
                                        <p:strVal val="visible"/>
                                      </p:to>
                                    </p:set>
                                    <p:animEffect transition="in" filter="wipe(down)">
                                      <p:cBhvr>
                                        <p:cTn id="32" dur="1500"/>
                                        <p:tgtEl>
                                          <p:spTgt spid="1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65000">
              <a:srgbClr val="939393"/>
            </a:gs>
            <a:gs pos="0">
              <a:schemeClr val="bg1"/>
            </a:gs>
            <a:gs pos="100000">
              <a:schemeClr val="accent1">
                <a:lumMod val="60000"/>
                <a:lumOff val="40000"/>
              </a:schemeClr>
            </a:gs>
          </a:gsLst>
          <a:lin ang="2700000" scaled="1"/>
          <a:tileRect/>
        </a:gradFill>
        <a:effectLst/>
      </p:bgPr>
    </p:bg>
    <p:spTree>
      <p:nvGrpSpPr>
        <p:cNvPr id="1" name=""/>
        <p:cNvGrpSpPr/>
        <p:nvPr/>
      </p:nvGrpSpPr>
      <p:grpSpPr>
        <a:xfrm>
          <a:off x="0" y="0"/>
          <a:ext cx="0" cy="0"/>
          <a:chOff x="0" y="0"/>
          <a:chExt cx="0" cy="0"/>
        </a:xfrm>
      </p:grpSpPr>
      <p:sp>
        <p:nvSpPr>
          <p:cNvPr id="35" name="Ορθογώνιο 34">
            <a:extLst>
              <a:ext uri="{FF2B5EF4-FFF2-40B4-BE49-F238E27FC236}">
                <a16:creationId xmlns:a16="http://schemas.microsoft.com/office/drawing/2014/main" id="{536B0609-998B-409C-A696-DA89A002F6EC}"/>
              </a:ext>
            </a:extLst>
          </p:cNvPr>
          <p:cNvSpPr/>
          <p:nvPr/>
        </p:nvSpPr>
        <p:spPr>
          <a:xfrm>
            <a:off x="0" y="5619750"/>
            <a:ext cx="12192000" cy="1238250"/>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shape">
              <a:fillToRect l="50000" t="50000" r="50000" b="50000"/>
            </a:path>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l-GR"/>
          </a:p>
        </p:txBody>
      </p:sp>
      <p:pic>
        <p:nvPicPr>
          <p:cNvPr id="36" name="Γραφικό 35" descr="Atom με συμπαγές γέμισμα">
            <a:extLst>
              <a:ext uri="{FF2B5EF4-FFF2-40B4-BE49-F238E27FC236}">
                <a16:creationId xmlns:a16="http://schemas.microsoft.com/office/drawing/2014/main" id="{D58AA033-F200-448C-9920-1D29A46DD0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850" y="5804600"/>
            <a:ext cx="895350" cy="895350"/>
          </a:xfrm>
          <a:prstGeom prst="rect">
            <a:avLst/>
          </a:prstGeom>
        </p:spPr>
      </p:pic>
      <p:pic>
        <p:nvPicPr>
          <p:cNvPr id="42" name="Γραφικό 41" descr="Νεκροκεφαλή με συμπαγές γέμισμα">
            <a:extLst>
              <a:ext uri="{FF2B5EF4-FFF2-40B4-BE49-F238E27FC236}">
                <a16:creationId xmlns:a16="http://schemas.microsoft.com/office/drawing/2014/main" id="{8630A6A2-D9EC-4E30-B2D9-A7A8EE76C6F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642748" y="5719765"/>
            <a:ext cx="914400" cy="914400"/>
          </a:xfrm>
          <a:prstGeom prst="rect">
            <a:avLst/>
          </a:prstGeom>
        </p:spPr>
      </p:pic>
      <p:pic>
        <p:nvPicPr>
          <p:cNvPr id="43" name="Γραφικό 42" descr="Εγκέφαλος με συμπαγές γέμισμα">
            <a:extLst>
              <a:ext uri="{FF2B5EF4-FFF2-40B4-BE49-F238E27FC236}">
                <a16:creationId xmlns:a16="http://schemas.microsoft.com/office/drawing/2014/main" id="{F22F94F9-60B6-455F-A223-DAE4935DCEB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389393" y="5781674"/>
            <a:ext cx="914400" cy="914400"/>
          </a:xfrm>
          <a:prstGeom prst="rect">
            <a:avLst/>
          </a:prstGeom>
        </p:spPr>
      </p:pic>
      <p:pic>
        <p:nvPicPr>
          <p:cNvPr id="47" name="Γραφικό 46" descr="Φιάλη με συμπαγές γέμισμα">
            <a:extLst>
              <a:ext uri="{FF2B5EF4-FFF2-40B4-BE49-F238E27FC236}">
                <a16:creationId xmlns:a16="http://schemas.microsoft.com/office/drawing/2014/main" id="{7265EA4F-20DE-4E70-8F0B-7960909D70E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914525" y="5703092"/>
            <a:ext cx="914400" cy="914400"/>
          </a:xfrm>
          <a:prstGeom prst="rect">
            <a:avLst/>
          </a:prstGeom>
        </p:spPr>
      </p:pic>
      <p:grpSp>
        <p:nvGrpSpPr>
          <p:cNvPr id="44" name="Ομάδα 43">
            <a:extLst>
              <a:ext uri="{FF2B5EF4-FFF2-40B4-BE49-F238E27FC236}">
                <a16:creationId xmlns:a16="http://schemas.microsoft.com/office/drawing/2014/main" id="{1D93DC2A-A7C3-4BD2-B8AF-75BFC5D9FC49}"/>
              </a:ext>
            </a:extLst>
          </p:cNvPr>
          <p:cNvGrpSpPr/>
          <p:nvPr/>
        </p:nvGrpSpPr>
        <p:grpSpPr>
          <a:xfrm>
            <a:off x="6707465" y="5012246"/>
            <a:ext cx="1238250" cy="1238250"/>
            <a:chOff x="1943100" y="1657350"/>
            <a:chExt cx="1238250" cy="1238250"/>
          </a:xfrm>
          <a:gradFill>
            <a:gsLst>
              <a:gs pos="0">
                <a:schemeClr val="accent3">
                  <a:lumMod val="67000"/>
                </a:schemeClr>
              </a:gs>
              <a:gs pos="48000">
                <a:schemeClr val="accent3">
                  <a:lumMod val="97000"/>
                  <a:lumOff val="3000"/>
                </a:schemeClr>
              </a:gs>
              <a:gs pos="100000">
                <a:schemeClr val="accent3">
                  <a:lumMod val="60000"/>
                  <a:lumOff val="40000"/>
                </a:schemeClr>
              </a:gs>
            </a:gsLst>
            <a:lin ang="16200000" scaled="1"/>
          </a:gradFill>
        </p:grpSpPr>
        <p:sp>
          <p:nvSpPr>
            <p:cNvPr id="45" name="Οβάλ 44">
              <a:extLst>
                <a:ext uri="{FF2B5EF4-FFF2-40B4-BE49-F238E27FC236}">
                  <a16:creationId xmlns:a16="http://schemas.microsoft.com/office/drawing/2014/main" id="{10C50DD8-1AAD-463B-8E08-583B7AA78C7B}"/>
                </a:ext>
              </a:extLst>
            </p:cNvPr>
            <p:cNvSpPr/>
            <p:nvPr/>
          </p:nvSpPr>
          <p:spPr>
            <a:xfrm>
              <a:off x="1943100" y="1657350"/>
              <a:ext cx="1238250" cy="123825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sp>
          <p:nvSpPr>
            <p:cNvPr id="46" name="Οβάλ 45">
              <a:extLst>
                <a:ext uri="{FF2B5EF4-FFF2-40B4-BE49-F238E27FC236}">
                  <a16:creationId xmlns:a16="http://schemas.microsoft.com/office/drawing/2014/main" id="{137837F8-87C7-4B2E-854A-9ADE625B0523}"/>
                </a:ext>
              </a:extLst>
            </p:cNvPr>
            <p:cNvSpPr/>
            <p:nvPr/>
          </p:nvSpPr>
          <p:spPr>
            <a:xfrm>
              <a:off x="2105025" y="1819275"/>
              <a:ext cx="914400" cy="9144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grpSp>
      <p:grpSp>
        <p:nvGrpSpPr>
          <p:cNvPr id="37" name="Ομάδα 36">
            <a:extLst>
              <a:ext uri="{FF2B5EF4-FFF2-40B4-BE49-F238E27FC236}">
                <a16:creationId xmlns:a16="http://schemas.microsoft.com/office/drawing/2014/main" id="{A3E189DD-0FBD-4E2B-85AE-78A0C618AFD9}"/>
              </a:ext>
            </a:extLst>
          </p:cNvPr>
          <p:cNvGrpSpPr/>
          <p:nvPr/>
        </p:nvGrpSpPr>
        <p:grpSpPr>
          <a:xfrm>
            <a:off x="5323810" y="5942267"/>
            <a:ext cx="914400" cy="914400"/>
            <a:chOff x="3589733" y="4435696"/>
            <a:chExt cx="914400" cy="914400"/>
          </a:xfrm>
        </p:grpSpPr>
        <p:sp>
          <p:nvSpPr>
            <p:cNvPr id="39" name="Ορθογώνιο 38">
              <a:extLst>
                <a:ext uri="{FF2B5EF4-FFF2-40B4-BE49-F238E27FC236}">
                  <a16:creationId xmlns:a16="http://schemas.microsoft.com/office/drawing/2014/main" id="{34F0FBD5-8C5E-43F4-BF9A-C93F5E49409C}"/>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0" name="TextBox 39">
              <a:extLst>
                <a:ext uri="{FF2B5EF4-FFF2-40B4-BE49-F238E27FC236}">
                  <a16:creationId xmlns:a16="http://schemas.microsoft.com/office/drawing/2014/main" id="{99973177-B2A7-4F3A-8A69-F2635BF915C8}"/>
                </a:ext>
              </a:extLst>
            </p:cNvPr>
            <p:cNvSpPr txBox="1"/>
            <p:nvPr/>
          </p:nvSpPr>
          <p:spPr>
            <a:xfrm>
              <a:off x="3688556" y="4538953"/>
              <a:ext cx="690562" cy="400110"/>
            </a:xfrm>
            <a:prstGeom prst="rect">
              <a:avLst/>
            </a:prstGeom>
            <a:noFill/>
          </p:spPr>
          <p:txBody>
            <a:bodyPr wrap="square" rtlCol="0">
              <a:spAutoFit/>
            </a:bodyPr>
            <a:lstStyle/>
            <a:p>
              <a:endParaRPr lang="el-GR" sz="2000" dirty="0"/>
            </a:p>
          </p:txBody>
        </p:sp>
      </p:grpSp>
      <p:sp>
        <p:nvSpPr>
          <p:cNvPr id="17" name="TextBox 16">
            <a:extLst>
              <a:ext uri="{FF2B5EF4-FFF2-40B4-BE49-F238E27FC236}">
                <a16:creationId xmlns:a16="http://schemas.microsoft.com/office/drawing/2014/main" id="{136578E6-0E44-41FB-A9A6-2AF46756450E}"/>
              </a:ext>
            </a:extLst>
          </p:cNvPr>
          <p:cNvSpPr txBox="1"/>
          <p:nvPr/>
        </p:nvSpPr>
        <p:spPr>
          <a:xfrm>
            <a:off x="741761" y="240508"/>
            <a:ext cx="10052305" cy="559384"/>
          </a:xfrm>
          <a:prstGeom prst="rect">
            <a:avLst/>
          </a:prstGeom>
          <a:noFill/>
        </p:spPr>
        <p:txBody>
          <a:bodyPr wrap="square">
            <a:spAutoFit/>
          </a:bodyPr>
          <a:lstStyle/>
          <a:p>
            <a:pPr algn="ctr">
              <a:lnSpc>
                <a:spcPct val="107000"/>
              </a:lnSpc>
              <a:spcAft>
                <a:spcPts val="800"/>
              </a:spcAft>
            </a:pPr>
            <a:r>
              <a:rPr lang="en-US" sz="3000" b="1" dirty="0">
                <a:latin typeface="Comic Sans MS" panose="030F0702030302020204" pitchFamily="66" charset="0"/>
              </a:rPr>
              <a:t>Music and Mathematics</a:t>
            </a:r>
            <a:endParaRPr lang="el-GR" sz="3000" dirty="0">
              <a:latin typeface="Comic Sans MS" panose="030F0702030302020204" pitchFamily="66" charset="0"/>
            </a:endParaRPr>
          </a:p>
        </p:txBody>
      </p:sp>
      <p:pic>
        <p:nvPicPr>
          <p:cNvPr id="41" name="Γραφικό 40" descr="Μουσική με συμπαγές γέμισμα">
            <a:extLst>
              <a:ext uri="{FF2B5EF4-FFF2-40B4-BE49-F238E27FC236}">
                <a16:creationId xmlns:a16="http://schemas.microsoft.com/office/drawing/2014/main" id="{DF335AF6-E5F7-46B9-841E-57FA9B2E6C8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964312" y="5266435"/>
            <a:ext cx="739914" cy="739914"/>
          </a:xfrm>
          <a:prstGeom prst="rect">
            <a:avLst/>
          </a:prstGeom>
        </p:spPr>
      </p:pic>
      <p:sp>
        <p:nvSpPr>
          <p:cNvPr id="20" name="TextBox 19">
            <a:extLst>
              <a:ext uri="{FF2B5EF4-FFF2-40B4-BE49-F238E27FC236}">
                <a16:creationId xmlns:a16="http://schemas.microsoft.com/office/drawing/2014/main" id="{26450FF9-D429-4EBB-A695-4B8ED6DFAAC0}"/>
              </a:ext>
            </a:extLst>
          </p:cNvPr>
          <p:cNvSpPr txBox="1"/>
          <p:nvPr/>
        </p:nvSpPr>
        <p:spPr>
          <a:xfrm>
            <a:off x="1404796" y="4407363"/>
            <a:ext cx="9742908" cy="403700"/>
          </a:xfrm>
          <a:prstGeom prst="rect">
            <a:avLst/>
          </a:prstGeom>
          <a:noFill/>
        </p:spPr>
        <p:txBody>
          <a:bodyPr wrap="square">
            <a:spAutoFit/>
          </a:bodyPr>
          <a:lstStyle/>
          <a:p>
            <a:pPr>
              <a:lnSpc>
                <a:spcPct val="107000"/>
              </a:lnSpc>
              <a:spcAft>
                <a:spcPts val="800"/>
              </a:spcAft>
            </a:pPr>
            <a:r>
              <a:rPr lang="en-US" sz="2000" dirty="0">
                <a:latin typeface="Comic Sans MS" panose="030F0702030302020204" pitchFamily="66" charset="0"/>
              </a:rPr>
              <a:t>This discovery showed that even music can be explained through mathematics.</a:t>
            </a:r>
            <a:endParaRPr lang="el-GR" sz="2000" dirty="0">
              <a:latin typeface="Comic Sans MS" panose="030F0702030302020204" pitchFamily="66" charset="0"/>
            </a:endParaRPr>
          </a:p>
        </p:txBody>
      </p:sp>
      <p:sp>
        <p:nvSpPr>
          <p:cNvPr id="22" name="TextBox 21">
            <a:extLst>
              <a:ext uri="{FF2B5EF4-FFF2-40B4-BE49-F238E27FC236}">
                <a16:creationId xmlns:a16="http://schemas.microsoft.com/office/drawing/2014/main" id="{924A7AB3-D38F-44A2-BACB-FF1E625493C4}"/>
              </a:ext>
            </a:extLst>
          </p:cNvPr>
          <p:cNvSpPr txBox="1"/>
          <p:nvPr/>
        </p:nvSpPr>
        <p:spPr>
          <a:xfrm>
            <a:off x="323850" y="1903750"/>
            <a:ext cx="3470315" cy="1720984"/>
          </a:xfrm>
          <a:prstGeom prst="rect">
            <a:avLst/>
          </a:prstGeom>
          <a:noFill/>
        </p:spPr>
        <p:txBody>
          <a:bodyPr wrap="square">
            <a:spAutoFit/>
          </a:bodyPr>
          <a:lstStyle/>
          <a:p>
            <a:pPr>
              <a:lnSpc>
                <a:spcPct val="107000"/>
              </a:lnSpc>
              <a:spcAft>
                <a:spcPts val="800"/>
              </a:spcAft>
            </a:pPr>
            <a:r>
              <a:rPr lang="en-US" sz="2000" dirty="0">
                <a:latin typeface="Comic Sans MS" panose="030F0702030302020204" pitchFamily="66" charset="0"/>
              </a:rPr>
              <a:t>Pythagoras was also greatly interested in music. He discovered that musical sounds are related to simple mathematical ratios.</a:t>
            </a:r>
            <a:endParaRPr lang="el-GR" sz="2000" dirty="0">
              <a:latin typeface="Comic Sans MS" panose="030F0702030302020204" pitchFamily="66" charset="0"/>
            </a:endParaRPr>
          </a:p>
        </p:txBody>
      </p:sp>
      <p:sp>
        <p:nvSpPr>
          <p:cNvPr id="24" name="TextBox 23">
            <a:extLst>
              <a:ext uri="{FF2B5EF4-FFF2-40B4-BE49-F238E27FC236}">
                <a16:creationId xmlns:a16="http://schemas.microsoft.com/office/drawing/2014/main" id="{5EB46DD0-8CC7-48A5-8A5A-7691F1B6661C}"/>
              </a:ext>
            </a:extLst>
          </p:cNvPr>
          <p:cNvSpPr txBox="1"/>
          <p:nvPr/>
        </p:nvSpPr>
        <p:spPr>
          <a:xfrm>
            <a:off x="7704226" y="2068411"/>
            <a:ext cx="4359567" cy="1391663"/>
          </a:xfrm>
          <a:prstGeom prst="rect">
            <a:avLst/>
          </a:prstGeom>
          <a:noFill/>
        </p:spPr>
        <p:txBody>
          <a:bodyPr wrap="square">
            <a:spAutoFit/>
          </a:bodyPr>
          <a:lstStyle/>
          <a:p>
            <a:pPr>
              <a:lnSpc>
                <a:spcPct val="107000"/>
              </a:lnSpc>
              <a:spcAft>
                <a:spcPts val="800"/>
              </a:spcAft>
            </a:pPr>
            <a:r>
              <a:rPr lang="en-US" sz="2000" dirty="0">
                <a:latin typeface="Comic Sans MS" panose="030F0702030302020204" pitchFamily="66" charset="0"/>
              </a:rPr>
              <a:t>For example, when one string is half the length of another, it produces a sound one octave higher.</a:t>
            </a:r>
            <a:endParaRPr lang="el-GR" sz="2000" dirty="0">
              <a:latin typeface="Comic Sans MS" panose="030F0702030302020204" pitchFamily="66" charset="0"/>
            </a:endParaRPr>
          </a:p>
        </p:txBody>
      </p:sp>
      <p:pic>
        <p:nvPicPr>
          <p:cNvPr id="14340" name="Picture 4" descr="Γιατί μας αρέσει η μουσική - ΤΟ ΒΗΜΑ">
            <a:extLst>
              <a:ext uri="{FF2B5EF4-FFF2-40B4-BE49-F238E27FC236}">
                <a16:creationId xmlns:a16="http://schemas.microsoft.com/office/drawing/2014/main" id="{CEBEA75D-72D4-4A81-B33D-636DE78D946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65511" y="1693813"/>
            <a:ext cx="3230998" cy="2150082"/>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96393224-1209-4562-B4B0-2FD27ED00803}"/>
              </a:ext>
            </a:extLst>
          </p:cNvPr>
          <p:cNvSpPr txBox="1"/>
          <p:nvPr/>
        </p:nvSpPr>
        <p:spPr>
          <a:xfrm>
            <a:off x="5172801" y="6085029"/>
            <a:ext cx="1103449" cy="338554"/>
          </a:xfrm>
          <a:prstGeom prst="rect">
            <a:avLst/>
          </a:prstGeom>
          <a:noFill/>
        </p:spPr>
        <p:txBody>
          <a:bodyPr wrap="square" rtlCol="0">
            <a:spAutoFit/>
          </a:bodyPr>
          <a:lstStyle/>
          <a:p>
            <a:pPr algn="ctr"/>
            <a:r>
              <a:rPr lang="el-GR" sz="1600" b="1" dirty="0">
                <a:latin typeface="Comic Sans MS" panose="030F0702030302020204" pitchFamily="66" charset="0"/>
              </a:rPr>
              <a:t>α</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b</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c</a:t>
            </a:r>
            <a:r>
              <a:rPr lang="el-GR" sz="1600" b="1" baseline="30000" dirty="0">
                <a:latin typeface="Comic Sans MS" panose="030F0702030302020204" pitchFamily="66" charset="0"/>
              </a:rPr>
              <a:t>2</a:t>
            </a:r>
            <a:endParaRPr lang="el-GR" sz="2000" dirty="0">
              <a:latin typeface="Comic Sans MS" panose="030F0702030302020204" pitchFamily="66" charset="0"/>
            </a:endParaRPr>
          </a:p>
        </p:txBody>
      </p:sp>
      <p:grpSp>
        <p:nvGrpSpPr>
          <p:cNvPr id="23" name="Ομάδα 22">
            <a:extLst>
              <a:ext uri="{FF2B5EF4-FFF2-40B4-BE49-F238E27FC236}">
                <a16:creationId xmlns:a16="http://schemas.microsoft.com/office/drawing/2014/main" id="{9953FF3C-EB01-4816-A48E-501149FC566C}"/>
              </a:ext>
            </a:extLst>
          </p:cNvPr>
          <p:cNvGrpSpPr/>
          <p:nvPr/>
        </p:nvGrpSpPr>
        <p:grpSpPr>
          <a:xfrm>
            <a:off x="3638549" y="5863518"/>
            <a:ext cx="914400" cy="914400"/>
            <a:chOff x="3589733" y="4435696"/>
            <a:chExt cx="914400" cy="914400"/>
          </a:xfrm>
        </p:grpSpPr>
        <p:sp>
          <p:nvSpPr>
            <p:cNvPr id="26" name="Ορθογώνιο 25">
              <a:extLst>
                <a:ext uri="{FF2B5EF4-FFF2-40B4-BE49-F238E27FC236}">
                  <a16:creationId xmlns:a16="http://schemas.microsoft.com/office/drawing/2014/main" id="{6E0C7042-6CBE-4795-BEA4-03777D03373E}"/>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Comic Sans MS" panose="030F0702030302020204" pitchFamily="66" charset="0"/>
              </a:endParaRPr>
            </a:p>
          </p:txBody>
        </p:sp>
        <p:sp>
          <p:nvSpPr>
            <p:cNvPr id="27" name="TextBox 26">
              <a:extLst>
                <a:ext uri="{FF2B5EF4-FFF2-40B4-BE49-F238E27FC236}">
                  <a16:creationId xmlns:a16="http://schemas.microsoft.com/office/drawing/2014/main" id="{794FB483-53E6-4D99-8461-FA247386DDC8}"/>
                </a:ext>
              </a:extLst>
            </p:cNvPr>
            <p:cNvSpPr txBox="1"/>
            <p:nvPr/>
          </p:nvSpPr>
          <p:spPr>
            <a:xfrm>
              <a:off x="3813570" y="4459824"/>
              <a:ext cx="466726" cy="707886"/>
            </a:xfrm>
            <a:prstGeom prst="rect">
              <a:avLst/>
            </a:prstGeom>
            <a:noFill/>
          </p:spPr>
          <p:txBody>
            <a:bodyPr wrap="square" rtlCol="0">
              <a:spAutoFit/>
            </a:bodyPr>
            <a:lstStyle/>
            <a:p>
              <a:r>
                <a:rPr lang="en-US" sz="4000" b="1" dirty="0">
                  <a:ea typeface="Segoe UI Symbol" panose="020B0502040204020203" pitchFamily="34" charset="0"/>
                </a:rPr>
                <a:t>ℝ</a:t>
              </a:r>
              <a:endParaRPr lang="el-GR" sz="4000" dirty="0"/>
            </a:p>
          </p:txBody>
        </p:sp>
      </p:grpSp>
    </p:spTree>
    <p:extLst>
      <p:ext uri="{BB962C8B-B14F-4D97-AF65-F5344CB8AC3E}">
        <p14:creationId xmlns:p14="http://schemas.microsoft.com/office/powerpoint/2010/main" val="613317450"/>
      </p:ext>
    </p:extLst>
  </p:cSld>
  <p:clrMapOvr>
    <a:masterClrMapping/>
  </p:clrMapOvr>
  <mc:AlternateContent xmlns:mc="http://schemas.openxmlformats.org/markup-compatibility/2006" xmlns:p14="http://schemas.microsoft.com/office/powerpoint/2010/main">
    <mc:Choice Requires="p14">
      <p:transition spd="slow" p14:dur="1250" advClick="0" advTm="8000">
        <p14:switch dir="r"/>
      </p:transition>
    </mc:Choice>
    <mc:Fallback xmlns="">
      <p:transition spd="slow" advClick="0" advTm="8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par>
                                <p:cTn id="8" presetID="22" presetClass="entr" presetSubtype="4" fill="hold" nodeType="withEffect">
                                  <p:stCondLst>
                                    <p:cond delay="0"/>
                                  </p:stCondLst>
                                  <p:childTnLst>
                                    <p:set>
                                      <p:cBhvr>
                                        <p:cTn id="9" dur="1" fill="hold">
                                          <p:stCondLst>
                                            <p:cond delay="0"/>
                                          </p:stCondLst>
                                        </p:cTn>
                                        <p:tgtEl>
                                          <p:spTgt spid="14340"/>
                                        </p:tgtEl>
                                        <p:attrNameLst>
                                          <p:attrName>style.visibility</p:attrName>
                                        </p:attrNameLst>
                                      </p:cBhvr>
                                      <p:to>
                                        <p:strVal val="visible"/>
                                      </p:to>
                                    </p:set>
                                    <p:animEffect transition="in" filter="wipe(down)">
                                      <p:cBhvr>
                                        <p:cTn id="10" dur="1500"/>
                                        <p:tgtEl>
                                          <p:spTgt spid="1434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22">
                                            <p:txEl>
                                              <p:pRg st="0" end="0"/>
                                            </p:txEl>
                                          </p:spTgt>
                                        </p:tgtEl>
                                        <p:attrNameLst>
                                          <p:attrName>style.visibility</p:attrName>
                                        </p:attrNameLst>
                                      </p:cBhvr>
                                      <p:to>
                                        <p:strVal val="visible"/>
                                      </p:to>
                                    </p:set>
                                    <p:animEffect transition="in" filter="wipe(down)">
                                      <p:cBhvr>
                                        <p:cTn id="15" dur="1500"/>
                                        <p:tgtEl>
                                          <p:spTgt spid="22">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24">
                                            <p:txEl>
                                              <p:pRg st="0" end="0"/>
                                            </p:txEl>
                                          </p:spTgt>
                                        </p:tgtEl>
                                        <p:attrNameLst>
                                          <p:attrName>style.visibility</p:attrName>
                                        </p:attrNameLst>
                                      </p:cBhvr>
                                      <p:to>
                                        <p:strVal val="visible"/>
                                      </p:to>
                                    </p:set>
                                    <p:animEffect transition="in" filter="wipe(down)">
                                      <p:cBhvr>
                                        <p:cTn id="20" dur="1500"/>
                                        <p:tgtEl>
                                          <p:spTgt spid="24">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wipe(down)">
                                      <p:cBhvr>
                                        <p:cTn id="25" dur="1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65000">
              <a:srgbClr val="939393"/>
            </a:gs>
            <a:gs pos="0">
              <a:schemeClr val="bg1"/>
            </a:gs>
            <a:gs pos="100000">
              <a:schemeClr val="accent1">
                <a:lumMod val="60000"/>
                <a:lumOff val="40000"/>
              </a:schemeClr>
            </a:gs>
          </a:gsLst>
          <a:lin ang="2700000" scaled="1"/>
          <a:tileRect/>
        </a:gradFill>
        <a:effectLst/>
      </p:bgPr>
    </p:bg>
    <p:spTree>
      <p:nvGrpSpPr>
        <p:cNvPr id="1" name=""/>
        <p:cNvGrpSpPr/>
        <p:nvPr/>
      </p:nvGrpSpPr>
      <p:grpSpPr>
        <a:xfrm>
          <a:off x="0" y="0"/>
          <a:ext cx="0" cy="0"/>
          <a:chOff x="0" y="0"/>
          <a:chExt cx="0" cy="0"/>
        </a:xfrm>
      </p:grpSpPr>
      <p:sp>
        <p:nvSpPr>
          <p:cNvPr id="35" name="Ορθογώνιο 34">
            <a:extLst>
              <a:ext uri="{FF2B5EF4-FFF2-40B4-BE49-F238E27FC236}">
                <a16:creationId xmlns:a16="http://schemas.microsoft.com/office/drawing/2014/main" id="{536B0609-998B-409C-A696-DA89A002F6EC}"/>
              </a:ext>
            </a:extLst>
          </p:cNvPr>
          <p:cNvSpPr/>
          <p:nvPr/>
        </p:nvSpPr>
        <p:spPr>
          <a:xfrm>
            <a:off x="0" y="5619750"/>
            <a:ext cx="12192000" cy="1238250"/>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shape">
              <a:fillToRect l="50000" t="50000" r="50000" b="50000"/>
            </a:path>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l-GR"/>
          </a:p>
        </p:txBody>
      </p:sp>
      <p:pic>
        <p:nvPicPr>
          <p:cNvPr id="36" name="Γραφικό 35" descr="Atom με συμπαγές γέμισμα">
            <a:extLst>
              <a:ext uri="{FF2B5EF4-FFF2-40B4-BE49-F238E27FC236}">
                <a16:creationId xmlns:a16="http://schemas.microsoft.com/office/drawing/2014/main" id="{D58AA033-F200-448C-9920-1D29A46DD0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850" y="5804600"/>
            <a:ext cx="895350" cy="895350"/>
          </a:xfrm>
          <a:prstGeom prst="rect">
            <a:avLst/>
          </a:prstGeom>
        </p:spPr>
      </p:pic>
      <p:pic>
        <p:nvPicPr>
          <p:cNvPr id="42" name="Γραφικό 41" descr="Νεκροκεφαλή με συμπαγές γέμισμα">
            <a:extLst>
              <a:ext uri="{FF2B5EF4-FFF2-40B4-BE49-F238E27FC236}">
                <a16:creationId xmlns:a16="http://schemas.microsoft.com/office/drawing/2014/main" id="{8630A6A2-D9EC-4E30-B2D9-A7A8EE76C6F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642748" y="5719765"/>
            <a:ext cx="914400" cy="914400"/>
          </a:xfrm>
          <a:prstGeom prst="rect">
            <a:avLst/>
          </a:prstGeom>
        </p:spPr>
      </p:pic>
      <p:pic>
        <p:nvPicPr>
          <p:cNvPr id="43" name="Γραφικό 42" descr="Εγκέφαλος με συμπαγές γέμισμα">
            <a:extLst>
              <a:ext uri="{FF2B5EF4-FFF2-40B4-BE49-F238E27FC236}">
                <a16:creationId xmlns:a16="http://schemas.microsoft.com/office/drawing/2014/main" id="{F22F94F9-60B6-455F-A223-DAE4935DCEB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389393" y="5781674"/>
            <a:ext cx="914400" cy="914400"/>
          </a:xfrm>
          <a:prstGeom prst="rect">
            <a:avLst/>
          </a:prstGeom>
        </p:spPr>
      </p:pic>
      <p:pic>
        <p:nvPicPr>
          <p:cNvPr id="47" name="Γραφικό 46" descr="Φιάλη με συμπαγές γέμισμα">
            <a:extLst>
              <a:ext uri="{FF2B5EF4-FFF2-40B4-BE49-F238E27FC236}">
                <a16:creationId xmlns:a16="http://schemas.microsoft.com/office/drawing/2014/main" id="{7265EA4F-20DE-4E70-8F0B-7960909D70E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914525" y="5703092"/>
            <a:ext cx="914400" cy="914400"/>
          </a:xfrm>
          <a:prstGeom prst="rect">
            <a:avLst/>
          </a:prstGeom>
        </p:spPr>
      </p:pic>
      <p:grpSp>
        <p:nvGrpSpPr>
          <p:cNvPr id="44" name="Ομάδα 43">
            <a:extLst>
              <a:ext uri="{FF2B5EF4-FFF2-40B4-BE49-F238E27FC236}">
                <a16:creationId xmlns:a16="http://schemas.microsoft.com/office/drawing/2014/main" id="{1D93DC2A-A7C3-4BD2-B8AF-75BFC5D9FC49}"/>
              </a:ext>
            </a:extLst>
          </p:cNvPr>
          <p:cNvGrpSpPr/>
          <p:nvPr/>
        </p:nvGrpSpPr>
        <p:grpSpPr>
          <a:xfrm>
            <a:off x="6707465" y="5012246"/>
            <a:ext cx="1238250" cy="1238250"/>
            <a:chOff x="1943100" y="1657350"/>
            <a:chExt cx="1238250" cy="1238250"/>
          </a:xfrm>
          <a:gradFill>
            <a:gsLst>
              <a:gs pos="0">
                <a:schemeClr val="accent3">
                  <a:lumMod val="67000"/>
                </a:schemeClr>
              </a:gs>
              <a:gs pos="48000">
                <a:schemeClr val="accent3">
                  <a:lumMod val="97000"/>
                  <a:lumOff val="3000"/>
                </a:schemeClr>
              </a:gs>
              <a:gs pos="100000">
                <a:schemeClr val="accent3">
                  <a:lumMod val="60000"/>
                  <a:lumOff val="40000"/>
                </a:schemeClr>
              </a:gs>
            </a:gsLst>
            <a:lin ang="16200000" scaled="1"/>
          </a:gradFill>
        </p:grpSpPr>
        <p:sp>
          <p:nvSpPr>
            <p:cNvPr id="45" name="Οβάλ 44">
              <a:extLst>
                <a:ext uri="{FF2B5EF4-FFF2-40B4-BE49-F238E27FC236}">
                  <a16:creationId xmlns:a16="http://schemas.microsoft.com/office/drawing/2014/main" id="{10C50DD8-1AAD-463B-8E08-583B7AA78C7B}"/>
                </a:ext>
              </a:extLst>
            </p:cNvPr>
            <p:cNvSpPr/>
            <p:nvPr/>
          </p:nvSpPr>
          <p:spPr>
            <a:xfrm>
              <a:off x="1943100" y="1657350"/>
              <a:ext cx="1238250" cy="123825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sp>
          <p:nvSpPr>
            <p:cNvPr id="46" name="Οβάλ 45">
              <a:extLst>
                <a:ext uri="{FF2B5EF4-FFF2-40B4-BE49-F238E27FC236}">
                  <a16:creationId xmlns:a16="http://schemas.microsoft.com/office/drawing/2014/main" id="{137837F8-87C7-4B2E-854A-9ADE625B0523}"/>
                </a:ext>
              </a:extLst>
            </p:cNvPr>
            <p:cNvSpPr/>
            <p:nvPr/>
          </p:nvSpPr>
          <p:spPr>
            <a:xfrm>
              <a:off x="2105025" y="1819275"/>
              <a:ext cx="914400" cy="9144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grpSp>
      <p:grpSp>
        <p:nvGrpSpPr>
          <p:cNvPr id="37" name="Ομάδα 36">
            <a:extLst>
              <a:ext uri="{FF2B5EF4-FFF2-40B4-BE49-F238E27FC236}">
                <a16:creationId xmlns:a16="http://schemas.microsoft.com/office/drawing/2014/main" id="{A3E189DD-0FBD-4E2B-85AE-78A0C618AFD9}"/>
              </a:ext>
            </a:extLst>
          </p:cNvPr>
          <p:cNvGrpSpPr/>
          <p:nvPr/>
        </p:nvGrpSpPr>
        <p:grpSpPr>
          <a:xfrm>
            <a:off x="5323810" y="5942267"/>
            <a:ext cx="914400" cy="914400"/>
            <a:chOff x="3589733" y="4435696"/>
            <a:chExt cx="914400" cy="914400"/>
          </a:xfrm>
        </p:grpSpPr>
        <p:sp>
          <p:nvSpPr>
            <p:cNvPr id="39" name="Ορθογώνιο 38">
              <a:extLst>
                <a:ext uri="{FF2B5EF4-FFF2-40B4-BE49-F238E27FC236}">
                  <a16:creationId xmlns:a16="http://schemas.microsoft.com/office/drawing/2014/main" id="{34F0FBD5-8C5E-43F4-BF9A-C93F5E49409C}"/>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0" name="TextBox 39">
              <a:extLst>
                <a:ext uri="{FF2B5EF4-FFF2-40B4-BE49-F238E27FC236}">
                  <a16:creationId xmlns:a16="http://schemas.microsoft.com/office/drawing/2014/main" id="{99973177-B2A7-4F3A-8A69-F2635BF915C8}"/>
                </a:ext>
              </a:extLst>
            </p:cNvPr>
            <p:cNvSpPr txBox="1"/>
            <p:nvPr/>
          </p:nvSpPr>
          <p:spPr>
            <a:xfrm>
              <a:off x="3688556" y="4538953"/>
              <a:ext cx="690562" cy="400110"/>
            </a:xfrm>
            <a:prstGeom prst="rect">
              <a:avLst/>
            </a:prstGeom>
            <a:noFill/>
          </p:spPr>
          <p:txBody>
            <a:bodyPr wrap="square" rtlCol="0">
              <a:spAutoFit/>
            </a:bodyPr>
            <a:lstStyle/>
            <a:p>
              <a:endParaRPr lang="el-GR" sz="2000" dirty="0"/>
            </a:p>
          </p:txBody>
        </p:sp>
      </p:grpSp>
      <p:sp>
        <p:nvSpPr>
          <p:cNvPr id="23" name="TextBox 22">
            <a:extLst>
              <a:ext uri="{FF2B5EF4-FFF2-40B4-BE49-F238E27FC236}">
                <a16:creationId xmlns:a16="http://schemas.microsoft.com/office/drawing/2014/main" id="{0D3E52CD-94B5-4F36-9459-0BB75EC1AB24}"/>
              </a:ext>
            </a:extLst>
          </p:cNvPr>
          <p:cNvSpPr txBox="1"/>
          <p:nvPr/>
        </p:nvSpPr>
        <p:spPr>
          <a:xfrm>
            <a:off x="1914525" y="2037337"/>
            <a:ext cx="4431170" cy="1391663"/>
          </a:xfrm>
          <a:prstGeom prst="rect">
            <a:avLst/>
          </a:prstGeom>
          <a:noFill/>
        </p:spPr>
        <p:txBody>
          <a:bodyPr wrap="square">
            <a:spAutoFit/>
          </a:bodyPr>
          <a:lstStyle/>
          <a:p>
            <a:pPr>
              <a:lnSpc>
                <a:spcPct val="107000"/>
              </a:lnSpc>
              <a:spcAft>
                <a:spcPts val="800"/>
              </a:spcAft>
            </a:pPr>
            <a:r>
              <a:rPr lang="en-US" sz="2000" dirty="0">
                <a:latin typeface="Comic Sans MS" panose="030F0702030302020204" pitchFamily="66" charset="0"/>
              </a:rPr>
              <a:t>The Pythagoreans also believed in the “harmony of the spheres,” meaning that the movements of the planets follow a cosmic harmony.</a:t>
            </a:r>
            <a:endParaRPr lang="el-GR" sz="2000" dirty="0">
              <a:latin typeface="Comic Sans MS" panose="030F0702030302020204" pitchFamily="66" charset="0"/>
            </a:endParaRPr>
          </a:p>
        </p:txBody>
      </p:sp>
      <p:pic>
        <p:nvPicPr>
          <p:cNvPr id="3" name="Εικόνα 2">
            <a:extLst>
              <a:ext uri="{FF2B5EF4-FFF2-40B4-BE49-F238E27FC236}">
                <a16:creationId xmlns:a16="http://schemas.microsoft.com/office/drawing/2014/main" id="{159334A6-64B2-4172-A8C0-0C9F4227B19C}"/>
              </a:ext>
            </a:extLst>
          </p:cNvPr>
          <p:cNvPicPr>
            <a:picLocks noChangeAspect="1"/>
          </p:cNvPicPr>
          <p:nvPr/>
        </p:nvPicPr>
        <p:blipFill rotWithShape="1">
          <a:blip r:embed="rId10"/>
          <a:srcRect l="21177" t="544" r="22904" b="36448"/>
          <a:stretch/>
        </p:blipFill>
        <p:spPr>
          <a:xfrm>
            <a:off x="7959329" y="967336"/>
            <a:ext cx="2318146" cy="3656851"/>
          </a:xfrm>
          <a:prstGeom prst="rect">
            <a:avLst/>
          </a:prstGeom>
        </p:spPr>
      </p:pic>
      <p:pic>
        <p:nvPicPr>
          <p:cNvPr id="21" name="Γραφικό 20" descr="Μουσική με συμπαγές γέμισμα">
            <a:extLst>
              <a:ext uri="{FF2B5EF4-FFF2-40B4-BE49-F238E27FC236}">
                <a16:creationId xmlns:a16="http://schemas.microsoft.com/office/drawing/2014/main" id="{B7A80A44-8988-4BF8-8242-45E55FAFD50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36603" y="5266435"/>
            <a:ext cx="739914" cy="739914"/>
          </a:xfrm>
          <a:prstGeom prst="rect">
            <a:avLst/>
          </a:prstGeom>
        </p:spPr>
      </p:pic>
      <p:sp>
        <p:nvSpPr>
          <p:cNvPr id="22" name="TextBox 21">
            <a:extLst>
              <a:ext uri="{FF2B5EF4-FFF2-40B4-BE49-F238E27FC236}">
                <a16:creationId xmlns:a16="http://schemas.microsoft.com/office/drawing/2014/main" id="{D1CF3EBD-5D9A-40E4-BFB4-C6781DEA9873}"/>
              </a:ext>
            </a:extLst>
          </p:cNvPr>
          <p:cNvSpPr txBox="1"/>
          <p:nvPr/>
        </p:nvSpPr>
        <p:spPr>
          <a:xfrm>
            <a:off x="5172801" y="6067445"/>
            <a:ext cx="1103449" cy="707886"/>
          </a:xfrm>
          <a:prstGeom prst="rect">
            <a:avLst/>
          </a:prstGeom>
          <a:noFill/>
        </p:spPr>
        <p:txBody>
          <a:bodyPr wrap="square" rtlCol="0">
            <a:spAutoFit/>
          </a:bodyPr>
          <a:lstStyle/>
          <a:p>
            <a:r>
              <a:rPr lang="el-GR" sz="2000" b="1" dirty="0"/>
              <a:t>α</a:t>
            </a:r>
            <a:r>
              <a:rPr lang="el-GR" sz="2000" b="1" baseline="30000" dirty="0"/>
              <a:t>2</a:t>
            </a:r>
            <a:r>
              <a:rPr lang="el-GR" sz="2000" b="1" dirty="0"/>
              <a:t>+</a:t>
            </a:r>
            <a:r>
              <a:rPr lang="en-US" sz="2000" b="1" dirty="0"/>
              <a:t>b</a:t>
            </a:r>
            <a:r>
              <a:rPr lang="el-GR" sz="2000" b="1" baseline="30000" dirty="0"/>
              <a:t>2</a:t>
            </a:r>
            <a:r>
              <a:rPr lang="el-GR" sz="2000" b="1" dirty="0"/>
              <a:t>=</a:t>
            </a:r>
            <a:r>
              <a:rPr lang="en-US" sz="2000" b="1" dirty="0"/>
              <a:t>c</a:t>
            </a:r>
            <a:r>
              <a:rPr lang="el-GR" sz="2000" b="1" baseline="30000" dirty="0"/>
              <a:t>2</a:t>
            </a:r>
            <a:endParaRPr lang="en-US" sz="2000" b="1" dirty="0">
              <a:solidFill>
                <a:srgbClr val="181C1F"/>
              </a:solidFill>
              <a:effectLst/>
            </a:endParaRPr>
          </a:p>
          <a:p>
            <a:endParaRPr lang="el-GR" sz="2000" dirty="0"/>
          </a:p>
        </p:txBody>
      </p:sp>
      <p:grpSp>
        <p:nvGrpSpPr>
          <p:cNvPr id="24" name="Ομάδα 23">
            <a:extLst>
              <a:ext uri="{FF2B5EF4-FFF2-40B4-BE49-F238E27FC236}">
                <a16:creationId xmlns:a16="http://schemas.microsoft.com/office/drawing/2014/main" id="{6FBF43EB-E5E6-4E8E-995D-EE057F5C9DFE}"/>
              </a:ext>
            </a:extLst>
          </p:cNvPr>
          <p:cNvGrpSpPr/>
          <p:nvPr/>
        </p:nvGrpSpPr>
        <p:grpSpPr>
          <a:xfrm>
            <a:off x="3638549" y="5863518"/>
            <a:ext cx="914400" cy="914400"/>
            <a:chOff x="3589733" y="4435696"/>
            <a:chExt cx="914400" cy="914400"/>
          </a:xfrm>
        </p:grpSpPr>
        <p:sp>
          <p:nvSpPr>
            <p:cNvPr id="25" name="Ορθογώνιο 24">
              <a:extLst>
                <a:ext uri="{FF2B5EF4-FFF2-40B4-BE49-F238E27FC236}">
                  <a16:creationId xmlns:a16="http://schemas.microsoft.com/office/drawing/2014/main" id="{21CB92DE-3A50-49AF-A8D8-E35DDAAE5100}"/>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Comic Sans MS" panose="030F0702030302020204" pitchFamily="66" charset="0"/>
              </a:endParaRPr>
            </a:p>
          </p:txBody>
        </p:sp>
        <p:sp>
          <p:nvSpPr>
            <p:cNvPr id="26" name="TextBox 25">
              <a:extLst>
                <a:ext uri="{FF2B5EF4-FFF2-40B4-BE49-F238E27FC236}">
                  <a16:creationId xmlns:a16="http://schemas.microsoft.com/office/drawing/2014/main" id="{BE97BC5D-97B5-499F-8DFA-4442472D5B6D}"/>
                </a:ext>
              </a:extLst>
            </p:cNvPr>
            <p:cNvSpPr txBox="1"/>
            <p:nvPr/>
          </p:nvSpPr>
          <p:spPr>
            <a:xfrm>
              <a:off x="3813570" y="4459824"/>
              <a:ext cx="466726" cy="707886"/>
            </a:xfrm>
            <a:prstGeom prst="rect">
              <a:avLst/>
            </a:prstGeom>
            <a:noFill/>
          </p:spPr>
          <p:txBody>
            <a:bodyPr wrap="square" rtlCol="0">
              <a:spAutoFit/>
            </a:bodyPr>
            <a:lstStyle/>
            <a:p>
              <a:r>
                <a:rPr lang="en-US" sz="4000" b="1" dirty="0">
                  <a:ea typeface="Segoe UI Symbol" panose="020B0502040204020203" pitchFamily="34" charset="0"/>
                </a:rPr>
                <a:t>ℝ</a:t>
              </a:r>
              <a:endParaRPr lang="el-GR" sz="4000" dirty="0"/>
            </a:p>
          </p:txBody>
        </p:sp>
      </p:grpSp>
    </p:spTree>
    <p:extLst>
      <p:ext uri="{BB962C8B-B14F-4D97-AF65-F5344CB8AC3E}">
        <p14:creationId xmlns:p14="http://schemas.microsoft.com/office/powerpoint/2010/main" val="1344099690"/>
      </p:ext>
    </p:extLst>
  </p:cSld>
  <p:clrMapOvr>
    <a:masterClrMapping/>
  </p:clrMapOvr>
  <mc:AlternateContent xmlns:mc="http://schemas.openxmlformats.org/markup-compatibility/2006" xmlns:p14="http://schemas.microsoft.com/office/powerpoint/2010/main">
    <mc:Choice Requires="p14">
      <p:transition spd="slow" p14:dur="1250" advClick="0" advTm="8000">
        <p14:switch dir="r"/>
      </p:transition>
    </mc:Choice>
    <mc:Fallback xmlns="">
      <p:transition spd="slow" advClick="0" advTm="8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down)">
                                      <p:cBhvr>
                                        <p:cTn id="7" dur="1500"/>
                                        <p:tgtEl>
                                          <p:spTgt spid="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65000">
              <a:srgbClr val="939393"/>
            </a:gs>
            <a:gs pos="0">
              <a:schemeClr val="bg1"/>
            </a:gs>
            <a:gs pos="100000">
              <a:schemeClr val="accent1">
                <a:lumMod val="60000"/>
                <a:lumOff val="40000"/>
              </a:schemeClr>
            </a:gs>
          </a:gsLst>
          <a:lin ang="2700000" scaled="1"/>
          <a:tileRect/>
        </a:gradFill>
        <a:effectLst/>
      </p:bgPr>
    </p:bg>
    <p:spTree>
      <p:nvGrpSpPr>
        <p:cNvPr id="1" name=""/>
        <p:cNvGrpSpPr/>
        <p:nvPr/>
      </p:nvGrpSpPr>
      <p:grpSpPr>
        <a:xfrm>
          <a:off x="0" y="0"/>
          <a:ext cx="0" cy="0"/>
          <a:chOff x="0" y="0"/>
          <a:chExt cx="0" cy="0"/>
        </a:xfrm>
      </p:grpSpPr>
      <p:sp>
        <p:nvSpPr>
          <p:cNvPr id="35" name="Ορθογώνιο 34">
            <a:extLst>
              <a:ext uri="{FF2B5EF4-FFF2-40B4-BE49-F238E27FC236}">
                <a16:creationId xmlns:a16="http://schemas.microsoft.com/office/drawing/2014/main" id="{536B0609-998B-409C-A696-DA89A002F6EC}"/>
              </a:ext>
            </a:extLst>
          </p:cNvPr>
          <p:cNvSpPr/>
          <p:nvPr/>
        </p:nvSpPr>
        <p:spPr>
          <a:xfrm>
            <a:off x="0" y="5619750"/>
            <a:ext cx="12192000" cy="1238250"/>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shape">
              <a:fillToRect l="50000" t="50000" r="50000" b="50000"/>
            </a:path>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l-GR"/>
          </a:p>
        </p:txBody>
      </p:sp>
      <p:pic>
        <p:nvPicPr>
          <p:cNvPr id="36" name="Γραφικό 35" descr="Atom με συμπαγές γέμισμα">
            <a:extLst>
              <a:ext uri="{FF2B5EF4-FFF2-40B4-BE49-F238E27FC236}">
                <a16:creationId xmlns:a16="http://schemas.microsoft.com/office/drawing/2014/main" id="{D58AA033-F200-448C-9920-1D29A46DD0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850" y="5804600"/>
            <a:ext cx="895350" cy="895350"/>
          </a:xfrm>
          <a:prstGeom prst="rect">
            <a:avLst/>
          </a:prstGeom>
        </p:spPr>
      </p:pic>
      <p:pic>
        <p:nvPicPr>
          <p:cNvPr id="43" name="Γραφικό 42" descr="Εγκέφαλος με συμπαγές γέμισμα">
            <a:extLst>
              <a:ext uri="{FF2B5EF4-FFF2-40B4-BE49-F238E27FC236}">
                <a16:creationId xmlns:a16="http://schemas.microsoft.com/office/drawing/2014/main" id="{F22F94F9-60B6-455F-A223-DAE4935DCEB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389393" y="5781674"/>
            <a:ext cx="914400" cy="914400"/>
          </a:xfrm>
          <a:prstGeom prst="rect">
            <a:avLst/>
          </a:prstGeom>
        </p:spPr>
      </p:pic>
      <p:pic>
        <p:nvPicPr>
          <p:cNvPr id="47" name="Γραφικό 46" descr="Φιάλη με συμπαγές γέμισμα">
            <a:extLst>
              <a:ext uri="{FF2B5EF4-FFF2-40B4-BE49-F238E27FC236}">
                <a16:creationId xmlns:a16="http://schemas.microsoft.com/office/drawing/2014/main" id="{7265EA4F-20DE-4E70-8F0B-7960909D70E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14525" y="5703092"/>
            <a:ext cx="914400" cy="914400"/>
          </a:xfrm>
          <a:prstGeom prst="rect">
            <a:avLst/>
          </a:prstGeom>
        </p:spPr>
      </p:pic>
      <p:grpSp>
        <p:nvGrpSpPr>
          <p:cNvPr id="44" name="Ομάδα 43">
            <a:extLst>
              <a:ext uri="{FF2B5EF4-FFF2-40B4-BE49-F238E27FC236}">
                <a16:creationId xmlns:a16="http://schemas.microsoft.com/office/drawing/2014/main" id="{1D93DC2A-A7C3-4BD2-B8AF-75BFC5D9FC49}"/>
              </a:ext>
            </a:extLst>
          </p:cNvPr>
          <p:cNvGrpSpPr/>
          <p:nvPr/>
        </p:nvGrpSpPr>
        <p:grpSpPr>
          <a:xfrm>
            <a:off x="8468394" y="5012246"/>
            <a:ext cx="1238250" cy="1238250"/>
            <a:chOff x="1943100" y="1657350"/>
            <a:chExt cx="1238250" cy="1238250"/>
          </a:xfrm>
          <a:gradFill>
            <a:gsLst>
              <a:gs pos="0">
                <a:schemeClr val="accent3">
                  <a:lumMod val="67000"/>
                </a:schemeClr>
              </a:gs>
              <a:gs pos="48000">
                <a:schemeClr val="accent3">
                  <a:lumMod val="97000"/>
                  <a:lumOff val="3000"/>
                </a:schemeClr>
              </a:gs>
              <a:gs pos="100000">
                <a:schemeClr val="accent3">
                  <a:lumMod val="60000"/>
                  <a:lumOff val="40000"/>
                </a:schemeClr>
              </a:gs>
            </a:gsLst>
            <a:lin ang="16200000" scaled="1"/>
          </a:gradFill>
        </p:grpSpPr>
        <p:sp>
          <p:nvSpPr>
            <p:cNvPr id="45" name="Οβάλ 44">
              <a:extLst>
                <a:ext uri="{FF2B5EF4-FFF2-40B4-BE49-F238E27FC236}">
                  <a16:creationId xmlns:a16="http://schemas.microsoft.com/office/drawing/2014/main" id="{10C50DD8-1AAD-463B-8E08-583B7AA78C7B}"/>
                </a:ext>
              </a:extLst>
            </p:cNvPr>
            <p:cNvSpPr/>
            <p:nvPr/>
          </p:nvSpPr>
          <p:spPr>
            <a:xfrm>
              <a:off x="1943100" y="1657350"/>
              <a:ext cx="1238250" cy="123825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sp>
          <p:nvSpPr>
            <p:cNvPr id="46" name="Οβάλ 45">
              <a:extLst>
                <a:ext uri="{FF2B5EF4-FFF2-40B4-BE49-F238E27FC236}">
                  <a16:creationId xmlns:a16="http://schemas.microsoft.com/office/drawing/2014/main" id="{137837F8-87C7-4B2E-854A-9ADE625B0523}"/>
                </a:ext>
              </a:extLst>
            </p:cNvPr>
            <p:cNvSpPr/>
            <p:nvPr/>
          </p:nvSpPr>
          <p:spPr>
            <a:xfrm>
              <a:off x="2105025" y="1819275"/>
              <a:ext cx="914400" cy="9144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grpSp>
      <p:grpSp>
        <p:nvGrpSpPr>
          <p:cNvPr id="37" name="Ομάδα 36">
            <a:extLst>
              <a:ext uri="{FF2B5EF4-FFF2-40B4-BE49-F238E27FC236}">
                <a16:creationId xmlns:a16="http://schemas.microsoft.com/office/drawing/2014/main" id="{A3E189DD-0FBD-4E2B-85AE-78A0C618AFD9}"/>
              </a:ext>
            </a:extLst>
          </p:cNvPr>
          <p:cNvGrpSpPr/>
          <p:nvPr/>
        </p:nvGrpSpPr>
        <p:grpSpPr>
          <a:xfrm>
            <a:off x="5323810" y="5942267"/>
            <a:ext cx="914400" cy="914400"/>
            <a:chOff x="3589733" y="4435696"/>
            <a:chExt cx="914400" cy="914400"/>
          </a:xfrm>
        </p:grpSpPr>
        <p:sp>
          <p:nvSpPr>
            <p:cNvPr id="39" name="Ορθογώνιο 38">
              <a:extLst>
                <a:ext uri="{FF2B5EF4-FFF2-40B4-BE49-F238E27FC236}">
                  <a16:creationId xmlns:a16="http://schemas.microsoft.com/office/drawing/2014/main" id="{34F0FBD5-8C5E-43F4-BF9A-C93F5E49409C}"/>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0" name="TextBox 39">
              <a:extLst>
                <a:ext uri="{FF2B5EF4-FFF2-40B4-BE49-F238E27FC236}">
                  <a16:creationId xmlns:a16="http://schemas.microsoft.com/office/drawing/2014/main" id="{99973177-B2A7-4F3A-8A69-F2635BF915C8}"/>
                </a:ext>
              </a:extLst>
            </p:cNvPr>
            <p:cNvSpPr txBox="1"/>
            <p:nvPr/>
          </p:nvSpPr>
          <p:spPr>
            <a:xfrm>
              <a:off x="3688556" y="4538953"/>
              <a:ext cx="690562" cy="400110"/>
            </a:xfrm>
            <a:prstGeom prst="rect">
              <a:avLst/>
            </a:prstGeom>
            <a:noFill/>
          </p:spPr>
          <p:txBody>
            <a:bodyPr wrap="square" rtlCol="0">
              <a:spAutoFit/>
            </a:bodyPr>
            <a:lstStyle/>
            <a:p>
              <a:endParaRPr lang="el-GR" sz="2000" dirty="0"/>
            </a:p>
          </p:txBody>
        </p:sp>
      </p:grpSp>
      <p:sp>
        <p:nvSpPr>
          <p:cNvPr id="17" name="TextBox 16">
            <a:extLst>
              <a:ext uri="{FF2B5EF4-FFF2-40B4-BE49-F238E27FC236}">
                <a16:creationId xmlns:a16="http://schemas.microsoft.com/office/drawing/2014/main" id="{136578E6-0E44-41FB-A9A6-2AF46756450E}"/>
              </a:ext>
            </a:extLst>
          </p:cNvPr>
          <p:cNvSpPr txBox="1"/>
          <p:nvPr/>
        </p:nvSpPr>
        <p:spPr>
          <a:xfrm>
            <a:off x="741761" y="240508"/>
            <a:ext cx="10052305" cy="559384"/>
          </a:xfrm>
          <a:prstGeom prst="rect">
            <a:avLst/>
          </a:prstGeom>
          <a:noFill/>
        </p:spPr>
        <p:txBody>
          <a:bodyPr wrap="square">
            <a:spAutoFit/>
          </a:bodyPr>
          <a:lstStyle/>
          <a:p>
            <a:pPr algn="ctr">
              <a:lnSpc>
                <a:spcPct val="107000"/>
              </a:lnSpc>
              <a:spcAft>
                <a:spcPts val="800"/>
              </a:spcAft>
            </a:pPr>
            <a:r>
              <a:rPr lang="en-US" sz="3000" b="1" dirty="0">
                <a:latin typeface="Comic Sans MS" panose="030F0702030302020204" pitchFamily="66" charset="0"/>
              </a:rPr>
              <a:t>The End of Pythagoras</a:t>
            </a:r>
            <a:endParaRPr lang="el-GR" sz="3000" dirty="0">
              <a:latin typeface="Comic Sans MS" panose="030F0702030302020204" pitchFamily="66" charset="0"/>
            </a:endParaRPr>
          </a:p>
        </p:txBody>
      </p:sp>
      <p:pic>
        <p:nvPicPr>
          <p:cNvPr id="41" name="Γραφικό 40" descr="Μουσική με συμπαγές γέμισμα">
            <a:extLst>
              <a:ext uri="{FF2B5EF4-FFF2-40B4-BE49-F238E27FC236}">
                <a16:creationId xmlns:a16="http://schemas.microsoft.com/office/drawing/2014/main" id="{DF335AF6-E5F7-46B9-841E-57FA9B2E6C8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896102" y="5749786"/>
            <a:ext cx="914400" cy="914400"/>
          </a:xfrm>
          <a:prstGeom prst="rect">
            <a:avLst/>
          </a:prstGeom>
        </p:spPr>
      </p:pic>
      <p:sp>
        <p:nvSpPr>
          <p:cNvPr id="19" name="TextBox 18">
            <a:extLst>
              <a:ext uri="{FF2B5EF4-FFF2-40B4-BE49-F238E27FC236}">
                <a16:creationId xmlns:a16="http://schemas.microsoft.com/office/drawing/2014/main" id="{F830B2B2-6324-42EC-9A87-813087222DA9}"/>
              </a:ext>
            </a:extLst>
          </p:cNvPr>
          <p:cNvSpPr txBox="1"/>
          <p:nvPr/>
        </p:nvSpPr>
        <p:spPr>
          <a:xfrm>
            <a:off x="1219200" y="2225463"/>
            <a:ext cx="5884535" cy="1631216"/>
          </a:xfrm>
          <a:prstGeom prst="rect">
            <a:avLst/>
          </a:prstGeom>
          <a:noFill/>
        </p:spPr>
        <p:txBody>
          <a:bodyPr wrap="square">
            <a:spAutoFit/>
          </a:bodyPr>
          <a:lstStyle/>
          <a:p>
            <a:r>
              <a:rPr lang="en-US" sz="2000" dirty="0">
                <a:latin typeface="Comic Sans MS" panose="030F0702030302020204" pitchFamily="66" charset="0"/>
              </a:rPr>
              <a:t>Pythagoras died around 495 BC.</a:t>
            </a:r>
          </a:p>
          <a:p>
            <a:endParaRPr lang="en-US" sz="2000" dirty="0">
              <a:latin typeface="Comic Sans MS" panose="030F0702030302020204" pitchFamily="66" charset="0"/>
            </a:endParaRPr>
          </a:p>
          <a:p>
            <a:r>
              <a:rPr lang="en-US" sz="2000" dirty="0">
                <a:latin typeface="Comic Sans MS" panose="030F0702030302020204" pitchFamily="66" charset="0"/>
              </a:rPr>
              <a:t>Despite his death, his ideas continued to influence philosophy, mathematics, and science for many centuries.</a:t>
            </a:r>
            <a:endParaRPr lang="el-GR" sz="2000" dirty="0">
              <a:latin typeface="Comic Sans MS" panose="030F0702030302020204" pitchFamily="66" charset="0"/>
            </a:endParaRPr>
          </a:p>
        </p:txBody>
      </p:sp>
      <p:pic>
        <p:nvPicPr>
          <p:cNvPr id="42" name="Γραφικό 41" descr="Νεκροκεφαλή με συμπαγές γέμισμα">
            <a:extLst>
              <a:ext uri="{FF2B5EF4-FFF2-40B4-BE49-F238E27FC236}">
                <a16:creationId xmlns:a16="http://schemas.microsoft.com/office/drawing/2014/main" id="{8630A6A2-D9EC-4E30-B2D9-A7A8EE76C6F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642748" y="5186391"/>
            <a:ext cx="914400" cy="914400"/>
          </a:xfrm>
          <a:prstGeom prst="rect">
            <a:avLst/>
          </a:prstGeom>
        </p:spPr>
      </p:pic>
      <p:pic>
        <p:nvPicPr>
          <p:cNvPr id="16386" name="Picture 2" descr="Pythagoras | Biography, Philosophy, &amp; Facts | Britannica">
            <a:extLst>
              <a:ext uri="{FF2B5EF4-FFF2-40B4-BE49-F238E27FC236}">
                <a16:creationId xmlns:a16="http://schemas.microsoft.com/office/drawing/2014/main" id="{811E728A-8982-4140-BEAE-D0FEC04BE4B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927474" y="1298583"/>
            <a:ext cx="2320090" cy="3484975"/>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0B1312FC-104B-4544-9004-20750E5E70EB}"/>
              </a:ext>
            </a:extLst>
          </p:cNvPr>
          <p:cNvSpPr txBox="1"/>
          <p:nvPr/>
        </p:nvSpPr>
        <p:spPr>
          <a:xfrm>
            <a:off x="5172801" y="6085029"/>
            <a:ext cx="1103449" cy="338554"/>
          </a:xfrm>
          <a:prstGeom prst="rect">
            <a:avLst/>
          </a:prstGeom>
          <a:noFill/>
        </p:spPr>
        <p:txBody>
          <a:bodyPr wrap="square" rtlCol="0">
            <a:spAutoFit/>
          </a:bodyPr>
          <a:lstStyle/>
          <a:p>
            <a:pPr algn="ctr"/>
            <a:r>
              <a:rPr lang="el-GR" sz="1600" b="1" dirty="0">
                <a:latin typeface="Comic Sans MS" panose="030F0702030302020204" pitchFamily="66" charset="0"/>
              </a:rPr>
              <a:t>α</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b</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c</a:t>
            </a:r>
            <a:r>
              <a:rPr lang="el-GR" sz="1600" b="1" baseline="30000" dirty="0">
                <a:latin typeface="Comic Sans MS" panose="030F0702030302020204" pitchFamily="66" charset="0"/>
              </a:rPr>
              <a:t>2</a:t>
            </a:r>
            <a:endParaRPr lang="el-GR" sz="2000" dirty="0">
              <a:latin typeface="Comic Sans MS" panose="030F0702030302020204" pitchFamily="66" charset="0"/>
            </a:endParaRPr>
          </a:p>
        </p:txBody>
      </p:sp>
      <p:grpSp>
        <p:nvGrpSpPr>
          <p:cNvPr id="21" name="Ομάδα 20">
            <a:extLst>
              <a:ext uri="{FF2B5EF4-FFF2-40B4-BE49-F238E27FC236}">
                <a16:creationId xmlns:a16="http://schemas.microsoft.com/office/drawing/2014/main" id="{107ABB59-7E17-4597-8567-B7DD8B9B6A60}"/>
              </a:ext>
            </a:extLst>
          </p:cNvPr>
          <p:cNvGrpSpPr/>
          <p:nvPr/>
        </p:nvGrpSpPr>
        <p:grpSpPr>
          <a:xfrm>
            <a:off x="3638549" y="5863518"/>
            <a:ext cx="914400" cy="914400"/>
            <a:chOff x="3589733" y="4435696"/>
            <a:chExt cx="914400" cy="914400"/>
          </a:xfrm>
        </p:grpSpPr>
        <p:sp>
          <p:nvSpPr>
            <p:cNvPr id="23" name="Ορθογώνιο 22">
              <a:extLst>
                <a:ext uri="{FF2B5EF4-FFF2-40B4-BE49-F238E27FC236}">
                  <a16:creationId xmlns:a16="http://schemas.microsoft.com/office/drawing/2014/main" id="{09A69CD5-5C5E-488E-9090-F8298E78A864}"/>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Comic Sans MS" panose="030F0702030302020204" pitchFamily="66" charset="0"/>
              </a:endParaRPr>
            </a:p>
          </p:txBody>
        </p:sp>
        <p:sp>
          <p:nvSpPr>
            <p:cNvPr id="24" name="TextBox 23">
              <a:extLst>
                <a:ext uri="{FF2B5EF4-FFF2-40B4-BE49-F238E27FC236}">
                  <a16:creationId xmlns:a16="http://schemas.microsoft.com/office/drawing/2014/main" id="{0978ABAE-933F-4173-8685-DAFD2CD76FBF}"/>
                </a:ext>
              </a:extLst>
            </p:cNvPr>
            <p:cNvSpPr txBox="1"/>
            <p:nvPr/>
          </p:nvSpPr>
          <p:spPr>
            <a:xfrm>
              <a:off x="3813570" y="4459824"/>
              <a:ext cx="466726" cy="707886"/>
            </a:xfrm>
            <a:prstGeom prst="rect">
              <a:avLst/>
            </a:prstGeom>
            <a:noFill/>
          </p:spPr>
          <p:txBody>
            <a:bodyPr wrap="square" rtlCol="0">
              <a:spAutoFit/>
            </a:bodyPr>
            <a:lstStyle/>
            <a:p>
              <a:r>
                <a:rPr lang="en-US" sz="4000" b="1" dirty="0">
                  <a:ea typeface="Segoe UI Symbol" panose="020B0502040204020203" pitchFamily="34" charset="0"/>
                </a:rPr>
                <a:t>ℝ</a:t>
              </a:r>
              <a:endParaRPr lang="el-GR" sz="4000" dirty="0"/>
            </a:p>
          </p:txBody>
        </p:sp>
      </p:grpSp>
    </p:spTree>
    <p:extLst>
      <p:ext uri="{BB962C8B-B14F-4D97-AF65-F5344CB8AC3E}">
        <p14:creationId xmlns:p14="http://schemas.microsoft.com/office/powerpoint/2010/main" val="4154203721"/>
      </p:ext>
    </p:extLst>
  </p:cSld>
  <p:clrMapOvr>
    <a:masterClrMapping/>
  </p:clrMapOvr>
  <mc:AlternateContent xmlns:mc="http://schemas.openxmlformats.org/markup-compatibility/2006" xmlns:p14="http://schemas.microsoft.com/office/powerpoint/2010/main">
    <mc:Choice Requires="p14">
      <p:transition spd="slow" p14:dur="1250" advClick="0" advTm="8000">
        <p14:switch dir="r"/>
      </p:transition>
    </mc:Choice>
    <mc:Fallback xmlns="">
      <p:transition spd="slow" advClick="0" advTm="8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par>
                                <p:cTn id="8" presetID="22" presetClass="entr" presetSubtype="4" fill="hold" nodeType="withEffect">
                                  <p:stCondLst>
                                    <p:cond delay="0"/>
                                  </p:stCondLst>
                                  <p:childTnLst>
                                    <p:set>
                                      <p:cBhvr>
                                        <p:cTn id="9" dur="1" fill="hold">
                                          <p:stCondLst>
                                            <p:cond delay="0"/>
                                          </p:stCondLst>
                                        </p:cTn>
                                        <p:tgtEl>
                                          <p:spTgt spid="16386"/>
                                        </p:tgtEl>
                                        <p:attrNameLst>
                                          <p:attrName>style.visibility</p:attrName>
                                        </p:attrNameLst>
                                      </p:cBhvr>
                                      <p:to>
                                        <p:strVal val="visible"/>
                                      </p:to>
                                    </p:set>
                                    <p:animEffect transition="in" filter="wipe(down)">
                                      <p:cBhvr>
                                        <p:cTn id="10" dur="1500"/>
                                        <p:tgtEl>
                                          <p:spTgt spid="1638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down)">
                                      <p:cBhvr>
                                        <p:cTn id="15" dur="1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65000">
              <a:srgbClr val="939393"/>
            </a:gs>
            <a:gs pos="0">
              <a:schemeClr val="bg1"/>
            </a:gs>
            <a:gs pos="100000">
              <a:schemeClr val="accent1">
                <a:lumMod val="60000"/>
                <a:lumOff val="40000"/>
              </a:schemeClr>
            </a:gs>
          </a:gsLst>
          <a:lin ang="2700000" scaled="1"/>
          <a:tileRect/>
        </a:gradFill>
        <a:effectLst/>
      </p:bgPr>
    </p:bg>
    <p:spTree>
      <p:nvGrpSpPr>
        <p:cNvPr id="1" name=""/>
        <p:cNvGrpSpPr/>
        <p:nvPr/>
      </p:nvGrpSpPr>
      <p:grpSpPr>
        <a:xfrm>
          <a:off x="0" y="0"/>
          <a:ext cx="0" cy="0"/>
          <a:chOff x="0" y="0"/>
          <a:chExt cx="0" cy="0"/>
        </a:xfrm>
      </p:grpSpPr>
      <p:sp>
        <p:nvSpPr>
          <p:cNvPr id="35" name="Ορθογώνιο 34">
            <a:extLst>
              <a:ext uri="{FF2B5EF4-FFF2-40B4-BE49-F238E27FC236}">
                <a16:creationId xmlns:a16="http://schemas.microsoft.com/office/drawing/2014/main" id="{536B0609-998B-409C-A696-DA89A002F6EC}"/>
              </a:ext>
            </a:extLst>
          </p:cNvPr>
          <p:cNvSpPr/>
          <p:nvPr/>
        </p:nvSpPr>
        <p:spPr>
          <a:xfrm>
            <a:off x="0" y="5619750"/>
            <a:ext cx="12192000" cy="1238250"/>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shape">
              <a:fillToRect l="50000" t="50000" r="50000" b="50000"/>
            </a:path>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l-GR"/>
          </a:p>
        </p:txBody>
      </p:sp>
      <p:pic>
        <p:nvPicPr>
          <p:cNvPr id="36" name="Γραφικό 35" descr="Atom με συμπαγές γέμισμα">
            <a:extLst>
              <a:ext uri="{FF2B5EF4-FFF2-40B4-BE49-F238E27FC236}">
                <a16:creationId xmlns:a16="http://schemas.microsoft.com/office/drawing/2014/main" id="{D58AA033-F200-448C-9920-1D29A46DD0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850" y="5804600"/>
            <a:ext cx="895350" cy="895350"/>
          </a:xfrm>
          <a:prstGeom prst="rect">
            <a:avLst/>
          </a:prstGeom>
        </p:spPr>
      </p:pic>
      <p:pic>
        <p:nvPicPr>
          <p:cNvPr id="47" name="Γραφικό 46" descr="Φιάλη με συμπαγές γέμισμα">
            <a:extLst>
              <a:ext uri="{FF2B5EF4-FFF2-40B4-BE49-F238E27FC236}">
                <a16:creationId xmlns:a16="http://schemas.microsoft.com/office/drawing/2014/main" id="{7265EA4F-20DE-4E70-8F0B-7960909D70E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14525" y="5703092"/>
            <a:ext cx="914400" cy="914400"/>
          </a:xfrm>
          <a:prstGeom prst="rect">
            <a:avLst/>
          </a:prstGeom>
        </p:spPr>
      </p:pic>
      <p:grpSp>
        <p:nvGrpSpPr>
          <p:cNvPr id="44" name="Ομάδα 43">
            <a:extLst>
              <a:ext uri="{FF2B5EF4-FFF2-40B4-BE49-F238E27FC236}">
                <a16:creationId xmlns:a16="http://schemas.microsoft.com/office/drawing/2014/main" id="{1D93DC2A-A7C3-4BD2-B8AF-75BFC5D9FC49}"/>
              </a:ext>
            </a:extLst>
          </p:cNvPr>
          <p:cNvGrpSpPr/>
          <p:nvPr/>
        </p:nvGrpSpPr>
        <p:grpSpPr>
          <a:xfrm>
            <a:off x="10255449" y="5012246"/>
            <a:ext cx="1238250" cy="1238250"/>
            <a:chOff x="1943100" y="1657350"/>
            <a:chExt cx="1238250" cy="1238250"/>
          </a:xfrm>
          <a:gradFill>
            <a:gsLst>
              <a:gs pos="0">
                <a:schemeClr val="accent3">
                  <a:lumMod val="67000"/>
                </a:schemeClr>
              </a:gs>
              <a:gs pos="48000">
                <a:schemeClr val="accent3">
                  <a:lumMod val="97000"/>
                  <a:lumOff val="3000"/>
                </a:schemeClr>
              </a:gs>
              <a:gs pos="100000">
                <a:schemeClr val="accent3">
                  <a:lumMod val="60000"/>
                  <a:lumOff val="40000"/>
                </a:schemeClr>
              </a:gs>
            </a:gsLst>
            <a:lin ang="16200000" scaled="1"/>
          </a:gradFill>
        </p:grpSpPr>
        <p:sp>
          <p:nvSpPr>
            <p:cNvPr id="45" name="Οβάλ 44">
              <a:extLst>
                <a:ext uri="{FF2B5EF4-FFF2-40B4-BE49-F238E27FC236}">
                  <a16:creationId xmlns:a16="http://schemas.microsoft.com/office/drawing/2014/main" id="{10C50DD8-1AAD-463B-8E08-583B7AA78C7B}"/>
                </a:ext>
              </a:extLst>
            </p:cNvPr>
            <p:cNvSpPr/>
            <p:nvPr/>
          </p:nvSpPr>
          <p:spPr>
            <a:xfrm>
              <a:off x="1943100" y="1657350"/>
              <a:ext cx="1238250" cy="123825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sp>
          <p:nvSpPr>
            <p:cNvPr id="46" name="Οβάλ 45">
              <a:extLst>
                <a:ext uri="{FF2B5EF4-FFF2-40B4-BE49-F238E27FC236}">
                  <a16:creationId xmlns:a16="http://schemas.microsoft.com/office/drawing/2014/main" id="{137837F8-87C7-4B2E-854A-9ADE625B0523}"/>
                </a:ext>
              </a:extLst>
            </p:cNvPr>
            <p:cNvSpPr/>
            <p:nvPr/>
          </p:nvSpPr>
          <p:spPr>
            <a:xfrm>
              <a:off x="2105025" y="1819275"/>
              <a:ext cx="914400" cy="9144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grpSp>
      <p:grpSp>
        <p:nvGrpSpPr>
          <p:cNvPr id="37" name="Ομάδα 36">
            <a:extLst>
              <a:ext uri="{FF2B5EF4-FFF2-40B4-BE49-F238E27FC236}">
                <a16:creationId xmlns:a16="http://schemas.microsoft.com/office/drawing/2014/main" id="{A3E189DD-0FBD-4E2B-85AE-78A0C618AFD9}"/>
              </a:ext>
            </a:extLst>
          </p:cNvPr>
          <p:cNvGrpSpPr/>
          <p:nvPr/>
        </p:nvGrpSpPr>
        <p:grpSpPr>
          <a:xfrm>
            <a:off x="5323810" y="5942267"/>
            <a:ext cx="914400" cy="914400"/>
            <a:chOff x="3589733" y="4435696"/>
            <a:chExt cx="914400" cy="914400"/>
          </a:xfrm>
        </p:grpSpPr>
        <p:sp>
          <p:nvSpPr>
            <p:cNvPr id="39" name="Ορθογώνιο 38">
              <a:extLst>
                <a:ext uri="{FF2B5EF4-FFF2-40B4-BE49-F238E27FC236}">
                  <a16:creationId xmlns:a16="http://schemas.microsoft.com/office/drawing/2014/main" id="{34F0FBD5-8C5E-43F4-BF9A-C93F5E49409C}"/>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0" name="TextBox 39">
              <a:extLst>
                <a:ext uri="{FF2B5EF4-FFF2-40B4-BE49-F238E27FC236}">
                  <a16:creationId xmlns:a16="http://schemas.microsoft.com/office/drawing/2014/main" id="{99973177-B2A7-4F3A-8A69-F2635BF915C8}"/>
                </a:ext>
              </a:extLst>
            </p:cNvPr>
            <p:cNvSpPr txBox="1"/>
            <p:nvPr/>
          </p:nvSpPr>
          <p:spPr>
            <a:xfrm>
              <a:off x="3688556" y="4538953"/>
              <a:ext cx="690562" cy="400110"/>
            </a:xfrm>
            <a:prstGeom prst="rect">
              <a:avLst/>
            </a:prstGeom>
            <a:noFill/>
          </p:spPr>
          <p:txBody>
            <a:bodyPr wrap="square" rtlCol="0">
              <a:spAutoFit/>
            </a:bodyPr>
            <a:lstStyle/>
            <a:p>
              <a:endParaRPr lang="el-GR" sz="2000" dirty="0"/>
            </a:p>
          </p:txBody>
        </p:sp>
      </p:grpSp>
      <p:sp>
        <p:nvSpPr>
          <p:cNvPr id="17" name="TextBox 16">
            <a:extLst>
              <a:ext uri="{FF2B5EF4-FFF2-40B4-BE49-F238E27FC236}">
                <a16:creationId xmlns:a16="http://schemas.microsoft.com/office/drawing/2014/main" id="{136578E6-0E44-41FB-A9A6-2AF46756450E}"/>
              </a:ext>
            </a:extLst>
          </p:cNvPr>
          <p:cNvSpPr txBox="1"/>
          <p:nvPr/>
        </p:nvSpPr>
        <p:spPr>
          <a:xfrm>
            <a:off x="827496" y="197795"/>
            <a:ext cx="10052305" cy="559384"/>
          </a:xfrm>
          <a:prstGeom prst="rect">
            <a:avLst/>
          </a:prstGeom>
          <a:noFill/>
        </p:spPr>
        <p:txBody>
          <a:bodyPr wrap="square">
            <a:spAutoFit/>
          </a:bodyPr>
          <a:lstStyle/>
          <a:p>
            <a:pPr algn="ctr">
              <a:lnSpc>
                <a:spcPct val="107000"/>
              </a:lnSpc>
              <a:spcAft>
                <a:spcPts val="800"/>
              </a:spcAft>
            </a:pPr>
            <a:r>
              <a:rPr lang="en-US" sz="3000" b="1" dirty="0">
                <a:latin typeface="Comic Sans MS" panose="030F0702030302020204" pitchFamily="66" charset="0"/>
              </a:rPr>
              <a:t>The Influence of Pythagoras</a:t>
            </a:r>
            <a:endParaRPr lang="el-GR" sz="3000" dirty="0">
              <a:latin typeface="Comic Sans MS" panose="030F0702030302020204" pitchFamily="66" charset="0"/>
            </a:endParaRPr>
          </a:p>
        </p:txBody>
      </p:sp>
      <p:pic>
        <p:nvPicPr>
          <p:cNvPr id="41" name="Γραφικό 40" descr="Μουσική με συμπαγές γέμισμα">
            <a:extLst>
              <a:ext uri="{FF2B5EF4-FFF2-40B4-BE49-F238E27FC236}">
                <a16:creationId xmlns:a16="http://schemas.microsoft.com/office/drawing/2014/main" id="{DF335AF6-E5F7-46B9-841E-57FA9B2E6C8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896102" y="5749786"/>
            <a:ext cx="914400" cy="914400"/>
          </a:xfrm>
          <a:prstGeom prst="rect">
            <a:avLst/>
          </a:prstGeom>
        </p:spPr>
      </p:pic>
      <p:sp>
        <p:nvSpPr>
          <p:cNvPr id="19" name="TextBox 18">
            <a:extLst>
              <a:ext uri="{FF2B5EF4-FFF2-40B4-BE49-F238E27FC236}">
                <a16:creationId xmlns:a16="http://schemas.microsoft.com/office/drawing/2014/main" id="{F830B2B2-6324-42EC-9A87-813087222DA9}"/>
              </a:ext>
            </a:extLst>
          </p:cNvPr>
          <p:cNvSpPr txBox="1"/>
          <p:nvPr/>
        </p:nvSpPr>
        <p:spPr>
          <a:xfrm>
            <a:off x="478346" y="1997839"/>
            <a:ext cx="4074603" cy="2862322"/>
          </a:xfrm>
          <a:prstGeom prst="rect">
            <a:avLst/>
          </a:prstGeom>
          <a:noFill/>
        </p:spPr>
        <p:txBody>
          <a:bodyPr wrap="square">
            <a:spAutoFit/>
          </a:bodyPr>
          <a:lstStyle/>
          <a:p>
            <a:r>
              <a:rPr lang="en-US" sz="2000" dirty="0">
                <a:latin typeface="Comic Sans MS" panose="030F0702030302020204" pitchFamily="66" charset="0"/>
              </a:rPr>
              <a:t>Pythagoras influenced important philosophers such as:</a:t>
            </a:r>
          </a:p>
          <a:p>
            <a:endParaRPr lang="el-GR" sz="2000" dirty="0">
              <a:latin typeface="Comic Sans MS" panose="030F0702030302020204" pitchFamily="66" charset="0"/>
            </a:endParaRPr>
          </a:p>
          <a:p>
            <a:pPr marL="285750" lvl="0" indent="-285750">
              <a:buFont typeface="Arial" panose="020B0604020202020204" pitchFamily="34" charset="0"/>
              <a:buChar char="•"/>
            </a:pPr>
            <a:r>
              <a:rPr lang="el-GR" sz="2000" dirty="0" err="1">
                <a:latin typeface="Comic Sans MS" panose="030F0702030302020204" pitchFamily="66" charset="0"/>
              </a:rPr>
              <a:t>Plato</a:t>
            </a:r>
            <a:r>
              <a:rPr lang="el-GR" sz="2000" dirty="0">
                <a:latin typeface="Comic Sans MS" panose="030F0702030302020204" pitchFamily="66" charset="0"/>
              </a:rPr>
              <a:t>,</a:t>
            </a:r>
          </a:p>
          <a:p>
            <a:pPr marL="285750" lvl="0" indent="-285750">
              <a:buFont typeface="Arial" panose="020B0604020202020204" pitchFamily="34" charset="0"/>
              <a:buChar char="•"/>
            </a:pPr>
            <a:endParaRPr lang="en-US" sz="2000" dirty="0">
              <a:latin typeface="Comic Sans MS" panose="030F0702030302020204" pitchFamily="66" charset="0"/>
            </a:endParaRPr>
          </a:p>
          <a:p>
            <a:pPr marL="285750" lvl="0" indent="-285750">
              <a:buFont typeface="Arial" panose="020B0604020202020204" pitchFamily="34" charset="0"/>
              <a:buChar char="•"/>
            </a:pPr>
            <a:r>
              <a:rPr lang="el-GR" sz="2000" dirty="0" err="1">
                <a:latin typeface="Comic Sans MS" panose="030F0702030302020204" pitchFamily="66" charset="0"/>
              </a:rPr>
              <a:t>Aristotle</a:t>
            </a:r>
            <a:r>
              <a:rPr lang="el-GR" sz="2000" dirty="0">
                <a:latin typeface="Comic Sans MS" panose="030F0702030302020204" pitchFamily="66" charset="0"/>
              </a:rPr>
              <a:t>,</a:t>
            </a:r>
          </a:p>
          <a:p>
            <a:pPr marL="285750" lvl="0" indent="-285750">
              <a:buFont typeface="Arial" panose="020B0604020202020204" pitchFamily="34" charset="0"/>
              <a:buChar char="•"/>
            </a:pPr>
            <a:endParaRPr lang="en-US" sz="2000" dirty="0">
              <a:latin typeface="Comic Sans MS" panose="030F0702030302020204" pitchFamily="66" charset="0"/>
            </a:endParaRPr>
          </a:p>
          <a:p>
            <a:pPr marL="285750" lvl="0" indent="-285750">
              <a:buFont typeface="Arial" panose="020B0604020202020204" pitchFamily="34" charset="0"/>
              <a:buChar char="•"/>
            </a:pPr>
            <a:r>
              <a:rPr lang="en-US" sz="2000" dirty="0">
                <a:latin typeface="Comic Sans MS" panose="030F0702030302020204" pitchFamily="66" charset="0"/>
              </a:rPr>
              <a:t>and later scientists and mathematicians.</a:t>
            </a:r>
            <a:endParaRPr lang="el-GR" sz="2000" dirty="0">
              <a:latin typeface="Comic Sans MS" panose="030F0702030302020204" pitchFamily="66" charset="0"/>
            </a:endParaRPr>
          </a:p>
        </p:txBody>
      </p:sp>
      <p:pic>
        <p:nvPicPr>
          <p:cNvPr id="42" name="Γραφικό 41" descr="Νεκροκεφαλή με συμπαγές γέμισμα">
            <a:extLst>
              <a:ext uri="{FF2B5EF4-FFF2-40B4-BE49-F238E27FC236}">
                <a16:creationId xmlns:a16="http://schemas.microsoft.com/office/drawing/2014/main" id="{8630A6A2-D9EC-4E30-B2D9-A7A8EE76C6F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642748" y="5749786"/>
            <a:ext cx="914400" cy="914400"/>
          </a:xfrm>
          <a:prstGeom prst="rect">
            <a:avLst/>
          </a:prstGeom>
        </p:spPr>
      </p:pic>
      <p:sp>
        <p:nvSpPr>
          <p:cNvPr id="20" name="TextBox 19">
            <a:extLst>
              <a:ext uri="{FF2B5EF4-FFF2-40B4-BE49-F238E27FC236}">
                <a16:creationId xmlns:a16="http://schemas.microsoft.com/office/drawing/2014/main" id="{351DBE26-A8E8-449E-97A6-7F8872B37E5B}"/>
              </a:ext>
            </a:extLst>
          </p:cNvPr>
          <p:cNvSpPr txBox="1"/>
          <p:nvPr/>
        </p:nvSpPr>
        <p:spPr>
          <a:xfrm>
            <a:off x="8552858" y="2559312"/>
            <a:ext cx="3160796" cy="1631216"/>
          </a:xfrm>
          <a:prstGeom prst="rect">
            <a:avLst/>
          </a:prstGeom>
          <a:noFill/>
        </p:spPr>
        <p:txBody>
          <a:bodyPr wrap="square">
            <a:spAutoFit/>
          </a:bodyPr>
          <a:lstStyle/>
          <a:p>
            <a:r>
              <a:rPr lang="en-US" sz="2000" dirty="0">
                <a:latin typeface="Comic Sans MS" panose="030F0702030302020204" pitchFamily="66" charset="0"/>
              </a:rPr>
              <a:t>The belief that nature can be explained through mathematical laws remains a basic principle of science today.</a:t>
            </a:r>
            <a:endParaRPr lang="el-GR" sz="2000" dirty="0">
              <a:latin typeface="Comic Sans MS" panose="030F0702030302020204" pitchFamily="66" charset="0"/>
            </a:endParaRPr>
          </a:p>
        </p:txBody>
      </p:sp>
      <p:pic>
        <p:nvPicPr>
          <p:cNvPr id="43" name="Γραφικό 42" descr="Εγκέφαλος με συμπαγές γέμισμα">
            <a:extLst>
              <a:ext uri="{FF2B5EF4-FFF2-40B4-BE49-F238E27FC236}">
                <a16:creationId xmlns:a16="http://schemas.microsoft.com/office/drawing/2014/main" id="{F22F94F9-60B6-455F-A223-DAE4935DCEB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417374" y="5186391"/>
            <a:ext cx="914400" cy="914400"/>
          </a:xfrm>
          <a:prstGeom prst="rect">
            <a:avLst/>
          </a:prstGeom>
        </p:spPr>
      </p:pic>
      <p:pic>
        <p:nvPicPr>
          <p:cNvPr id="5" name="Εικόνα 4">
            <a:extLst>
              <a:ext uri="{FF2B5EF4-FFF2-40B4-BE49-F238E27FC236}">
                <a16:creationId xmlns:a16="http://schemas.microsoft.com/office/drawing/2014/main" id="{D5DDEEBA-1C5C-4099-A385-81ECC4A9D0E7}"/>
              </a:ext>
            </a:extLst>
          </p:cNvPr>
          <p:cNvPicPr>
            <a:picLocks noChangeAspect="1"/>
          </p:cNvPicPr>
          <p:nvPr/>
        </p:nvPicPr>
        <p:blipFill>
          <a:blip r:embed="rId12"/>
          <a:stretch>
            <a:fillRect/>
          </a:stretch>
        </p:blipFill>
        <p:spPr>
          <a:xfrm>
            <a:off x="4822006" y="2524096"/>
            <a:ext cx="2908488" cy="1938992"/>
          </a:xfrm>
          <a:prstGeom prst="rect">
            <a:avLst/>
          </a:prstGeom>
        </p:spPr>
      </p:pic>
      <p:sp>
        <p:nvSpPr>
          <p:cNvPr id="22" name="TextBox 21">
            <a:extLst>
              <a:ext uri="{FF2B5EF4-FFF2-40B4-BE49-F238E27FC236}">
                <a16:creationId xmlns:a16="http://schemas.microsoft.com/office/drawing/2014/main" id="{DDC217DE-DBB8-4A8A-A2FB-07D78DA47C91}"/>
              </a:ext>
            </a:extLst>
          </p:cNvPr>
          <p:cNvSpPr txBox="1"/>
          <p:nvPr/>
        </p:nvSpPr>
        <p:spPr>
          <a:xfrm>
            <a:off x="5172801" y="6085029"/>
            <a:ext cx="1103449" cy="338554"/>
          </a:xfrm>
          <a:prstGeom prst="rect">
            <a:avLst/>
          </a:prstGeom>
          <a:noFill/>
        </p:spPr>
        <p:txBody>
          <a:bodyPr wrap="square" rtlCol="0">
            <a:spAutoFit/>
          </a:bodyPr>
          <a:lstStyle/>
          <a:p>
            <a:pPr algn="ctr"/>
            <a:r>
              <a:rPr lang="el-GR" sz="1600" b="1" dirty="0">
                <a:latin typeface="Comic Sans MS" panose="030F0702030302020204" pitchFamily="66" charset="0"/>
              </a:rPr>
              <a:t>α</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b</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c</a:t>
            </a:r>
            <a:r>
              <a:rPr lang="el-GR" sz="1600" b="1" baseline="30000" dirty="0">
                <a:latin typeface="Comic Sans MS" panose="030F0702030302020204" pitchFamily="66" charset="0"/>
              </a:rPr>
              <a:t>2</a:t>
            </a:r>
            <a:endParaRPr lang="el-GR" sz="2000" dirty="0">
              <a:latin typeface="Comic Sans MS" panose="030F0702030302020204" pitchFamily="66" charset="0"/>
            </a:endParaRPr>
          </a:p>
        </p:txBody>
      </p:sp>
      <p:grpSp>
        <p:nvGrpSpPr>
          <p:cNvPr id="23" name="Ομάδα 22">
            <a:extLst>
              <a:ext uri="{FF2B5EF4-FFF2-40B4-BE49-F238E27FC236}">
                <a16:creationId xmlns:a16="http://schemas.microsoft.com/office/drawing/2014/main" id="{4193FBE4-C534-46B0-B08F-8DDFD7E30A6C}"/>
              </a:ext>
            </a:extLst>
          </p:cNvPr>
          <p:cNvGrpSpPr/>
          <p:nvPr/>
        </p:nvGrpSpPr>
        <p:grpSpPr>
          <a:xfrm>
            <a:off x="3638549" y="5863518"/>
            <a:ext cx="914400" cy="914400"/>
            <a:chOff x="3589733" y="4435696"/>
            <a:chExt cx="914400" cy="914400"/>
          </a:xfrm>
        </p:grpSpPr>
        <p:sp>
          <p:nvSpPr>
            <p:cNvPr id="24" name="Ορθογώνιο 23">
              <a:extLst>
                <a:ext uri="{FF2B5EF4-FFF2-40B4-BE49-F238E27FC236}">
                  <a16:creationId xmlns:a16="http://schemas.microsoft.com/office/drawing/2014/main" id="{A9F59B30-4E7A-4104-BF7A-9757F35B19EF}"/>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Comic Sans MS" panose="030F0702030302020204" pitchFamily="66" charset="0"/>
              </a:endParaRPr>
            </a:p>
          </p:txBody>
        </p:sp>
        <p:sp>
          <p:nvSpPr>
            <p:cNvPr id="25" name="TextBox 24">
              <a:extLst>
                <a:ext uri="{FF2B5EF4-FFF2-40B4-BE49-F238E27FC236}">
                  <a16:creationId xmlns:a16="http://schemas.microsoft.com/office/drawing/2014/main" id="{58CAE14A-4A10-4C1D-9108-972DDA6C7A84}"/>
                </a:ext>
              </a:extLst>
            </p:cNvPr>
            <p:cNvSpPr txBox="1"/>
            <p:nvPr/>
          </p:nvSpPr>
          <p:spPr>
            <a:xfrm>
              <a:off x="3813570" y="4459824"/>
              <a:ext cx="466726" cy="707886"/>
            </a:xfrm>
            <a:prstGeom prst="rect">
              <a:avLst/>
            </a:prstGeom>
            <a:noFill/>
          </p:spPr>
          <p:txBody>
            <a:bodyPr wrap="square" rtlCol="0">
              <a:spAutoFit/>
            </a:bodyPr>
            <a:lstStyle/>
            <a:p>
              <a:r>
                <a:rPr lang="en-US" sz="4000" b="1" dirty="0">
                  <a:ea typeface="Segoe UI Symbol" panose="020B0502040204020203" pitchFamily="34" charset="0"/>
                </a:rPr>
                <a:t>ℝ</a:t>
              </a:r>
              <a:endParaRPr lang="el-GR" sz="4000" dirty="0"/>
            </a:p>
          </p:txBody>
        </p:sp>
      </p:grpSp>
    </p:spTree>
    <p:extLst>
      <p:ext uri="{BB962C8B-B14F-4D97-AF65-F5344CB8AC3E}">
        <p14:creationId xmlns:p14="http://schemas.microsoft.com/office/powerpoint/2010/main" val="3254340499"/>
      </p:ext>
    </p:extLst>
  </p:cSld>
  <p:clrMapOvr>
    <a:masterClrMapping/>
  </p:clrMapOvr>
  <mc:AlternateContent xmlns:mc="http://schemas.openxmlformats.org/markup-compatibility/2006" xmlns:p14="http://schemas.microsoft.com/office/powerpoint/2010/main">
    <mc:Choice Requires="p14">
      <p:transition spd="slow" p14:dur="1250" advClick="0" advTm="8000">
        <p14:switch dir="r"/>
      </p:transition>
    </mc:Choice>
    <mc:Fallback xmlns="">
      <p:transition spd="slow" advClick="0" advTm="8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par>
                                <p:cTn id="8" presetID="22" presetClass="entr" presetSubtype="4"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1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down)">
                                      <p:cBhvr>
                                        <p:cTn id="15" dur="1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20">
                                            <p:txEl>
                                              <p:pRg st="0" end="0"/>
                                            </p:txEl>
                                          </p:spTgt>
                                        </p:tgtEl>
                                        <p:attrNameLst>
                                          <p:attrName>style.visibility</p:attrName>
                                        </p:attrNameLst>
                                      </p:cBhvr>
                                      <p:to>
                                        <p:strVal val="visible"/>
                                      </p:to>
                                    </p:set>
                                    <p:animEffect transition="in" filter="wipe(down)">
                                      <p:cBhvr>
                                        <p:cTn id="20" dur="1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flip="none" rotWithShape="1">
          <a:gsLst>
            <a:gs pos="65000">
              <a:srgbClr val="939393"/>
            </a:gs>
            <a:gs pos="0">
              <a:schemeClr val="bg1"/>
            </a:gs>
            <a:gs pos="100000">
              <a:schemeClr val="accent1">
                <a:lumMod val="60000"/>
                <a:lumOff val="40000"/>
              </a:schemeClr>
            </a:gs>
          </a:gsLst>
          <a:lin ang="2700000" scaled="1"/>
          <a:tileRect/>
        </a:gradFill>
        <a:effectLst/>
      </p:bgPr>
    </p:bg>
    <p:spTree>
      <p:nvGrpSpPr>
        <p:cNvPr id="1" name=""/>
        <p:cNvGrpSpPr/>
        <p:nvPr/>
      </p:nvGrpSpPr>
      <p:grpSpPr>
        <a:xfrm>
          <a:off x="0" y="0"/>
          <a:ext cx="0" cy="0"/>
          <a:chOff x="0" y="0"/>
          <a:chExt cx="0" cy="0"/>
        </a:xfrm>
      </p:grpSpPr>
      <p:sp>
        <p:nvSpPr>
          <p:cNvPr id="35" name="Ορθογώνιο 34">
            <a:extLst>
              <a:ext uri="{FF2B5EF4-FFF2-40B4-BE49-F238E27FC236}">
                <a16:creationId xmlns:a16="http://schemas.microsoft.com/office/drawing/2014/main" id="{536B0609-998B-409C-A696-DA89A002F6EC}"/>
              </a:ext>
            </a:extLst>
          </p:cNvPr>
          <p:cNvSpPr/>
          <p:nvPr/>
        </p:nvSpPr>
        <p:spPr>
          <a:xfrm>
            <a:off x="0" y="5622464"/>
            <a:ext cx="12192000" cy="1238250"/>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shape">
              <a:fillToRect l="50000" t="50000" r="50000" b="50000"/>
            </a:path>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l-GR"/>
          </a:p>
        </p:txBody>
      </p:sp>
      <p:pic>
        <p:nvPicPr>
          <p:cNvPr id="36" name="Γραφικό 35" descr="Atom με συμπαγές γέμισμα">
            <a:extLst>
              <a:ext uri="{FF2B5EF4-FFF2-40B4-BE49-F238E27FC236}">
                <a16:creationId xmlns:a16="http://schemas.microsoft.com/office/drawing/2014/main" id="{D58AA033-F200-448C-9920-1D29A46DD0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850" y="5804600"/>
            <a:ext cx="895350" cy="895350"/>
          </a:xfrm>
          <a:prstGeom prst="rect">
            <a:avLst/>
          </a:prstGeom>
        </p:spPr>
      </p:pic>
      <p:pic>
        <p:nvPicPr>
          <p:cNvPr id="47" name="Γραφικό 46" descr="Φιάλη με συμπαγές γέμισμα">
            <a:extLst>
              <a:ext uri="{FF2B5EF4-FFF2-40B4-BE49-F238E27FC236}">
                <a16:creationId xmlns:a16="http://schemas.microsoft.com/office/drawing/2014/main" id="{7265EA4F-20DE-4E70-8F0B-7960909D70E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14525" y="5703092"/>
            <a:ext cx="914400" cy="914400"/>
          </a:xfrm>
          <a:prstGeom prst="rect">
            <a:avLst/>
          </a:prstGeom>
        </p:spPr>
      </p:pic>
      <p:grpSp>
        <p:nvGrpSpPr>
          <p:cNvPr id="44" name="Ομάδα 43">
            <a:extLst>
              <a:ext uri="{FF2B5EF4-FFF2-40B4-BE49-F238E27FC236}">
                <a16:creationId xmlns:a16="http://schemas.microsoft.com/office/drawing/2014/main" id="{1D93DC2A-A7C3-4BD2-B8AF-75BFC5D9FC49}"/>
              </a:ext>
            </a:extLst>
          </p:cNvPr>
          <p:cNvGrpSpPr/>
          <p:nvPr/>
        </p:nvGrpSpPr>
        <p:grpSpPr>
          <a:xfrm>
            <a:off x="10255449" y="5012246"/>
            <a:ext cx="1238250" cy="1238250"/>
            <a:chOff x="1943100" y="1657350"/>
            <a:chExt cx="1238250" cy="1238250"/>
          </a:xfrm>
          <a:gradFill>
            <a:gsLst>
              <a:gs pos="0">
                <a:schemeClr val="accent3">
                  <a:lumMod val="67000"/>
                </a:schemeClr>
              </a:gs>
              <a:gs pos="48000">
                <a:schemeClr val="accent3">
                  <a:lumMod val="97000"/>
                  <a:lumOff val="3000"/>
                </a:schemeClr>
              </a:gs>
              <a:gs pos="100000">
                <a:schemeClr val="accent3">
                  <a:lumMod val="60000"/>
                  <a:lumOff val="40000"/>
                </a:schemeClr>
              </a:gs>
            </a:gsLst>
            <a:lin ang="16200000" scaled="1"/>
          </a:gradFill>
        </p:grpSpPr>
        <p:sp>
          <p:nvSpPr>
            <p:cNvPr id="45" name="Οβάλ 44">
              <a:extLst>
                <a:ext uri="{FF2B5EF4-FFF2-40B4-BE49-F238E27FC236}">
                  <a16:creationId xmlns:a16="http://schemas.microsoft.com/office/drawing/2014/main" id="{10C50DD8-1AAD-463B-8E08-583B7AA78C7B}"/>
                </a:ext>
              </a:extLst>
            </p:cNvPr>
            <p:cNvSpPr/>
            <p:nvPr/>
          </p:nvSpPr>
          <p:spPr>
            <a:xfrm>
              <a:off x="1943100" y="1657350"/>
              <a:ext cx="1238250" cy="123825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sp>
          <p:nvSpPr>
            <p:cNvPr id="46" name="Οβάλ 45">
              <a:extLst>
                <a:ext uri="{FF2B5EF4-FFF2-40B4-BE49-F238E27FC236}">
                  <a16:creationId xmlns:a16="http://schemas.microsoft.com/office/drawing/2014/main" id="{137837F8-87C7-4B2E-854A-9ADE625B0523}"/>
                </a:ext>
              </a:extLst>
            </p:cNvPr>
            <p:cNvSpPr/>
            <p:nvPr/>
          </p:nvSpPr>
          <p:spPr>
            <a:xfrm>
              <a:off x="2105025" y="1819275"/>
              <a:ext cx="914400" cy="9144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grpSp>
      <p:grpSp>
        <p:nvGrpSpPr>
          <p:cNvPr id="37" name="Ομάδα 36">
            <a:extLst>
              <a:ext uri="{FF2B5EF4-FFF2-40B4-BE49-F238E27FC236}">
                <a16:creationId xmlns:a16="http://schemas.microsoft.com/office/drawing/2014/main" id="{A3E189DD-0FBD-4E2B-85AE-78A0C618AFD9}"/>
              </a:ext>
            </a:extLst>
          </p:cNvPr>
          <p:cNvGrpSpPr/>
          <p:nvPr/>
        </p:nvGrpSpPr>
        <p:grpSpPr>
          <a:xfrm>
            <a:off x="5323810" y="5942267"/>
            <a:ext cx="914400" cy="914400"/>
            <a:chOff x="3589733" y="4435696"/>
            <a:chExt cx="914400" cy="914400"/>
          </a:xfrm>
        </p:grpSpPr>
        <p:sp>
          <p:nvSpPr>
            <p:cNvPr id="39" name="Ορθογώνιο 38">
              <a:extLst>
                <a:ext uri="{FF2B5EF4-FFF2-40B4-BE49-F238E27FC236}">
                  <a16:creationId xmlns:a16="http://schemas.microsoft.com/office/drawing/2014/main" id="{34F0FBD5-8C5E-43F4-BF9A-C93F5E49409C}"/>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0" name="TextBox 39">
              <a:extLst>
                <a:ext uri="{FF2B5EF4-FFF2-40B4-BE49-F238E27FC236}">
                  <a16:creationId xmlns:a16="http://schemas.microsoft.com/office/drawing/2014/main" id="{99973177-B2A7-4F3A-8A69-F2635BF915C8}"/>
                </a:ext>
              </a:extLst>
            </p:cNvPr>
            <p:cNvSpPr txBox="1"/>
            <p:nvPr/>
          </p:nvSpPr>
          <p:spPr>
            <a:xfrm>
              <a:off x="3688556" y="4538953"/>
              <a:ext cx="690562" cy="400110"/>
            </a:xfrm>
            <a:prstGeom prst="rect">
              <a:avLst/>
            </a:prstGeom>
            <a:noFill/>
          </p:spPr>
          <p:txBody>
            <a:bodyPr wrap="square" rtlCol="0">
              <a:spAutoFit/>
            </a:bodyPr>
            <a:lstStyle/>
            <a:p>
              <a:endParaRPr lang="el-GR" sz="2000" dirty="0"/>
            </a:p>
          </p:txBody>
        </p:sp>
      </p:grpSp>
      <p:pic>
        <p:nvPicPr>
          <p:cNvPr id="41" name="Γραφικό 40" descr="Μουσική με συμπαγές γέμισμα">
            <a:extLst>
              <a:ext uri="{FF2B5EF4-FFF2-40B4-BE49-F238E27FC236}">
                <a16:creationId xmlns:a16="http://schemas.microsoft.com/office/drawing/2014/main" id="{DF335AF6-E5F7-46B9-841E-57FA9B2E6C8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896102" y="5749786"/>
            <a:ext cx="914400" cy="914400"/>
          </a:xfrm>
          <a:prstGeom prst="rect">
            <a:avLst/>
          </a:prstGeom>
        </p:spPr>
      </p:pic>
      <p:pic>
        <p:nvPicPr>
          <p:cNvPr id="42" name="Γραφικό 41" descr="Νεκροκεφαλή με συμπαγές γέμισμα">
            <a:extLst>
              <a:ext uri="{FF2B5EF4-FFF2-40B4-BE49-F238E27FC236}">
                <a16:creationId xmlns:a16="http://schemas.microsoft.com/office/drawing/2014/main" id="{8630A6A2-D9EC-4E30-B2D9-A7A8EE76C6F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642748" y="5749786"/>
            <a:ext cx="914400" cy="914400"/>
          </a:xfrm>
          <a:prstGeom prst="rect">
            <a:avLst/>
          </a:prstGeom>
        </p:spPr>
      </p:pic>
      <p:pic>
        <p:nvPicPr>
          <p:cNvPr id="43" name="Γραφικό 42" descr="Εγκέφαλος με συμπαγές γέμισμα">
            <a:extLst>
              <a:ext uri="{FF2B5EF4-FFF2-40B4-BE49-F238E27FC236}">
                <a16:creationId xmlns:a16="http://schemas.microsoft.com/office/drawing/2014/main" id="{F22F94F9-60B6-455F-A223-DAE4935DCEB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417374" y="5186391"/>
            <a:ext cx="914400" cy="914400"/>
          </a:xfrm>
          <a:prstGeom prst="rect">
            <a:avLst/>
          </a:prstGeom>
        </p:spPr>
      </p:pic>
      <p:sp>
        <p:nvSpPr>
          <p:cNvPr id="21" name="TextBox 20">
            <a:extLst>
              <a:ext uri="{FF2B5EF4-FFF2-40B4-BE49-F238E27FC236}">
                <a16:creationId xmlns:a16="http://schemas.microsoft.com/office/drawing/2014/main" id="{A1C29DEE-716D-4F73-8ED5-66318543D615}"/>
              </a:ext>
            </a:extLst>
          </p:cNvPr>
          <p:cNvSpPr txBox="1"/>
          <p:nvPr/>
        </p:nvSpPr>
        <p:spPr>
          <a:xfrm>
            <a:off x="1582733" y="1129300"/>
            <a:ext cx="3200284" cy="3477875"/>
          </a:xfrm>
          <a:prstGeom prst="rect">
            <a:avLst/>
          </a:prstGeom>
          <a:noFill/>
        </p:spPr>
        <p:txBody>
          <a:bodyPr wrap="square">
            <a:spAutoFit/>
          </a:bodyPr>
          <a:lstStyle/>
          <a:p>
            <a:r>
              <a:rPr lang="el-GR" sz="2000" dirty="0" err="1">
                <a:latin typeface="Comic Sans MS" panose="030F0702030302020204" pitchFamily="66" charset="0"/>
              </a:rPr>
              <a:t>His</a:t>
            </a:r>
            <a:r>
              <a:rPr lang="el-GR" sz="2000" dirty="0">
                <a:latin typeface="Comic Sans MS" panose="030F0702030302020204" pitchFamily="66" charset="0"/>
              </a:rPr>
              <a:t> </a:t>
            </a:r>
            <a:r>
              <a:rPr lang="el-GR" sz="2000" dirty="0" err="1">
                <a:latin typeface="Comic Sans MS" panose="030F0702030302020204" pitchFamily="66" charset="0"/>
              </a:rPr>
              <a:t>ideas</a:t>
            </a:r>
            <a:r>
              <a:rPr lang="el-GR" sz="2000" dirty="0">
                <a:latin typeface="Comic Sans MS" panose="030F0702030302020204" pitchFamily="66" charset="0"/>
              </a:rPr>
              <a:t> </a:t>
            </a:r>
            <a:r>
              <a:rPr lang="el-GR" sz="2000" dirty="0" err="1">
                <a:latin typeface="Comic Sans MS" panose="030F0702030302020204" pitchFamily="66" charset="0"/>
              </a:rPr>
              <a:t>also</a:t>
            </a:r>
            <a:r>
              <a:rPr lang="el-GR" sz="2000" dirty="0">
                <a:latin typeface="Comic Sans MS" panose="030F0702030302020204" pitchFamily="66" charset="0"/>
              </a:rPr>
              <a:t> </a:t>
            </a:r>
            <a:r>
              <a:rPr lang="el-GR" sz="2000" dirty="0" err="1">
                <a:latin typeface="Comic Sans MS" panose="030F0702030302020204" pitchFamily="66" charset="0"/>
              </a:rPr>
              <a:t>influenced</a:t>
            </a:r>
            <a:r>
              <a:rPr lang="el-GR" sz="2000" dirty="0">
                <a:latin typeface="Comic Sans MS" panose="030F0702030302020204" pitchFamily="66" charset="0"/>
              </a:rPr>
              <a:t>:</a:t>
            </a:r>
            <a:endParaRPr lang="en-US" sz="2000" dirty="0">
              <a:latin typeface="Comic Sans MS" panose="030F0702030302020204" pitchFamily="66" charset="0"/>
            </a:endParaRPr>
          </a:p>
          <a:p>
            <a:endParaRPr lang="el-GR" sz="2000" dirty="0">
              <a:latin typeface="Comic Sans MS" panose="030F0702030302020204" pitchFamily="66" charset="0"/>
            </a:endParaRPr>
          </a:p>
          <a:p>
            <a:pPr marL="342900" lvl="0" indent="-342900">
              <a:buFont typeface="Arial" panose="020B0604020202020204" pitchFamily="34" charset="0"/>
              <a:buChar char="•"/>
            </a:pPr>
            <a:r>
              <a:rPr lang="el-GR" sz="2000" dirty="0" err="1">
                <a:latin typeface="Comic Sans MS" panose="030F0702030302020204" pitchFamily="66" charset="0"/>
              </a:rPr>
              <a:t>geometry</a:t>
            </a:r>
            <a:r>
              <a:rPr lang="el-GR" sz="2000" dirty="0">
                <a:latin typeface="Comic Sans MS" panose="030F0702030302020204" pitchFamily="66" charset="0"/>
              </a:rPr>
              <a:t>,</a:t>
            </a:r>
          </a:p>
          <a:p>
            <a:pPr marL="342900" lvl="0" indent="-342900">
              <a:buFont typeface="Arial" panose="020B0604020202020204" pitchFamily="34" charset="0"/>
              <a:buChar char="•"/>
            </a:pPr>
            <a:endParaRPr lang="en-US" sz="2000" dirty="0">
              <a:latin typeface="Comic Sans MS" panose="030F0702030302020204" pitchFamily="66" charset="0"/>
            </a:endParaRPr>
          </a:p>
          <a:p>
            <a:pPr marL="342900" lvl="0" indent="-342900">
              <a:buFont typeface="Arial" panose="020B0604020202020204" pitchFamily="34" charset="0"/>
              <a:buChar char="•"/>
            </a:pPr>
            <a:r>
              <a:rPr lang="el-GR" sz="2000" dirty="0" err="1">
                <a:latin typeface="Comic Sans MS" panose="030F0702030302020204" pitchFamily="66" charset="0"/>
              </a:rPr>
              <a:t>physics</a:t>
            </a:r>
            <a:r>
              <a:rPr lang="el-GR" sz="2000" dirty="0">
                <a:latin typeface="Comic Sans MS" panose="030F0702030302020204" pitchFamily="66" charset="0"/>
              </a:rPr>
              <a:t>,</a:t>
            </a:r>
          </a:p>
          <a:p>
            <a:pPr marL="342900" lvl="0" indent="-342900">
              <a:buFont typeface="Arial" panose="020B0604020202020204" pitchFamily="34" charset="0"/>
              <a:buChar char="•"/>
            </a:pPr>
            <a:endParaRPr lang="en-US" sz="2000" dirty="0">
              <a:latin typeface="Comic Sans MS" panose="030F0702030302020204" pitchFamily="66" charset="0"/>
            </a:endParaRPr>
          </a:p>
          <a:p>
            <a:pPr marL="342900" lvl="0" indent="-342900">
              <a:buFont typeface="Arial" panose="020B0604020202020204" pitchFamily="34" charset="0"/>
              <a:buChar char="•"/>
            </a:pPr>
            <a:r>
              <a:rPr lang="el-GR" sz="2000" dirty="0" err="1">
                <a:latin typeface="Comic Sans MS" panose="030F0702030302020204" pitchFamily="66" charset="0"/>
              </a:rPr>
              <a:t>music</a:t>
            </a:r>
            <a:r>
              <a:rPr lang="el-GR" sz="2000" dirty="0">
                <a:latin typeface="Comic Sans MS" panose="030F0702030302020204" pitchFamily="66" charset="0"/>
              </a:rPr>
              <a:t> </a:t>
            </a:r>
            <a:r>
              <a:rPr lang="el-GR" sz="2000" dirty="0" err="1">
                <a:latin typeface="Comic Sans MS" panose="030F0702030302020204" pitchFamily="66" charset="0"/>
              </a:rPr>
              <a:t>theory</a:t>
            </a:r>
            <a:r>
              <a:rPr lang="el-GR" sz="2000" dirty="0">
                <a:latin typeface="Comic Sans MS" panose="030F0702030302020204" pitchFamily="66" charset="0"/>
              </a:rPr>
              <a:t>,</a:t>
            </a:r>
          </a:p>
          <a:p>
            <a:pPr marL="342900" lvl="0" indent="-342900">
              <a:buFont typeface="Arial" panose="020B0604020202020204" pitchFamily="34" charset="0"/>
              <a:buChar char="•"/>
            </a:pPr>
            <a:endParaRPr lang="en-US" sz="2000" dirty="0">
              <a:latin typeface="Comic Sans MS" panose="030F0702030302020204" pitchFamily="66" charset="0"/>
            </a:endParaRPr>
          </a:p>
          <a:p>
            <a:pPr marL="342900" lvl="0" indent="-342900">
              <a:buFont typeface="Arial" panose="020B0604020202020204" pitchFamily="34" charset="0"/>
              <a:buChar char="•"/>
            </a:pPr>
            <a:r>
              <a:rPr lang="el-GR" sz="2000" dirty="0" err="1">
                <a:latin typeface="Comic Sans MS" panose="030F0702030302020204" pitchFamily="66" charset="0"/>
              </a:rPr>
              <a:t>astronomy</a:t>
            </a:r>
            <a:r>
              <a:rPr lang="el-GR" sz="2000" dirty="0">
                <a:latin typeface="Comic Sans MS" panose="030F0702030302020204" pitchFamily="66" charset="0"/>
              </a:rPr>
              <a:t>,</a:t>
            </a:r>
          </a:p>
          <a:p>
            <a:pPr marL="342900" lvl="0" indent="-342900">
              <a:buFont typeface="Arial" panose="020B0604020202020204" pitchFamily="34" charset="0"/>
              <a:buChar char="•"/>
            </a:pPr>
            <a:endParaRPr lang="en-US" sz="2000" dirty="0">
              <a:latin typeface="Comic Sans MS" panose="030F0702030302020204" pitchFamily="66" charset="0"/>
            </a:endParaRPr>
          </a:p>
          <a:p>
            <a:pPr marL="342900" lvl="0" indent="-342900">
              <a:buFont typeface="Arial" panose="020B0604020202020204" pitchFamily="34" charset="0"/>
              <a:buChar char="•"/>
            </a:pPr>
            <a:r>
              <a:rPr lang="el-GR" sz="2000" dirty="0" err="1">
                <a:latin typeface="Comic Sans MS" panose="030F0702030302020204" pitchFamily="66" charset="0"/>
              </a:rPr>
              <a:t>philosophy</a:t>
            </a:r>
            <a:r>
              <a:rPr lang="el-GR" sz="2000" dirty="0">
                <a:latin typeface="Comic Sans MS" panose="030F0702030302020204" pitchFamily="66" charset="0"/>
              </a:rPr>
              <a:t>.</a:t>
            </a:r>
          </a:p>
        </p:txBody>
      </p:sp>
      <p:pic>
        <p:nvPicPr>
          <p:cNvPr id="22" name="Picture 2" descr="Same Brain GIFs | Tenor">
            <a:extLst>
              <a:ext uri="{FF2B5EF4-FFF2-40B4-BE49-F238E27FC236}">
                <a16:creationId xmlns:a16="http://schemas.microsoft.com/office/drawing/2014/main" id="{710EA08C-EFD7-45EF-986C-B174101B312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flipH="1">
            <a:off x="5962792" y="1140546"/>
            <a:ext cx="4646475" cy="3294773"/>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8B37AB6A-753D-4206-A5D0-ED837B0C41A4}"/>
              </a:ext>
            </a:extLst>
          </p:cNvPr>
          <p:cNvSpPr txBox="1"/>
          <p:nvPr/>
        </p:nvSpPr>
        <p:spPr>
          <a:xfrm>
            <a:off x="5172801" y="6085029"/>
            <a:ext cx="1103449" cy="338554"/>
          </a:xfrm>
          <a:prstGeom prst="rect">
            <a:avLst/>
          </a:prstGeom>
          <a:noFill/>
        </p:spPr>
        <p:txBody>
          <a:bodyPr wrap="square" rtlCol="0">
            <a:spAutoFit/>
          </a:bodyPr>
          <a:lstStyle/>
          <a:p>
            <a:pPr algn="ctr"/>
            <a:r>
              <a:rPr lang="el-GR" sz="1600" b="1" dirty="0">
                <a:latin typeface="Comic Sans MS" panose="030F0702030302020204" pitchFamily="66" charset="0"/>
              </a:rPr>
              <a:t>α</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b</a:t>
            </a:r>
            <a:r>
              <a:rPr lang="el-GR" sz="1600" b="1" baseline="30000" dirty="0">
                <a:latin typeface="Comic Sans MS" panose="030F0702030302020204" pitchFamily="66" charset="0"/>
              </a:rPr>
              <a:t>2</a:t>
            </a:r>
            <a:r>
              <a:rPr lang="el-GR" sz="1600" b="1" dirty="0">
                <a:latin typeface="Comic Sans MS" panose="030F0702030302020204" pitchFamily="66" charset="0"/>
              </a:rPr>
              <a:t>=</a:t>
            </a:r>
            <a:r>
              <a:rPr lang="en-US" sz="1600" b="1" dirty="0">
                <a:latin typeface="Comic Sans MS" panose="030F0702030302020204" pitchFamily="66" charset="0"/>
              </a:rPr>
              <a:t>c</a:t>
            </a:r>
            <a:r>
              <a:rPr lang="el-GR" sz="1600" b="1" baseline="30000" dirty="0">
                <a:latin typeface="Comic Sans MS" panose="030F0702030302020204" pitchFamily="66" charset="0"/>
              </a:rPr>
              <a:t>2</a:t>
            </a:r>
            <a:endParaRPr lang="el-GR" sz="2000" dirty="0">
              <a:latin typeface="Comic Sans MS" panose="030F0702030302020204" pitchFamily="66" charset="0"/>
            </a:endParaRPr>
          </a:p>
        </p:txBody>
      </p:sp>
      <p:grpSp>
        <p:nvGrpSpPr>
          <p:cNvPr id="24" name="Ομάδα 23">
            <a:extLst>
              <a:ext uri="{FF2B5EF4-FFF2-40B4-BE49-F238E27FC236}">
                <a16:creationId xmlns:a16="http://schemas.microsoft.com/office/drawing/2014/main" id="{48407B07-DD2C-4926-926C-EC0180FE3576}"/>
              </a:ext>
            </a:extLst>
          </p:cNvPr>
          <p:cNvGrpSpPr/>
          <p:nvPr/>
        </p:nvGrpSpPr>
        <p:grpSpPr>
          <a:xfrm>
            <a:off x="3638549" y="5863518"/>
            <a:ext cx="914400" cy="914400"/>
            <a:chOff x="3589733" y="4435696"/>
            <a:chExt cx="914400" cy="914400"/>
          </a:xfrm>
        </p:grpSpPr>
        <p:sp>
          <p:nvSpPr>
            <p:cNvPr id="25" name="Ορθογώνιο 24">
              <a:extLst>
                <a:ext uri="{FF2B5EF4-FFF2-40B4-BE49-F238E27FC236}">
                  <a16:creationId xmlns:a16="http://schemas.microsoft.com/office/drawing/2014/main" id="{916DF66E-7250-4494-AA32-4241FBE1693E}"/>
                </a:ext>
              </a:extLst>
            </p:cNvPr>
            <p:cNvSpPr/>
            <p:nvPr/>
          </p:nvSpPr>
          <p:spPr>
            <a:xfrm>
              <a:off x="3589733" y="44356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Comic Sans MS" panose="030F0702030302020204" pitchFamily="66" charset="0"/>
              </a:endParaRPr>
            </a:p>
          </p:txBody>
        </p:sp>
        <p:sp>
          <p:nvSpPr>
            <p:cNvPr id="26" name="TextBox 25">
              <a:extLst>
                <a:ext uri="{FF2B5EF4-FFF2-40B4-BE49-F238E27FC236}">
                  <a16:creationId xmlns:a16="http://schemas.microsoft.com/office/drawing/2014/main" id="{01100041-1EE9-4B76-9D60-6BF65A2F3DB9}"/>
                </a:ext>
              </a:extLst>
            </p:cNvPr>
            <p:cNvSpPr txBox="1"/>
            <p:nvPr/>
          </p:nvSpPr>
          <p:spPr>
            <a:xfrm>
              <a:off x="3813570" y="4459824"/>
              <a:ext cx="466726" cy="707886"/>
            </a:xfrm>
            <a:prstGeom prst="rect">
              <a:avLst/>
            </a:prstGeom>
            <a:noFill/>
          </p:spPr>
          <p:txBody>
            <a:bodyPr wrap="square" rtlCol="0">
              <a:spAutoFit/>
            </a:bodyPr>
            <a:lstStyle/>
            <a:p>
              <a:r>
                <a:rPr lang="en-US" sz="4000" b="1" dirty="0">
                  <a:ea typeface="Segoe UI Symbol" panose="020B0502040204020203" pitchFamily="34" charset="0"/>
                </a:rPr>
                <a:t>ℝ</a:t>
              </a:r>
              <a:endParaRPr lang="el-GR" sz="4000" dirty="0"/>
            </a:p>
          </p:txBody>
        </p:sp>
      </p:grpSp>
    </p:spTree>
    <p:extLst>
      <p:ext uri="{BB962C8B-B14F-4D97-AF65-F5344CB8AC3E}">
        <p14:creationId xmlns:p14="http://schemas.microsoft.com/office/powerpoint/2010/main" val="2579644681"/>
      </p:ext>
    </p:extLst>
  </p:cSld>
  <p:clrMapOvr>
    <a:masterClrMapping/>
  </p:clrMapOvr>
  <mc:AlternateContent xmlns:mc="http://schemas.openxmlformats.org/markup-compatibility/2006" xmlns:p14="http://schemas.microsoft.com/office/powerpoint/2010/main">
    <mc:Choice Requires="p14">
      <p:transition spd="slow" p14:dur="1250" advClick="0" advTm="8000">
        <p14:switch dir="r"/>
      </p:transition>
    </mc:Choice>
    <mc:Fallback xmlns="">
      <p:transition spd="slow" advClick="0" advTm="8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wipe(down)">
                                      <p:cBhvr>
                                        <p:cTn id="7" dur="1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1">
                                            <p:txEl>
                                              <p:pRg st="2" end="2"/>
                                            </p:txEl>
                                          </p:spTgt>
                                        </p:tgtEl>
                                        <p:attrNameLst>
                                          <p:attrName>style.visibility</p:attrName>
                                        </p:attrNameLst>
                                      </p:cBhvr>
                                      <p:to>
                                        <p:strVal val="visible"/>
                                      </p:to>
                                    </p:set>
                                    <p:animEffect transition="in" filter="wipe(down)">
                                      <p:cBhvr>
                                        <p:cTn id="12" dur="1500"/>
                                        <p:tgtEl>
                                          <p:spTgt spid="2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1">
                                            <p:txEl>
                                              <p:pRg st="4" end="4"/>
                                            </p:txEl>
                                          </p:spTgt>
                                        </p:tgtEl>
                                        <p:attrNameLst>
                                          <p:attrName>style.visibility</p:attrName>
                                        </p:attrNameLst>
                                      </p:cBhvr>
                                      <p:to>
                                        <p:strVal val="visible"/>
                                      </p:to>
                                    </p:set>
                                    <p:animEffect transition="in" filter="wipe(down)">
                                      <p:cBhvr>
                                        <p:cTn id="17" dur="1500"/>
                                        <p:tgtEl>
                                          <p:spTgt spid="21">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1">
                                            <p:txEl>
                                              <p:pRg st="6" end="6"/>
                                            </p:txEl>
                                          </p:spTgt>
                                        </p:tgtEl>
                                        <p:attrNameLst>
                                          <p:attrName>style.visibility</p:attrName>
                                        </p:attrNameLst>
                                      </p:cBhvr>
                                      <p:to>
                                        <p:strVal val="visible"/>
                                      </p:to>
                                    </p:set>
                                    <p:animEffect transition="in" filter="wipe(down)">
                                      <p:cBhvr>
                                        <p:cTn id="22" dur="1500"/>
                                        <p:tgtEl>
                                          <p:spTgt spid="21">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1">
                                            <p:txEl>
                                              <p:pRg st="8" end="8"/>
                                            </p:txEl>
                                          </p:spTgt>
                                        </p:tgtEl>
                                        <p:attrNameLst>
                                          <p:attrName>style.visibility</p:attrName>
                                        </p:attrNameLst>
                                      </p:cBhvr>
                                      <p:to>
                                        <p:strVal val="visible"/>
                                      </p:to>
                                    </p:set>
                                    <p:animEffect transition="in" filter="wipe(down)">
                                      <p:cBhvr>
                                        <p:cTn id="27" dur="1500"/>
                                        <p:tgtEl>
                                          <p:spTgt spid="21">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1">
                                            <p:txEl>
                                              <p:pRg st="10" end="10"/>
                                            </p:txEl>
                                          </p:spTgt>
                                        </p:tgtEl>
                                        <p:attrNameLst>
                                          <p:attrName>style.visibility</p:attrName>
                                        </p:attrNameLst>
                                      </p:cBhvr>
                                      <p:to>
                                        <p:strVal val="visible"/>
                                      </p:to>
                                    </p:set>
                                    <p:animEffect transition="in" filter="wipe(down)">
                                      <p:cBhvr>
                                        <p:cTn id="32" dur="1500"/>
                                        <p:tgtEl>
                                          <p:spTgt spid="2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flip="none" rotWithShape="1">
          <a:gsLst>
            <a:gs pos="65000">
              <a:srgbClr val="939393"/>
            </a:gs>
            <a:gs pos="0">
              <a:schemeClr val="bg1"/>
            </a:gs>
            <a:gs pos="100000">
              <a:schemeClr val="accent1">
                <a:lumMod val="60000"/>
                <a:lumOff val="40000"/>
              </a:schemeClr>
            </a:gs>
          </a:gsLst>
          <a:lin ang="2700000" scaled="1"/>
          <a:tileRect/>
        </a:gradFill>
        <a:effectLst/>
      </p:bgPr>
    </p:bg>
    <p:spTree>
      <p:nvGrpSpPr>
        <p:cNvPr id="1" name=""/>
        <p:cNvGrpSpPr/>
        <p:nvPr/>
      </p:nvGrpSpPr>
      <p:grpSpPr>
        <a:xfrm>
          <a:off x="0" y="0"/>
          <a:ext cx="0" cy="0"/>
          <a:chOff x="0" y="0"/>
          <a:chExt cx="0" cy="0"/>
        </a:xfrm>
      </p:grpSpPr>
      <p:sp>
        <p:nvSpPr>
          <p:cNvPr id="17" name="Δεκάγωνο 16">
            <a:extLst>
              <a:ext uri="{FF2B5EF4-FFF2-40B4-BE49-F238E27FC236}">
                <a16:creationId xmlns:a16="http://schemas.microsoft.com/office/drawing/2014/main" id="{7D518CDF-FDD4-4EE5-ADE7-869EE710C12D}"/>
              </a:ext>
            </a:extLst>
          </p:cNvPr>
          <p:cNvSpPr/>
          <p:nvPr/>
        </p:nvSpPr>
        <p:spPr>
          <a:xfrm>
            <a:off x="2690705" y="495447"/>
            <a:ext cx="7208328" cy="4947410"/>
          </a:xfrm>
          <a:prstGeom prst="decagon">
            <a:avLst/>
          </a:prstGeom>
          <a:solidFill>
            <a:schemeClr val="tx1">
              <a:lumMod val="65000"/>
              <a:lumOff val="35000"/>
            </a:schemeClr>
          </a:solidFill>
          <a:ln>
            <a:solidFill>
              <a:schemeClr val="bg2">
                <a:lumMod val="25000"/>
              </a:schemeClr>
            </a:solidFill>
          </a:ln>
          <a:effectLst>
            <a:outerShdw blurRad="152400" dist="317500" dir="5400000" sx="90000" sy="-19000" rotWithShape="0">
              <a:prstClr val="black">
                <a:alpha val="15000"/>
              </a:prstClr>
            </a:outerShdw>
          </a:effectLst>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sp>
        <p:nvSpPr>
          <p:cNvPr id="20" name="TextBox 19">
            <a:extLst>
              <a:ext uri="{FF2B5EF4-FFF2-40B4-BE49-F238E27FC236}">
                <a16:creationId xmlns:a16="http://schemas.microsoft.com/office/drawing/2014/main" id="{6BA23B3C-6F1A-4A32-B0A0-5B95D79D13D0}"/>
              </a:ext>
            </a:extLst>
          </p:cNvPr>
          <p:cNvSpPr txBox="1"/>
          <p:nvPr/>
        </p:nvSpPr>
        <p:spPr>
          <a:xfrm>
            <a:off x="6098926" y="435121"/>
            <a:ext cx="391885" cy="553998"/>
          </a:xfrm>
          <a:prstGeom prst="rect">
            <a:avLst/>
          </a:prstGeom>
          <a:noFill/>
          <a:scene3d>
            <a:camera prst="isometricRightUp"/>
            <a:lightRig rig="threePt" dir="t"/>
          </a:scene3d>
        </p:spPr>
        <p:txBody>
          <a:bodyPr wrap="square" rtlCol="0">
            <a:spAutoFit/>
          </a:bodyPr>
          <a:lstStyle/>
          <a:p>
            <a:r>
              <a:rPr lang="en-US" sz="3000" dirty="0"/>
              <a:t>C</a:t>
            </a:r>
            <a:endParaRPr lang="el-GR" sz="3000" dirty="0"/>
          </a:p>
        </p:txBody>
      </p:sp>
      <p:sp>
        <p:nvSpPr>
          <p:cNvPr id="21" name="TextBox 20">
            <a:extLst>
              <a:ext uri="{FF2B5EF4-FFF2-40B4-BE49-F238E27FC236}">
                <a16:creationId xmlns:a16="http://schemas.microsoft.com/office/drawing/2014/main" id="{FFD5A90D-D0E4-45EA-B1DA-AC02F1E40167}"/>
              </a:ext>
            </a:extLst>
          </p:cNvPr>
          <p:cNvSpPr txBox="1"/>
          <p:nvPr/>
        </p:nvSpPr>
        <p:spPr>
          <a:xfrm>
            <a:off x="7514280" y="13744"/>
            <a:ext cx="391885" cy="553998"/>
          </a:xfrm>
          <a:prstGeom prst="rect">
            <a:avLst/>
          </a:prstGeom>
          <a:noFill/>
          <a:scene3d>
            <a:camera prst="isometricRightUp"/>
            <a:lightRig rig="threePt" dir="t"/>
          </a:scene3d>
        </p:spPr>
        <p:txBody>
          <a:bodyPr wrap="square" rtlCol="0">
            <a:spAutoFit/>
          </a:bodyPr>
          <a:lstStyle/>
          <a:p>
            <a:r>
              <a:rPr lang="en-US" sz="3000" dirty="0"/>
              <a:t>o</a:t>
            </a:r>
            <a:endParaRPr lang="el-GR" sz="3000" dirty="0"/>
          </a:p>
        </p:txBody>
      </p:sp>
      <p:sp>
        <p:nvSpPr>
          <p:cNvPr id="22" name="TextBox 21">
            <a:extLst>
              <a:ext uri="{FF2B5EF4-FFF2-40B4-BE49-F238E27FC236}">
                <a16:creationId xmlns:a16="http://schemas.microsoft.com/office/drawing/2014/main" id="{E4C873F9-305D-482D-8E62-CD6E097C730F}"/>
              </a:ext>
            </a:extLst>
          </p:cNvPr>
          <p:cNvSpPr txBox="1"/>
          <p:nvPr/>
        </p:nvSpPr>
        <p:spPr>
          <a:xfrm>
            <a:off x="8557500" y="543573"/>
            <a:ext cx="321805" cy="553998"/>
          </a:xfrm>
          <a:prstGeom prst="rect">
            <a:avLst/>
          </a:prstGeom>
          <a:noFill/>
          <a:scene3d>
            <a:camera prst="isometricRightUp"/>
            <a:lightRig rig="threePt" dir="t"/>
          </a:scene3d>
        </p:spPr>
        <p:txBody>
          <a:bodyPr wrap="square" rtlCol="0">
            <a:spAutoFit/>
          </a:bodyPr>
          <a:lstStyle/>
          <a:p>
            <a:r>
              <a:rPr lang="en-US" sz="3000" dirty="0"/>
              <a:t>n</a:t>
            </a:r>
            <a:endParaRPr lang="el-GR" sz="3000" dirty="0"/>
          </a:p>
        </p:txBody>
      </p:sp>
      <p:sp>
        <p:nvSpPr>
          <p:cNvPr id="23" name="TextBox 22">
            <a:extLst>
              <a:ext uri="{FF2B5EF4-FFF2-40B4-BE49-F238E27FC236}">
                <a16:creationId xmlns:a16="http://schemas.microsoft.com/office/drawing/2014/main" id="{E1CB5847-5C4A-4BB0-83F5-1CBB81E53DBF}"/>
              </a:ext>
            </a:extLst>
          </p:cNvPr>
          <p:cNvSpPr txBox="1"/>
          <p:nvPr/>
        </p:nvSpPr>
        <p:spPr>
          <a:xfrm>
            <a:off x="8574484" y="2019940"/>
            <a:ext cx="391885" cy="553998"/>
          </a:xfrm>
          <a:prstGeom prst="rect">
            <a:avLst/>
          </a:prstGeom>
          <a:noFill/>
          <a:scene3d>
            <a:camera prst="isometricRightUp"/>
            <a:lightRig rig="threePt" dir="t"/>
          </a:scene3d>
        </p:spPr>
        <p:txBody>
          <a:bodyPr wrap="square" rtlCol="0">
            <a:spAutoFit/>
          </a:bodyPr>
          <a:lstStyle/>
          <a:p>
            <a:r>
              <a:rPr lang="en-US" sz="3000" dirty="0"/>
              <a:t>c</a:t>
            </a:r>
            <a:endParaRPr lang="el-GR" sz="3000" dirty="0"/>
          </a:p>
        </p:txBody>
      </p:sp>
      <p:sp>
        <p:nvSpPr>
          <p:cNvPr id="24" name="TextBox 23">
            <a:extLst>
              <a:ext uri="{FF2B5EF4-FFF2-40B4-BE49-F238E27FC236}">
                <a16:creationId xmlns:a16="http://schemas.microsoft.com/office/drawing/2014/main" id="{A7380D15-C5F5-466B-A0A4-0A01EF908B3C}"/>
              </a:ext>
            </a:extLst>
          </p:cNvPr>
          <p:cNvSpPr txBox="1"/>
          <p:nvPr/>
        </p:nvSpPr>
        <p:spPr>
          <a:xfrm>
            <a:off x="7696363" y="3599542"/>
            <a:ext cx="391885" cy="553998"/>
          </a:xfrm>
          <a:prstGeom prst="rect">
            <a:avLst/>
          </a:prstGeom>
          <a:noFill/>
          <a:scene3d>
            <a:camera prst="isometricRightUp"/>
            <a:lightRig rig="threePt" dir="t"/>
          </a:scene3d>
        </p:spPr>
        <p:txBody>
          <a:bodyPr wrap="square" rtlCol="0">
            <a:spAutoFit/>
          </a:bodyPr>
          <a:lstStyle/>
          <a:p>
            <a:r>
              <a:rPr lang="en-US" sz="3000" dirty="0"/>
              <a:t>l</a:t>
            </a:r>
            <a:endParaRPr lang="el-GR" sz="3000" dirty="0"/>
          </a:p>
        </p:txBody>
      </p:sp>
      <p:sp>
        <p:nvSpPr>
          <p:cNvPr id="25" name="TextBox 24">
            <a:extLst>
              <a:ext uri="{FF2B5EF4-FFF2-40B4-BE49-F238E27FC236}">
                <a16:creationId xmlns:a16="http://schemas.microsoft.com/office/drawing/2014/main" id="{33BFB91F-A4E1-4A29-952B-9071AB1AE9E3}"/>
              </a:ext>
            </a:extLst>
          </p:cNvPr>
          <p:cNvSpPr txBox="1"/>
          <p:nvPr/>
        </p:nvSpPr>
        <p:spPr>
          <a:xfrm>
            <a:off x="6182574" y="4888859"/>
            <a:ext cx="391885" cy="553998"/>
          </a:xfrm>
          <a:prstGeom prst="rect">
            <a:avLst/>
          </a:prstGeom>
          <a:noFill/>
          <a:scene3d>
            <a:camera prst="isometricRightUp"/>
            <a:lightRig rig="threePt" dir="t"/>
          </a:scene3d>
        </p:spPr>
        <p:txBody>
          <a:bodyPr wrap="square" rtlCol="0">
            <a:spAutoFit/>
          </a:bodyPr>
          <a:lstStyle/>
          <a:p>
            <a:r>
              <a:rPr lang="en-US" sz="3000" dirty="0"/>
              <a:t>u</a:t>
            </a:r>
            <a:endParaRPr lang="el-GR" sz="3000" dirty="0"/>
          </a:p>
        </p:txBody>
      </p:sp>
      <p:sp>
        <p:nvSpPr>
          <p:cNvPr id="26" name="TextBox 25">
            <a:extLst>
              <a:ext uri="{FF2B5EF4-FFF2-40B4-BE49-F238E27FC236}">
                <a16:creationId xmlns:a16="http://schemas.microsoft.com/office/drawing/2014/main" id="{D92FCE99-6EB3-47FD-93CC-E2FF304C7EBF}"/>
              </a:ext>
            </a:extLst>
          </p:cNvPr>
          <p:cNvSpPr txBox="1"/>
          <p:nvPr/>
        </p:nvSpPr>
        <p:spPr>
          <a:xfrm>
            <a:off x="4549435" y="5312640"/>
            <a:ext cx="391885" cy="553998"/>
          </a:xfrm>
          <a:prstGeom prst="rect">
            <a:avLst/>
          </a:prstGeom>
          <a:noFill/>
          <a:scene3d>
            <a:camera prst="isometricRightUp"/>
            <a:lightRig rig="threePt" dir="t"/>
          </a:scene3d>
        </p:spPr>
        <p:txBody>
          <a:bodyPr wrap="square" rtlCol="0">
            <a:spAutoFit/>
          </a:bodyPr>
          <a:lstStyle/>
          <a:p>
            <a:r>
              <a:rPr lang="en-US" sz="3000" dirty="0"/>
              <a:t>s</a:t>
            </a:r>
            <a:endParaRPr lang="el-GR" sz="3000" dirty="0"/>
          </a:p>
        </p:txBody>
      </p:sp>
      <p:sp>
        <p:nvSpPr>
          <p:cNvPr id="27" name="TextBox 26">
            <a:extLst>
              <a:ext uri="{FF2B5EF4-FFF2-40B4-BE49-F238E27FC236}">
                <a16:creationId xmlns:a16="http://schemas.microsoft.com/office/drawing/2014/main" id="{4D382A50-12A4-4F15-8820-77E35901CBF8}"/>
              </a:ext>
            </a:extLst>
          </p:cNvPr>
          <p:cNvSpPr txBox="1"/>
          <p:nvPr/>
        </p:nvSpPr>
        <p:spPr>
          <a:xfrm>
            <a:off x="3578124" y="4611860"/>
            <a:ext cx="391885" cy="553998"/>
          </a:xfrm>
          <a:prstGeom prst="rect">
            <a:avLst/>
          </a:prstGeom>
          <a:noFill/>
          <a:scene3d>
            <a:camera prst="isometricRightUp"/>
            <a:lightRig rig="threePt" dir="t"/>
          </a:scene3d>
        </p:spPr>
        <p:txBody>
          <a:bodyPr wrap="square" rtlCol="0">
            <a:spAutoFit/>
          </a:bodyPr>
          <a:lstStyle/>
          <a:p>
            <a:r>
              <a:rPr lang="en-US" sz="3000" dirty="0" err="1"/>
              <a:t>i</a:t>
            </a:r>
            <a:endParaRPr lang="el-GR" sz="3000" dirty="0"/>
          </a:p>
        </p:txBody>
      </p:sp>
      <p:sp>
        <p:nvSpPr>
          <p:cNvPr id="28" name="TextBox 27">
            <a:extLst>
              <a:ext uri="{FF2B5EF4-FFF2-40B4-BE49-F238E27FC236}">
                <a16:creationId xmlns:a16="http://schemas.microsoft.com/office/drawing/2014/main" id="{15D0414A-AEBE-4131-9B89-8F34E48D39EF}"/>
              </a:ext>
            </a:extLst>
          </p:cNvPr>
          <p:cNvSpPr txBox="1"/>
          <p:nvPr/>
        </p:nvSpPr>
        <p:spPr>
          <a:xfrm>
            <a:off x="4594122" y="1722614"/>
            <a:ext cx="391885" cy="553998"/>
          </a:xfrm>
          <a:prstGeom prst="rect">
            <a:avLst/>
          </a:prstGeom>
          <a:noFill/>
          <a:scene3d>
            <a:camera prst="isometricRightUp"/>
            <a:lightRig rig="threePt" dir="t"/>
          </a:scene3d>
        </p:spPr>
        <p:txBody>
          <a:bodyPr wrap="square" rtlCol="0">
            <a:spAutoFit/>
          </a:bodyPr>
          <a:lstStyle/>
          <a:p>
            <a:r>
              <a:rPr lang="en-US" sz="3000" dirty="0"/>
              <a:t>n</a:t>
            </a:r>
            <a:endParaRPr lang="el-GR" sz="3000" dirty="0"/>
          </a:p>
        </p:txBody>
      </p:sp>
      <p:sp>
        <p:nvSpPr>
          <p:cNvPr id="29" name="TextBox 28">
            <a:extLst>
              <a:ext uri="{FF2B5EF4-FFF2-40B4-BE49-F238E27FC236}">
                <a16:creationId xmlns:a16="http://schemas.microsoft.com/office/drawing/2014/main" id="{565217F8-42C7-4661-AA43-EB5536FBC131}"/>
              </a:ext>
            </a:extLst>
          </p:cNvPr>
          <p:cNvSpPr txBox="1"/>
          <p:nvPr/>
        </p:nvSpPr>
        <p:spPr>
          <a:xfrm>
            <a:off x="3670937" y="3200127"/>
            <a:ext cx="391885" cy="553998"/>
          </a:xfrm>
          <a:prstGeom prst="rect">
            <a:avLst/>
          </a:prstGeom>
          <a:noFill/>
          <a:scene3d>
            <a:camera prst="isometricRightUp"/>
            <a:lightRig rig="threePt" dir="t"/>
          </a:scene3d>
        </p:spPr>
        <p:txBody>
          <a:bodyPr wrap="square" rtlCol="0">
            <a:spAutoFit/>
          </a:bodyPr>
          <a:lstStyle/>
          <a:p>
            <a:r>
              <a:rPr lang="en-US" sz="3000" dirty="0"/>
              <a:t>o</a:t>
            </a:r>
            <a:endParaRPr lang="el-GR" sz="3000" dirty="0"/>
          </a:p>
        </p:txBody>
      </p:sp>
      <p:cxnSp>
        <p:nvCxnSpPr>
          <p:cNvPr id="31" name="Ευθεία γραμμή σύνδεσης 30">
            <a:extLst>
              <a:ext uri="{FF2B5EF4-FFF2-40B4-BE49-F238E27FC236}">
                <a16:creationId xmlns:a16="http://schemas.microsoft.com/office/drawing/2014/main" id="{033EE478-5019-48A7-AA56-94FB6BC66C97}"/>
              </a:ext>
            </a:extLst>
          </p:cNvPr>
          <p:cNvCxnSpPr/>
          <p:nvPr/>
        </p:nvCxnSpPr>
        <p:spPr>
          <a:xfrm flipV="1">
            <a:off x="10087719" y="5764303"/>
            <a:ext cx="449653" cy="9967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Ευθεία γραμμή σύνδεσης 32">
            <a:extLst>
              <a:ext uri="{FF2B5EF4-FFF2-40B4-BE49-F238E27FC236}">
                <a16:creationId xmlns:a16="http://schemas.microsoft.com/office/drawing/2014/main" id="{F3882D9E-67B6-4043-A5FD-7EE3D28A8CE4}"/>
              </a:ext>
            </a:extLst>
          </p:cNvPr>
          <p:cNvCxnSpPr/>
          <p:nvPr/>
        </p:nvCxnSpPr>
        <p:spPr>
          <a:xfrm>
            <a:off x="10551886" y="5898722"/>
            <a:ext cx="391885" cy="9592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Ευθεία γραμμή σύνδεσης 34">
            <a:extLst>
              <a:ext uri="{FF2B5EF4-FFF2-40B4-BE49-F238E27FC236}">
                <a16:creationId xmlns:a16="http://schemas.microsoft.com/office/drawing/2014/main" id="{5C7B6B81-77AC-460C-95EF-41BAE87AA9E1}"/>
              </a:ext>
            </a:extLst>
          </p:cNvPr>
          <p:cNvCxnSpPr>
            <a:cxnSpLocks/>
          </p:cNvCxnSpPr>
          <p:nvPr/>
        </p:nvCxnSpPr>
        <p:spPr>
          <a:xfrm flipV="1">
            <a:off x="10537372" y="4020457"/>
            <a:ext cx="14514" cy="1743847"/>
          </a:xfrm>
          <a:prstGeom prst="line">
            <a:avLst/>
          </a:prstGeom>
        </p:spPr>
        <p:style>
          <a:lnRef idx="1">
            <a:schemeClr val="dk1"/>
          </a:lnRef>
          <a:fillRef idx="0">
            <a:schemeClr val="dk1"/>
          </a:fillRef>
          <a:effectRef idx="0">
            <a:schemeClr val="dk1"/>
          </a:effectRef>
          <a:fontRef idx="minor">
            <a:schemeClr val="tx1"/>
          </a:fontRef>
        </p:style>
      </p:cxnSp>
      <p:sp>
        <p:nvSpPr>
          <p:cNvPr id="38" name="Τόξο 37">
            <a:extLst>
              <a:ext uri="{FF2B5EF4-FFF2-40B4-BE49-F238E27FC236}">
                <a16:creationId xmlns:a16="http://schemas.microsoft.com/office/drawing/2014/main" id="{1557B641-E2C0-4FBD-B54E-FCE4711E83C8}"/>
              </a:ext>
            </a:extLst>
          </p:cNvPr>
          <p:cNvSpPr/>
          <p:nvPr/>
        </p:nvSpPr>
        <p:spPr>
          <a:xfrm flipH="1" flipV="1">
            <a:off x="10260167" y="3846283"/>
            <a:ext cx="583438" cy="1306285"/>
          </a:xfrm>
          <a:prstGeom prst="arc">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l-GR"/>
          </a:p>
        </p:txBody>
      </p:sp>
      <p:sp>
        <p:nvSpPr>
          <p:cNvPr id="39" name="Τόξο 38">
            <a:extLst>
              <a:ext uri="{FF2B5EF4-FFF2-40B4-BE49-F238E27FC236}">
                <a16:creationId xmlns:a16="http://schemas.microsoft.com/office/drawing/2014/main" id="{226B725B-B0F0-4544-AFC5-67F36910DE41}"/>
              </a:ext>
            </a:extLst>
          </p:cNvPr>
          <p:cNvSpPr/>
          <p:nvPr/>
        </p:nvSpPr>
        <p:spPr>
          <a:xfrm rot="11692329" flipH="1" flipV="1">
            <a:off x="10401734" y="3793290"/>
            <a:ext cx="583438" cy="1306285"/>
          </a:xfrm>
          <a:prstGeom prst="arc">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l-GR"/>
          </a:p>
        </p:txBody>
      </p:sp>
      <p:sp>
        <p:nvSpPr>
          <p:cNvPr id="40" name="Τόξο 39">
            <a:extLst>
              <a:ext uri="{FF2B5EF4-FFF2-40B4-BE49-F238E27FC236}">
                <a16:creationId xmlns:a16="http://schemas.microsoft.com/office/drawing/2014/main" id="{47DA34EF-0B1A-4D72-9D6F-2A25B7271071}"/>
              </a:ext>
            </a:extLst>
          </p:cNvPr>
          <p:cNvSpPr/>
          <p:nvPr/>
        </p:nvSpPr>
        <p:spPr>
          <a:xfrm flipV="1">
            <a:off x="10312545" y="3846285"/>
            <a:ext cx="652853" cy="1306285"/>
          </a:xfrm>
          <a:prstGeom prst="arc">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l-GR"/>
          </a:p>
        </p:txBody>
      </p:sp>
      <p:sp>
        <p:nvSpPr>
          <p:cNvPr id="41" name="Τόξο 40">
            <a:extLst>
              <a:ext uri="{FF2B5EF4-FFF2-40B4-BE49-F238E27FC236}">
                <a16:creationId xmlns:a16="http://schemas.microsoft.com/office/drawing/2014/main" id="{6841D818-D3F0-46D8-BC9A-B713D8FBC6AA}"/>
              </a:ext>
            </a:extLst>
          </p:cNvPr>
          <p:cNvSpPr/>
          <p:nvPr/>
        </p:nvSpPr>
        <p:spPr>
          <a:xfrm rot="10014138" flipV="1">
            <a:off x="10269837" y="3880442"/>
            <a:ext cx="449652" cy="1290853"/>
          </a:xfrm>
          <a:prstGeom prst="arc">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l-GR"/>
          </a:p>
        </p:txBody>
      </p:sp>
      <p:sp>
        <p:nvSpPr>
          <p:cNvPr id="45" name="Οβάλ 44">
            <a:extLst>
              <a:ext uri="{FF2B5EF4-FFF2-40B4-BE49-F238E27FC236}">
                <a16:creationId xmlns:a16="http://schemas.microsoft.com/office/drawing/2014/main" id="{58998999-176B-4343-BA60-3600F6A33DAC}"/>
              </a:ext>
            </a:extLst>
          </p:cNvPr>
          <p:cNvSpPr/>
          <p:nvPr/>
        </p:nvSpPr>
        <p:spPr>
          <a:xfrm>
            <a:off x="10306981" y="3429000"/>
            <a:ext cx="569220" cy="72454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grpSp>
        <p:nvGrpSpPr>
          <p:cNvPr id="57" name="Ομάδα 56">
            <a:extLst>
              <a:ext uri="{FF2B5EF4-FFF2-40B4-BE49-F238E27FC236}">
                <a16:creationId xmlns:a16="http://schemas.microsoft.com/office/drawing/2014/main" id="{2C2D9307-56E4-4914-A13A-887717DBC472}"/>
              </a:ext>
            </a:extLst>
          </p:cNvPr>
          <p:cNvGrpSpPr/>
          <p:nvPr/>
        </p:nvGrpSpPr>
        <p:grpSpPr>
          <a:xfrm>
            <a:off x="10272299" y="3165372"/>
            <a:ext cx="899170" cy="429819"/>
            <a:chOff x="10272299" y="3165372"/>
            <a:chExt cx="899170" cy="429819"/>
          </a:xfrm>
        </p:grpSpPr>
        <p:sp>
          <p:nvSpPr>
            <p:cNvPr id="48" name="Οβάλ 47">
              <a:extLst>
                <a:ext uri="{FF2B5EF4-FFF2-40B4-BE49-F238E27FC236}">
                  <a16:creationId xmlns:a16="http://schemas.microsoft.com/office/drawing/2014/main" id="{DD51D784-58BC-4DF4-8381-035CE6298216}"/>
                </a:ext>
              </a:extLst>
            </p:cNvPr>
            <p:cNvSpPr/>
            <p:nvPr/>
          </p:nvSpPr>
          <p:spPr>
            <a:xfrm rot="1972354">
              <a:off x="10403042" y="3165372"/>
              <a:ext cx="705231" cy="42342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6" name="Ορθογώνιο: Στρογγύλεμα γωνιών 45">
              <a:extLst>
                <a:ext uri="{FF2B5EF4-FFF2-40B4-BE49-F238E27FC236}">
                  <a16:creationId xmlns:a16="http://schemas.microsoft.com/office/drawing/2014/main" id="{BBFB4F85-08D4-4528-8A96-F3C4FED0A1C2}"/>
                </a:ext>
              </a:extLst>
            </p:cNvPr>
            <p:cNvSpPr/>
            <p:nvPr/>
          </p:nvSpPr>
          <p:spPr>
            <a:xfrm rot="2216559">
              <a:off x="10386743" y="3371076"/>
              <a:ext cx="721530" cy="135431"/>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7" name="Ορθογώνιο 46">
              <a:extLst>
                <a:ext uri="{FF2B5EF4-FFF2-40B4-BE49-F238E27FC236}">
                  <a16:creationId xmlns:a16="http://schemas.microsoft.com/office/drawing/2014/main" id="{940ABF4F-C916-4D40-825F-80B688A87F53}"/>
                </a:ext>
              </a:extLst>
            </p:cNvPr>
            <p:cNvSpPr/>
            <p:nvPr/>
          </p:nvSpPr>
          <p:spPr>
            <a:xfrm rot="2216559">
              <a:off x="10272299" y="3506507"/>
              <a:ext cx="899170" cy="886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grpSp>
      <p:sp>
        <p:nvSpPr>
          <p:cNvPr id="2" name="Φυσαλίδα ομιλίας: Έλλειψη 1">
            <a:extLst>
              <a:ext uri="{FF2B5EF4-FFF2-40B4-BE49-F238E27FC236}">
                <a16:creationId xmlns:a16="http://schemas.microsoft.com/office/drawing/2014/main" id="{6A340D2C-5268-4EF4-A604-A3A2CE45E98F}"/>
              </a:ext>
            </a:extLst>
          </p:cNvPr>
          <p:cNvSpPr/>
          <p:nvPr/>
        </p:nvSpPr>
        <p:spPr>
          <a:xfrm>
            <a:off x="9213850" y="1502257"/>
            <a:ext cx="2464803" cy="996792"/>
          </a:xfrm>
          <a:prstGeom prst="wedgeEllipseCallout">
            <a:avLst>
              <a:gd name="adj1" fmla="val 11058"/>
              <a:gd name="adj2" fmla="val 93415"/>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l-GR">
              <a:ln>
                <a:solidFill>
                  <a:schemeClr val="tx1"/>
                </a:solidFill>
              </a:ln>
            </a:endParaRPr>
          </a:p>
        </p:txBody>
      </p:sp>
      <p:sp>
        <p:nvSpPr>
          <p:cNvPr id="54" name="TextBox 53">
            <a:extLst>
              <a:ext uri="{FF2B5EF4-FFF2-40B4-BE49-F238E27FC236}">
                <a16:creationId xmlns:a16="http://schemas.microsoft.com/office/drawing/2014/main" id="{A11472A1-77F5-4E62-9211-3B9B2F0FAB32}"/>
              </a:ext>
            </a:extLst>
          </p:cNvPr>
          <p:cNvSpPr txBox="1"/>
          <p:nvPr/>
        </p:nvSpPr>
        <p:spPr>
          <a:xfrm>
            <a:off x="9376561" y="1738340"/>
            <a:ext cx="2236203" cy="646331"/>
          </a:xfrm>
          <a:prstGeom prst="rect">
            <a:avLst/>
          </a:prstGeom>
          <a:noFill/>
        </p:spPr>
        <p:txBody>
          <a:bodyPr wrap="square" rtlCol="0">
            <a:spAutoFit/>
          </a:bodyPr>
          <a:lstStyle/>
          <a:p>
            <a:pPr algn="ctr"/>
            <a:r>
              <a:rPr lang="en-US" dirty="0">
                <a:latin typeface="Comic Sans MS" panose="030F0702030302020204" pitchFamily="66" charset="0"/>
              </a:rPr>
              <a:t>Let’s see –he, what have we learn?</a:t>
            </a:r>
            <a:endParaRPr lang="el-GR" dirty="0">
              <a:latin typeface="Comic Sans MS" panose="030F0702030302020204" pitchFamily="66" charset="0"/>
            </a:endParaRPr>
          </a:p>
        </p:txBody>
      </p:sp>
    </p:spTree>
    <p:extLst>
      <p:ext uri="{BB962C8B-B14F-4D97-AF65-F5344CB8AC3E}">
        <p14:creationId xmlns:p14="http://schemas.microsoft.com/office/powerpoint/2010/main" val="1325211621"/>
      </p:ext>
    </p:extLst>
  </p:cSld>
  <p:clrMapOvr>
    <a:masterClrMapping/>
  </p:clrMapOvr>
  <mc:AlternateContent xmlns:mc="http://schemas.openxmlformats.org/markup-compatibility/2006" xmlns:p14="http://schemas.microsoft.com/office/powerpoint/2010/main">
    <mc:Choice Requires="p14">
      <p:transition spd="slow" p14:dur="1250" advClick="0" advTm="8000">
        <p14:switch dir="r"/>
      </p:transition>
    </mc:Choice>
    <mc:Fallback xmlns="">
      <p:transition spd="slow" advClick="0" advTm="8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4">
                                            <p:txEl>
                                              <p:pRg st="0" end="0"/>
                                            </p:txEl>
                                          </p:spTgt>
                                        </p:tgtEl>
                                        <p:attrNameLst>
                                          <p:attrName>style.visibility</p:attrName>
                                        </p:attrNameLst>
                                      </p:cBhvr>
                                      <p:to>
                                        <p:strVal val="visible"/>
                                      </p:to>
                                    </p:set>
                                    <p:animEffect transition="in" filter="wipe(down)">
                                      <p:cBhvr>
                                        <p:cTn id="7" dur="1000"/>
                                        <p:tgtEl>
                                          <p:spTgt spid="54">
                                            <p:txEl>
                                              <p:pRg st="0" end="0"/>
                                            </p:txEl>
                                          </p:spTgt>
                                        </p:tgtEl>
                                      </p:cBhvr>
                                    </p:animEffect>
                                  </p:childTnLst>
                                  <p:subTnLst>
                                    <p:audio>
                                      <p:cMediaNode vol="100000">
                                        <p:cTn display="0" masterRel="sameClick">
                                          <p:stCondLst>
                                            <p:cond evt="begin" delay="0">
                                              <p:tn val="5"/>
                                            </p:cond>
                                          </p:stCondLst>
                                          <p:endCondLst>
                                            <p:cond evt="onStopAudio" delay="0">
                                              <p:tgtEl>
                                                <p:sldTgt/>
                                              </p:tgtEl>
                                            </p:cond>
                                          </p:endCondLst>
                                        </p:cTn>
                                        <p:tgtEl>
                                          <p:sndTgt r:embed="rId2" name="Michael Jackson - Billie Jean (Official Video) 4-[AudioTrimmer.com] (1).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flip="none" rotWithShape="1">
          <a:gsLst>
            <a:gs pos="65000">
              <a:srgbClr val="939393"/>
            </a:gs>
            <a:gs pos="0">
              <a:schemeClr val="bg1"/>
            </a:gs>
            <a:gs pos="100000">
              <a:schemeClr val="accent1">
                <a:lumMod val="60000"/>
                <a:lumOff val="40000"/>
              </a:schemeClr>
            </a:gs>
          </a:gsLst>
          <a:lin ang="2700000" scaled="1"/>
          <a:tileRect/>
        </a:gradFill>
        <a:effectLst/>
      </p:bgPr>
    </p:bg>
    <p:spTree>
      <p:nvGrpSpPr>
        <p:cNvPr id="1" name=""/>
        <p:cNvGrpSpPr/>
        <p:nvPr/>
      </p:nvGrpSpPr>
      <p:grpSpPr>
        <a:xfrm>
          <a:off x="0" y="0"/>
          <a:ext cx="0" cy="0"/>
          <a:chOff x="0" y="0"/>
          <a:chExt cx="0" cy="0"/>
        </a:xfrm>
      </p:grpSpPr>
      <p:sp>
        <p:nvSpPr>
          <p:cNvPr id="5" name="Φυσαλίδα ομιλίας: Έλλειψη 4">
            <a:extLst>
              <a:ext uri="{FF2B5EF4-FFF2-40B4-BE49-F238E27FC236}">
                <a16:creationId xmlns:a16="http://schemas.microsoft.com/office/drawing/2014/main" id="{BCB4F248-7D91-4907-9547-B2BE69E389CD}"/>
              </a:ext>
            </a:extLst>
          </p:cNvPr>
          <p:cNvSpPr/>
          <p:nvPr/>
        </p:nvSpPr>
        <p:spPr>
          <a:xfrm>
            <a:off x="9400674" y="4459705"/>
            <a:ext cx="2045995" cy="796980"/>
          </a:xfrm>
          <a:prstGeom prst="wedgeEllipseCallout">
            <a:avLst>
              <a:gd name="adj1" fmla="val 40540"/>
              <a:gd name="adj2" fmla="val 79256"/>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l-GR"/>
          </a:p>
        </p:txBody>
      </p:sp>
      <p:sp>
        <p:nvSpPr>
          <p:cNvPr id="35" name="Ορθογώνιο 34">
            <a:extLst>
              <a:ext uri="{FF2B5EF4-FFF2-40B4-BE49-F238E27FC236}">
                <a16:creationId xmlns:a16="http://schemas.microsoft.com/office/drawing/2014/main" id="{536B0609-998B-409C-A696-DA89A002F6EC}"/>
              </a:ext>
            </a:extLst>
          </p:cNvPr>
          <p:cNvSpPr/>
          <p:nvPr/>
        </p:nvSpPr>
        <p:spPr>
          <a:xfrm>
            <a:off x="0" y="5646319"/>
            <a:ext cx="12192000" cy="1238250"/>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shape">
              <a:fillToRect l="50000" t="50000" r="50000" b="50000"/>
            </a:path>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6000" dirty="0">
                <a:ln w="0"/>
                <a:solidFill>
                  <a:schemeClr val="tx1"/>
                </a:solidFill>
                <a:effectLst>
                  <a:outerShdw blurRad="38100" dist="19050" dir="2700000" algn="tl" rotWithShape="0">
                    <a:schemeClr val="dk1">
                      <a:alpha val="40000"/>
                    </a:schemeClr>
                  </a:outerShdw>
                </a:effectLst>
                <a:latin typeface="Comic Sans MS" panose="030F0702030302020204" pitchFamily="66" charset="0"/>
              </a:rPr>
              <a:t>CONCLUSION</a:t>
            </a:r>
            <a:endParaRPr lang="el-GR" sz="6000" dirty="0">
              <a:ln w="0"/>
              <a:solidFill>
                <a:schemeClr val="tx1"/>
              </a:solidFill>
              <a:effectLst>
                <a:outerShdw blurRad="38100" dist="19050" dir="2700000" algn="tl" rotWithShape="0">
                  <a:schemeClr val="dk1">
                    <a:alpha val="40000"/>
                  </a:schemeClr>
                </a:outerShdw>
              </a:effectLst>
              <a:latin typeface="Comic Sans MS" panose="030F0702030302020204" pitchFamily="66" charset="0"/>
            </a:endParaRPr>
          </a:p>
        </p:txBody>
      </p:sp>
      <p:grpSp>
        <p:nvGrpSpPr>
          <p:cNvPr id="4" name="Ομάδα 3">
            <a:extLst>
              <a:ext uri="{FF2B5EF4-FFF2-40B4-BE49-F238E27FC236}">
                <a16:creationId xmlns:a16="http://schemas.microsoft.com/office/drawing/2014/main" id="{C6D86B78-5128-4255-8FB5-6E9C847F6504}"/>
              </a:ext>
            </a:extLst>
          </p:cNvPr>
          <p:cNvGrpSpPr/>
          <p:nvPr/>
        </p:nvGrpSpPr>
        <p:grpSpPr>
          <a:xfrm>
            <a:off x="11053349" y="5803810"/>
            <a:ext cx="899170" cy="870130"/>
            <a:chOff x="10272299" y="3165372"/>
            <a:chExt cx="899170" cy="870130"/>
          </a:xfrm>
        </p:grpSpPr>
        <p:sp>
          <p:nvSpPr>
            <p:cNvPr id="3" name="Οβάλ 2">
              <a:extLst>
                <a:ext uri="{FF2B5EF4-FFF2-40B4-BE49-F238E27FC236}">
                  <a16:creationId xmlns:a16="http://schemas.microsoft.com/office/drawing/2014/main" id="{CB1379E3-79F8-4B56-AAD2-B7716EEAA0FD}"/>
                </a:ext>
              </a:extLst>
            </p:cNvPr>
            <p:cNvSpPr/>
            <p:nvPr/>
          </p:nvSpPr>
          <p:spPr>
            <a:xfrm>
              <a:off x="10381581" y="3493610"/>
              <a:ext cx="493368" cy="54189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grpSp>
          <p:nvGrpSpPr>
            <p:cNvPr id="2" name="Ομάδα 1">
              <a:extLst>
                <a:ext uri="{FF2B5EF4-FFF2-40B4-BE49-F238E27FC236}">
                  <a16:creationId xmlns:a16="http://schemas.microsoft.com/office/drawing/2014/main" id="{ABB2B57D-0E70-4354-B456-5985F7FCB8CD}"/>
                </a:ext>
              </a:extLst>
            </p:cNvPr>
            <p:cNvGrpSpPr/>
            <p:nvPr/>
          </p:nvGrpSpPr>
          <p:grpSpPr>
            <a:xfrm>
              <a:off x="10272299" y="3165372"/>
              <a:ext cx="899170" cy="429819"/>
              <a:chOff x="10272299" y="3165372"/>
              <a:chExt cx="899170" cy="429819"/>
            </a:xfrm>
          </p:grpSpPr>
          <p:sp>
            <p:nvSpPr>
              <p:cNvPr id="23" name="Οβάλ 22">
                <a:extLst>
                  <a:ext uri="{FF2B5EF4-FFF2-40B4-BE49-F238E27FC236}">
                    <a16:creationId xmlns:a16="http://schemas.microsoft.com/office/drawing/2014/main" id="{EEAF0F4C-332A-46E9-99E6-FB7AD22D365D}"/>
                  </a:ext>
                </a:extLst>
              </p:cNvPr>
              <p:cNvSpPr/>
              <p:nvPr/>
            </p:nvSpPr>
            <p:spPr>
              <a:xfrm rot="1972354">
                <a:off x="10403042" y="3165372"/>
                <a:ext cx="705231" cy="42342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4" name="Ορθογώνιο: Στρογγύλεμα γωνιών 23">
                <a:extLst>
                  <a:ext uri="{FF2B5EF4-FFF2-40B4-BE49-F238E27FC236}">
                    <a16:creationId xmlns:a16="http://schemas.microsoft.com/office/drawing/2014/main" id="{CE17EA51-3634-43DC-B3D1-69780CDC6CE2}"/>
                  </a:ext>
                </a:extLst>
              </p:cNvPr>
              <p:cNvSpPr/>
              <p:nvPr/>
            </p:nvSpPr>
            <p:spPr>
              <a:xfrm rot="2216559">
                <a:off x="10386743" y="3371076"/>
                <a:ext cx="721530" cy="135431"/>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5" name="Ορθογώνιο 24">
                <a:extLst>
                  <a:ext uri="{FF2B5EF4-FFF2-40B4-BE49-F238E27FC236}">
                    <a16:creationId xmlns:a16="http://schemas.microsoft.com/office/drawing/2014/main" id="{48369576-AC91-4D3E-B661-45E31966A32E}"/>
                  </a:ext>
                </a:extLst>
              </p:cNvPr>
              <p:cNvSpPr/>
              <p:nvPr/>
            </p:nvSpPr>
            <p:spPr>
              <a:xfrm rot="2216559">
                <a:off x="10272299" y="3506507"/>
                <a:ext cx="899170" cy="886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grpSp>
      </p:grpSp>
      <p:sp>
        <p:nvSpPr>
          <p:cNvPr id="32" name="TextBox 31">
            <a:extLst>
              <a:ext uri="{FF2B5EF4-FFF2-40B4-BE49-F238E27FC236}">
                <a16:creationId xmlns:a16="http://schemas.microsoft.com/office/drawing/2014/main" id="{FBE7C933-D557-4C66-97F5-55547D4152E4}"/>
              </a:ext>
            </a:extLst>
          </p:cNvPr>
          <p:cNvSpPr txBox="1"/>
          <p:nvPr/>
        </p:nvSpPr>
        <p:spPr>
          <a:xfrm>
            <a:off x="4055176" y="3206380"/>
            <a:ext cx="4081648" cy="2050305"/>
          </a:xfrm>
          <a:prstGeom prst="rect">
            <a:avLst/>
          </a:prstGeom>
          <a:noFill/>
        </p:spPr>
        <p:txBody>
          <a:bodyPr wrap="square">
            <a:spAutoFit/>
          </a:bodyPr>
          <a:lstStyle/>
          <a:p>
            <a:pPr>
              <a:lnSpc>
                <a:spcPct val="107000"/>
              </a:lnSpc>
              <a:spcAft>
                <a:spcPts val="800"/>
              </a:spcAft>
            </a:pPr>
            <a:r>
              <a:rPr lang="en-US" sz="2000" dirty="0">
                <a:latin typeface="Comic Sans MS" panose="030F0702030302020204" pitchFamily="66" charset="0"/>
              </a:rPr>
              <a:t>His belief that the universe is based on numbers and mathematical harmony became a foundation for the later development of human knowledge.</a:t>
            </a:r>
            <a:endParaRPr lang="el-GR" sz="2000" dirty="0">
              <a:latin typeface="Comic Sans MS" panose="030F0702030302020204" pitchFamily="66" charset="0"/>
            </a:endParaRPr>
          </a:p>
        </p:txBody>
      </p:sp>
      <p:sp>
        <p:nvSpPr>
          <p:cNvPr id="34" name="TextBox 33">
            <a:extLst>
              <a:ext uri="{FF2B5EF4-FFF2-40B4-BE49-F238E27FC236}">
                <a16:creationId xmlns:a16="http://schemas.microsoft.com/office/drawing/2014/main" id="{033AC589-00DF-4511-A294-DEAABACB851E}"/>
              </a:ext>
            </a:extLst>
          </p:cNvPr>
          <p:cNvSpPr txBox="1"/>
          <p:nvPr/>
        </p:nvSpPr>
        <p:spPr>
          <a:xfrm>
            <a:off x="463976" y="762077"/>
            <a:ext cx="4081648" cy="2050305"/>
          </a:xfrm>
          <a:prstGeom prst="rect">
            <a:avLst/>
          </a:prstGeom>
          <a:noFill/>
        </p:spPr>
        <p:txBody>
          <a:bodyPr wrap="square">
            <a:spAutoFit/>
          </a:bodyPr>
          <a:lstStyle/>
          <a:p>
            <a:pPr>
              <a:lnSpc>
                <a:spcPct val="107000"/>
              </a:lnSpc>
              <a:spcAft>
                <a:spcPts val="800"/>
              </a:spcAft>
            </a:pPr>
            <a:r>
              <a:rPr lang="en-US" sz="2000" dirty="0">
                <a:latin typeface="Comic Sans MS" panose="030F0702030302020204" pitchFamily="66" charset="0"/>
              </a:rPr>
              <a:t>Pythagoras was one of the greatest personalities of antiquity. Through his ideas and discoveries, he contributed greatly to the development of mathematics and philosophy.</a:t>
            </a:r>
            <a:endParaRPr lang="el-GR" sz="2000" dirty="0">
              <a:latin typeface="Comic Sans MS" panose="030F0702030302020204" pitchFamily="66" charset="0"/>
            </a:endParaRPr>
          </a:p>
        </p:txBody>
      </p:sp>
      <p:sp>
        <p:nvSpPr>
          <p:cNvPr id="38" name="TextBox 37">
            <a:extLst>
              <a:ext uri="{FF2B5EF4-FFF2-40B4-BE49-F238E27FC236}">
                <a16:creationId xmlns:a16="http://schemas.microsoft.com/office/drawing/2014/main" id="{E2DBBAC3-0C38-41DA-93A9-B24FC30FACE1}"/>
              </a:ext>
            </a:extLst>
          </p:cNvPr>
          <p:cNvSpPr txBox="1"/>
          <p:nvPr/>
        </p:nvSpPr>
        <p:spPr>
          <a:xfrm>
            <a:off x="7646376" y="928920"/>
            <a:ext cx="4081648" cy="1720984"/>
          </a:xfrm>
          <a:prstGeom prst="rect">
            <a:avLst/>
          </a:prstGeom>
          <a:noFill/>
        </p:spPr>
        <p:txBody>
          <a:bodyPr wrap="square">
            <a:spAutoFit/>
          </a:bodyPr>
          <a:lstStyle/>
          <a:p>
            <a:pPr>
              <a:lnSpc>
                <a:spcPct val="107000"/>
              </a:lnSpc>
              <a:spcAft>
                <a:spcPts val="800"/>
              </a:spcAft>
            </a:pPr>
            <a:r>
              <a:rPr lang="en-US" sz="2000" dirty="0">
                <a:latin typeface="Comic Sans MS" panose="030F0702030302020204" pitchFamily="66" charset="0"/>
              </a:rPr>
              <a:t>The Pythagorean Theorem is still taught and used throughout the world, while his way of thinking continues to influence science even today.</a:t>
            </a:r>
            <a:endParaRPr lang="el-GR" sz="2000" dirty="0">
              <a:latin typeface="Comic Sans MS" panose="030F0702030302020204" pitchFamily="66" charset="0"/>
            </a:endParaRPr>
          </a:p>
        </p:txBody>
      </p:sp>
      <p:sp>
        <p:nvSpPr>
          <p:cNvPr id="16" name="TextBox 15">
            <a:extLst>
              <a:ext uri="{FF2B5EF4-FFF2-40B4-BE49-F238E27FC236}">
                <a16:creationId xmlns:a16="http://schemas.microsoft.com/office/drawing/2014/main" id="{F87A5242-C033-4007-8975-F00DAE141E95}"/>
              </a:ext>
            </a:extLst>
          </p:cNvPr>
          <p:cNvSpPr txBox="1"/>
          <p:nvPr/>
        </p:nvSpPr>
        <p:spPr>
          <a:xfrm>
            <a:off x="9508019" y="4688172"/>
            <a:ext cx="1831303" cy="369332"/>
          </a:xfrm>
          <a:prstGeom prst="rect">
            <a:avLst/>
          </a:prstGeom>
          <a:noFill/>
        </p:spPr>
        <p:txBody>
          <a:bodyPr wrap="square">
            <a:spAutoFit/>
          </a:bodyPr>
          <a:lstStyle/>
          <a:p>
            <a:pPr algn="ctr"/>
            <a:r>
              <a:rPr lang="en-US" dirty="0">
                <a:latin typeface="Comic Sans MS" panose="030F0702030302020204" pitchFamily="66" charset="0"/>
              </a:rPr>
              <a:t>A lot, isn’t it</a:t>
            </a:r>
            <a:r>
              <a:rPr lang="el-GR" dirty="0">
                <a:solidFill>
                  <a:schemeClr val="tx1"/>
                </a:solidFill>
                <a:latin typeface="Comic Sans MS" panose="030F0702030302020204" pitchFamily="66" charset="0"/>
              </a:rPr>
              <a:t>?</a:t>
            </a:r>
          </a:p>
        </p:txBody>
      </p:sp>
    </p:spTree>
    <p:extLst>
      <p:ext uri="{BB962C8B-B14F-4D97-AF65-F5344CB8AC3E}">
        <p14:creationId xmlns:p14="http://schemas.microsoft.com/office/powerpoint/2010/main" val="3073046651"/>
      </p:ext>
    </p:extLst>
  </p:cSld>
  <p:clrMapOvr>
    <a:masterClrMapping/>
  </p:clrMapOvr>
  <mc:AlternateContent xmlns:mc="http://schemas.openxmlformats.org/markup-compatibility/2006" xmlns:p14="http://schemas.microsoft.com/office/powerpoint/2010/main">
    <mc:Choice Requires="p14">
      <p:transition spd="slow" p14:dur="1250" advClick="0" advTm="8000">
        <p14:switch dir="r"/>
      </p:transition>
    </mc:Choice>
    <mc:Fallback xmlns="">
      <p:transition spd="slow" advClick="0" advTm="8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wipe(down)">
                                      <p:cBhvr>
                                        <p:cTn id="7" dur="1500"/>
                                        <p:tgtEl>
                                          <p:spTgt spid="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8">
                                            <p:txEl>
                                              <p:pRg st="0" end="0"/>
                                            </p:txEl>
                                          </p:spTgt>
                                        </p:tgtEl>
                                        <p:attrNameLst>
                                          <p:attrName>style.visibility</p:attrName>
                                        </p:attrNameLst>
                                      </p:cBhvr>
                                      <p:to>
                                        <p:strVal val="visible"/>
                                      </p:to>
                                    </p:set>
                                    <p:animEffect transition="in" filter="wipe(down)">
                                      <p:cBhvr>
                                        <p:cTn id="12" dur="1500"/>
                                        <p:tgtEl>
                                          <p:spTgt spid="3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2">
                                            <p:txEl>
                                              <p:pRg st="0" end="0"/>
                                            </p:txEl>
                                          </p:spTgt>
                                        </p:tgtEl>
                                        <p:attrNameLst>
                                          <p:attrName>style.visibility</p:attrName>
                                        </p:attrNameLst>
                                      </p:cBhvr>
                                      <p:to>
                                        <p:strVal val="visible"/>
                                      </p:to>
                                    </p:set>
                                    <p:animEffect transition="in" filter="wipe(down)">
                                      <p:cBhvr>
                                        <p:cTn id="17" dur="1500"/>
                                        <p:tgtEl>
                                          <p:spTgt spid="3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down)">
                                      <p:cBhvr>
                                        <p:cTn id="22" dur="1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theme/theme1.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757</TotalTime>
  <Words>986</Words>
  <Application>Microsoft Office PowerPoint</Application>
  <PresentationFormat>Ευρεία οθόνη</PresentationFormat>
  <Paragraphs>165</Paragraphs>
  <Slides>22</Slides>
  <Notes>0</Notes>
  <HiddenSlides>0</HiddenSlides>
  <MMClips>0</MMClips>
  <ScaleCrop>false</ScaleCrop>
  <HeadingPairs>
    <vt:vector size="8" baseType="variant">
      <vt:variant>
        <vt:lpstr>Γραμματοσειρές που χρησιμοποιούνται</vt:lpstr>
      </vt:variant>
      <vt:variant>
        <vt:i4>4</vt:i4>
      </vt:variant>
      <vt:variant>
        <vt:lpstr>Θέμα</vt:lpstr>
      </vt:variant>
      <vt:variant>
        <vt:i4>1</vt:i4>
      </vt:variant>
      <vt:variant>
        <vt:lpstr>Ενσωματωμένοι διακομιστές OLE</vt:lpstr>
      </vt:variant>
      <vt:variant>
        <vt:i4>1</vt:i4>
      </vt:variant>
      <vt:variant>
        <vt:lpstr>Τίτλοι διαφανειών</vt:lpstr>
      </vt:variant>
      <vt:variant>
        <vt:i4>22</vt:i4>
      </vt:variant>
    </vt:vector>
  </HeadingPairs>
  <TitlesOfParts>
    <vt:vector size="28" baseType="lpstr">
      <vt:lpstr>Arial</vt:lpstr>
      <vt:lpstr>Calibri</vt:lpstr>
      <vt:lpstr>Calibri Light</vt:lpstr>
      <vt:lpstr>Comic Sans MS</vt:lpstr>
      <vt:lpstr>Θέμα του Office</vt:lpstr>
      <vt:lpstr>Equation</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Παρουσίαση του PowerPoint</dc:title>
  <dc:creator>Αργυρώ Βώρου</dc:creator>
  <cp:lastModifiedBy>Αργυρώ Βώρου</cp:lastModifiedBy>
  <cp:revision>83</cp:revision>
  <dcterms:created xsi:type="dcterms:W3CDTF">2026-05-20T07:56:58Z</dcterms:created>
  <dcterms:modified xsi:type="dcterms:W3CDTF">2026-05-21T19:07:19Z</dcterms:modified>
</cp:coreProperties>
</file>